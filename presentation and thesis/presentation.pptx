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56" r:id="rId2"/>
    <p:sldId id="277" r:id="rId3"/>
    <p:sldId id="258" r:id="rId4"/>
    <p:sldId id="278" r:id="rId5"/>
    <p:sldId id="257" r:id="rId6"/>
    <p:sldId id="283" r:id="rId7"/>
    <p:sldId id="284" r:id="rId8"/>
    <p:sldId id="286" r:id="rId9"/>
    <p:sldId id="259" r:id="rId10"/>
    <p:sldId id="279" r:id="rId11"/>
    <p:sldId id="261" r:id="rId12"/>
    <p:sldId id="282" r:id="rId13"/>
    <p:sldId id="262" r:id="rId14"/>
    <p:sldId id="263" r:id="rId15"/>
    <p:sldId id="264" r:id="rId16"/>
    <p:sldId id="287" r:id="rId17"/>
    <p:sldId id="265" r:id="rId18"/>
    <p:sldId id="266" r:id="rId19"/>
    <p:sldId id="288" r:id="rId20"/>
    <p:sldId id="280" r:id="rId21"/>
    <p:sldId id="260" r:id="rId22"/>
    <p:sldId id="267" r:id="rId23"/>
    <p:sldId id="268" r:id="rId24"/>
    <p:sldId id="281" r:id="rId25"/>
    <p:sldId id="270" r:id="rId26"/>
    <p:sldId id="271" r:id="rId27"/>
    <p:sldId id="272" r:id="rId28"/>
    <p:sldId id="273" r:id="rId29"/>
    <p:sldId id="274" r:id="rId30"/>
    <p:sldId id="276" r:id="rId31"/>
    <p:sldId id="275"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BFBF9"/>
    <a:srgbClr val="D4F2FC"/>
    <a:srgbClr val="09797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657" autoAdjust="0"/>
  </p:normalViewPr>
  <p:slideViewPr>
    <p:cSldViewPr snapToGrid="0">
      <p:cViewPr varScale="1">
        <p:scale>
          <a:sx n="78" d="100"/>
          <a:sy n="78" d="100"/>
        </p:scale>
        <p:origin x="778"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197123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501273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383883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222805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endParaRPr lang="en-US"/>
          </a:p>
        </p:txBody>
      </p:sp>
    </p:spTree>
    <p:extLst>
      <p:ext uri="{BB962C8B-B14F-4D97-AF65-F5344CB8AC3E}">
        <p14:creationId xmlns:p14="http://schemas.microsoft.com/office/powerpoint/2010/main" val="5613882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smtClean="0"/>
              <a:t>بخش آزمون رسمی </a:t>
            </a:r>
            <a:r>
              <a:rPr lang="en-US" smtClean="0"/>
              <a:t>IADD </a:t>
            </a:r>
            <a:r>
              <a:rPr lang="fa-IR" smtClean="0"/>
              <a:t>که برای دانلود در دسترس بود برچسب نداشت. بنابراین از تصاویر برچسب‌دار بخش‌های آموزش و اعتبارسنجی همان مجموعه استفاده کردیم و تقسیم سه‌گانه تازه‌ای در سطح کل ویدیو ساختیم. این کار برچسب‌گذاری مجدد تصاویر نبود. چهار چالش دیگر نیز در همین اسلاید آمده‌اند و روند حل آن‌ها در اسلایدهای بعدی نشان داده می‌شود.</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769193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smtClean="0"/>
              <a:t>درصدهای جدول نسبت به کل ۳۷٬۱۴۲ تصویر زیرمجموعه نهایی محاسبه شده‌اند: ۲۶٬۰۰۰ تصویر برای آموزش و برای هر یک از اعتبارسنجی و آزمون ۵٬۵۷۱ تصویر. پس نسبت‌ها تقریباً ۷۰، ۱۵ و ۱۵ درصد است. واحد جداسازی، ویدیو بوده و تعداد ویدیوها الزاماً با همین نسبت تقسیم نشده است.</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657747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smtClean="0"/>
              <a:t>محور افقی شش رده شیء و محور عمودی سهم هر رده از کل نمونه‌های همان بخش است؛ درصدها مربوط به شمار کادرهای برچسب‌خورده‌اند، نه شمار تصاویر. محور عمودی لگاریتمی است، چون خودروی سبک حدود ۸۴ درصد نمونه‌ها را دارد ولی سهم بعضی رده‌ها زیر یک درصد است. در مقیاس خطی، ستون‌های رده‌های کم‌نمونه تقریباً دیده نمی‌شدند. نزدیکی سه رنگ در هر رده نشان می‌دهد نسبت رده‌ها میان بخش‌ها تا حدی هم‌تراز شده است؛ با این حال عدم توازن کلی رده‌ها همچنان وجود دارد.</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smtClean="0"/>
              <a:t>کد سمت راست از </a:t>
            </a:r>
            <a:r>
              <a:rPr lang="en-US" dirty="0" smtClean="0"/>
              <a:t>compute_v5_validity.py </a:t>
            </a:r>
            <a:r>
              <a:rPr lang="fa-IR" dirty="0" smtClean="0"/>
              <a:t>گرفته شده است. در برچسب </a:t>
            </a:r>
            <a:r>
              <a:rPr lang="en-US" dirty="0" smtClean="0"/>
              <a:t>YOLO، q[3] </a:t>
            </a:r>
            <a:r>
              <a:rPr lang="fa-IR" dirty="0" smtClean="0"/>
              <a:t>عرض نسبی و </a:t>
            </a:r>
            <a:r>
              <a:rPr lang="en-US" dirty="0" smtClean="0"/>
              <a:t>q[4] </a:t>
            </a:r>
            <a:r>
              <a:rPr lang="fa-IR" dirty="0" smtClean="0"/>
              <a:t>ارتفاع نسبی کادر است؛ حاصل‌ضرب آن‌ها نسبت مساحت کادر به تصویر را می‌دهد. آستانه‌ها در کد ۰٫۰۱ و ۰٫۰۶ هستند: کوچک کمتر از یک درصد، متوسط از یک تا کمتر از شش درصد و بزرگ شش درصد یا بیشتر. نمودار سهم این سه گروه از کل نمونه‌های برچسب‌خورده هر بخش را نشان می‌دهد. سهم اشیای کوچک به‌ترتیب در آموزش، اعتبارسنجی و آزمون حدود ۷۵٫۵، ۷۵٫۱ و ۷۴٫۷ درصد است.</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smtClean="0"/>
              <a:t>نمودار سمت چپ، سهم شرایط محیطی را جداگانه در آموزش، اعتبارسنجی و آزمون نشان می‌دهد. محور عمودی درصد تصاویر همان بخش است و برای دیده‌شدن سهم کم کد </a:t>
            </a:r>
            <a:r>
              <a:rPr lang="en-US" dirty="0" smtClean="0"/>
              <a:t>A، </a:t>
            </a:r>
            <a:r>
              <a:rPr lang="fa-IR" dirty="0" smtClean="0"/>
              <a:t>لگاریتمی رسم شده است. کد داخل اسلاید از تابع </a:t>
            </a:r>
            <a:r>
              <a:rPr lang="en-US" dirty="0" smtClean="0"/>
              <a:t>analyze </a:t>
            </a:r>
            <a:r>
              <a:rPr lang="fa-IR" dirty="0" smtClean="0"/>
              <a:t>در فایل </a:t>
            </a:r>
            <a:r>
              <a:rPr lang="en-US" dirty="0" smtClean="0"/>
              <a:t>compute_v5_validity.py </a:t>
            </a:r>
            <a:r>
              <a:rPr lang="fa-IR" dirty="0" smtClean="0"/>
              <a:t>استفاده می‌کند؛ خط‌های تجمیع و چاپ درصد کل، برای این اسلاید نوشته شده‌اند و عیناً در فایل اصلی نیستند. این کد شمار تصاویر هر وضعیت را در سه بخش جمع می‌زند و بر ۳۷٬۱۴۲ تصویر تقسیم می‌کند. حرف </a:t>
            </a:r>
            <a:r>
              <a:rPr lang="en-US" dirty="0" smtClean="0"/>
              <a:t>D </a:t>
            </a:r>
            <a:r>
              <a:rPr lang="fa-IR" dirty="0" smtClean="0"/>
              <a:t>روز، </a:t>
            </a:r>
            <a:r>
              <a:rPr lang="en-US" dirty="0" smtClean="0"/>
              <a:t>N </a:t>
            </a:r>
            <a:r>
              <a:rPr lang="fa-IR" dirty="0" smtClean="0"/>
              <a:t>شب، </a:t>
            </a:r>
            <a:r>
              <a:rPr lang="en-US" dirty="0" smtClean="0"/>
              <a:t>R </a:t>
            </a:r>
            <a:r>
              <a:rPr lang="fa-IR" dirty="0" smtClean="0"/>
              <a:t>باران و </a:t>
            </a:r>
            <a:r>
              <a:rPr lang="en-US" dirty="0" smtClean="0"/>
              <a:t>A </a:t>
            </a:r>
            <a:r>
              <a:rPr lang="fa-IR" dirty="0" smtClean="0"/>
              <a:t>وضعیت ابری است؛ نام‌گذاری وضعیت </a:t>
            </a:r>
            <a:r>
              <a:rPr lang="en-US" dirty="0" smtClean="0"/>
              <a:t>A </a:t>
            </a:r>
            <a:r>
              <a:rPr lang="fa-IR" dirty="0" smtClean="0"/>
              <a:t>در پروژه بر پایه بازبینی تصاویر انجام شده است.</a:t>
            </a:r>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747142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endParaRPr lang="en-US"/>
          </a:p>
        </p:txBody>
      </p:sp>
    </p:spTree>
    <p:extLst>
      <p:ext uri="{BB962C8B-B14F-4D97-AF65-F5344CB8AC3E}">
        <p14:creationId xmlns:p14="http://schemas.microsoft.com/office/powerpoint/2010/main" val="17974748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endParaRPr lang="en-US"/>
          </a:p>
        </p:txBody>
      </p:sp>
    </p:spTree>
    <p:extLst>
      <p:ext uri="{BB962C8B-B14F-4D97-AF65-F5344CB8AC3E}">
        <p14:creationId xmlns:p14="http://schemas.microsoft.com/office/powerpoint/2010/main" val="16693411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8.jp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0" name="Picture 19"/>
          <p:cNvPicPr>
            <a:picLocks noChangeAspect="1"/>
          </p:cNvPicPr>
          <p:nvPr/>
        </p:nvPicPr>
        <p:blipFill>
          <a:blip r:embed="rId3"/>
          <a:stretch/>
        </p:blipFill>
        <p:spPr>
          <a:xfrm>
            <a:off x="5677367" y="492468"/>
            <a:ext cx="852693" cy="1000125"/>
          </a:xfrm>
          <a:prstGeom prst="rect">
            <a:avLst/>
          </a:prstGeom>
        </p:spPr>
      </p:pic>
      <p:sp>
        <p:nvSpPr>
          <p:cNvPr id="5" name="Rectangle 4">
            <a:extLst>
              <a:ext uri="{FF2B5EF4-FFF2-40B4-BE49-F238E27FC236}">
                <a16:creationId xmlns:a16="http://schemas.microsoft.com/office/drawing/2014/main" id="{C895B653-AED4-49F1-9C3F-8BF56D21FF33}"/>
              </a:ext>
            </a:extLst>
          </p:cNvPr>
          <p:cNvSpPr>
            <a:spLocks noGrp="1"/>
          </p:cNvSpPr>
          <p:nvPr/>
        </p:nvSpPr>
        <p:spPr>
          <a:xfrm>
            <a:off x="4827167" y="1530698"/>
            <a:ext cx="2553093" cy="381000"/>
          </a:xfrm>
          <a:prstGeom prst="rect">
            <a:avLst/>
          </a:prstGeom>
          <a:noFill/>
          <a:ln w="0">
            <a:noFill/>
          </a:ln>
        </p:spPr>
        <p:txBody>
          <a:bodyPr lIns="57150" tIns="38100" rIns="57150" bIns="38100" anchor="ctr">
            <a:noAutofit/>
          </a:bodyPr>
          <a:lstStyle/>
          <a:p>
            <a:pPr algn="ctr" rtl="1">
              <a:defRPr sz="2100" b="1">
                <a:solidFill>
                  <a:srgbClr val="25834A"/>
                </a:solidFill>
                <a:latin typeface="B Zar"/>
                <a:ea typeface="B Zar"/>
                <a:cs typeface="B Zar"/>
              </a:defRPr>
            </a:pPr>
            <a:r>
              <a:rPr lang="fa-IR" altLang="fa-IR" sz="2100" b="1" dirty="0">
                <a:solidFill>
                  <a:srgbClr val="25834A"/>
                </a:solidFill>
                <a:latin typeface="B Zar"/>
                <a:ea typeface="B Zar"/>
                <a:cs typeface="B Zar"/>
              </a:rPr>
              <a:t>دانشکده مهندسی کامپیوتر</a:t>
            </a:r>
          </a:p>
        </p:txBody>
      </p:sp>
      <p:sp>
        <p:nvSpPr>
          <p:cNvPr id="6" name="Rectangle 5">
            <a:extLst>
              <a:ext uri="{FF2B5EF4-FFF2-40B4-BE49-F238E27FC236}">
                <a16:creationId xmlns:a16="http://schemas.microsoft.com/office/drawing/2014/main" id="{3299C42A-62C2-403D-8293-B371CC07D761}"/>
              </a:ext>
            </a:extLst>
          </p:cNvPr>
          <p:cNvSpPr>
            <a:spLocks noGrp="1"/>
          </p:cNvSpPr>
          <p:nvPr/>
        </p:nvSpPr>
        <p:spPr>
          <a:xfrm>
            <a:off x="1055463" y="2126314"/>
            <a:ext cx="10096500" cy="685800"/>
          </a:xfrm>
          <a:prstGeom prst="rect">
            <a:avLst/>
          </a:prstGeom>
          <a:noFill/>
          <a:ln w="0">
            <a:noFill/>
          </a:ln>
        </p:spPr>
        <p:txBody>
          <a:bodyPr lIns="57150" tIns="38100" rIns="57150" bIns="38100" anchor="ctr">
            <a:noAutofit/>
          </a:bodyPr>
          <a:lstStyle/>
          <a:p>
            <a:pPr algn="ctr" rtl="1">
              <a:defRPr sz="3400" b="1">
                <a:solidFill>
                  <a:srgbClr val="173E5A"/>
                </a:solidFill>
                <a:latin typeface="B Zar"/>
                <a:ea typeface="B Zar"/>
                <a:cs typeface="B Zar"/>
              </a:defRPr>
            </a:pPr>
            <a:r>
              <a:rPr lang="fa-IR" altLang="fa-IR" sz="3400" b="1" dirty="0">
                <a:solidFill>
                  <a:srgbClr val="173E5A"/>
                </a:solidFill>
                <a:latin typeface="B Zar"/>
                <a:ea typeface="B Zar"/>
                <a:cs typeface="B Zar"/>
              </a:rPr>
              <a:t>دسته‌بندی اشیای ترافیکی با استفاده از </a:t>
            </a:r>
            <a:r>
              <a:rPr lang="en-US" altLang="fa-IR" sz="3200" b="1" dirty="0">
                <a:solidFill>
                  <a:srgbClr val="173E5A"/>
                </a:solidFill>
                <a:latin typeface="Times New Roman"/>
                <a:ea typeface="Times New Roman"/>
                <a:cs typeface="Times New Roman"/>
              </a:rPr>
              <a:t>YOLO</a:t>
            </a:r>
          </a:p>
        </p:txBody>
      </p:sp>
      <p:sp>
        <p:nvSpPr>
          <p:cNvPr id="7" name="Rectangle 6">
            <a:extLst>
              <a:ext uri="{FF2B5EF4-FFF2-40B4-BE49-F238E27FC236}">
                <a16:creationId xmlns:a16="http://schemas.microsoft.com/office/drawing/2014/main" id="{54682CBE-EBB5-4D6E-9333-4D40460AF70D}"/>
              </a:ext>
            </a:extLst>
          </p:cNvPr>
          <p:cNvSpPr>
            <a:spLocks noGrp="1"/>
          </p:cNvSpPr>
          <p:nvPr/>
        </p:nvSpPr>
        <p:spPr>
          <a:xfrm>
            <a:off x="1531713" y="2894486"/>
            <a:ext cx="9144000" cy="419100"/>
          </a:xfrm>
          <a:prstGeom prst="rect">
            <a:avLst/>
          </a:prstGeom>
          <a:noFill/>
          <a:ln w="0">
            <a:noFill/>
          </a:ln>
        </p:spPr>
        <p:txBody>
          <a:bodyPr lIns="57150" tIns="38100" rIns="57150" bIns="38100" anchor="ctr">
            <a:noAutofit/>
          </a:bodyPr>
          <a:lstStyle/>
          <a:p>
            <a:pPr algn="ctr" rtl="1">
              <a:defRPr sz="2200" b="0">
                <a:solidFill>
                  <a:srgbClr val="52626E"/>
                </a:solidFill>
                <a:latin typeface="B Zar"/>
                <a:ea typeface="B Zar"/>
                <a:cs typeface="B Zar"/>
              </a:defRPr>
            </a:pPr>
            <a:r>
              <a:rPr lang="fa-IR" altLang="fa-IR" sz="2200" b="0" dirty="0">
                <a:solidFill>
                  <a:srgbClr val="52626E"/>
                </a:solidFill>
                <a:latin typeface="B Zar"/>
                <a:ea typeface="B Zar"/>
                <a:cs typeface="B Zar"/>
              </a:rPr>
              <a:t>۶ دسته متفاوت: عابر، تریلر، اتوبوس، خودروی سبک، وانت و موتور</a:t>
            </a:r>
          </a:p>
        </p:txBody>
      </p:sp>
      <p:sp>
        <p:nvSpPr>
          <p:cNvPr id="8" name="Rectangle 7">
            <a:extLst>
              <a:ext uri="{FF2B5EF4-FFF2-40B4-BE49-F238E27FC236}">
                <a16:creationId xmlns:a16="http://schemas.microsoft.com/office/drawing/2014/main" id="{DE048973-CC02-47AF-80C7-005A778E3272}"/>
              </a:ext>
            </a:extLst>
          </p:cNvPr>
          <p:cNvSpPr>
            <a:spLocks noGrp="1"/>
          </p:cNvSpPr>
          <p:nvPr/>
        </p:nvSpPr>
        <p:spPr>
          <a:xfrm>
            <a:off x="2769963" y="3517167"/>
            <a:ext cx="6667500" cy="400050"/>
          </a:xfrm>
          <a:prstGeom prst="rect">
            <a:avLst/>
          </a:prstGeom>
          <a:noFill/>
          <a:ln w="0">
            <a:noFill/>
          </a:ln>
        </p:spPr>
        <p:txBody>
          <a:bodyPr lIns="57150" tIns="38100" rIns="57150" bIns="38100" anchor="ctr">
            <a:noAutofit/>
          </a:bodyPr>
          <a:lstStyle/>
          <a:p>
            <a:pPr algn="ctr" rtl="1">
              <a:defRPr sz="2300" b="1">
                <a:solidFill>
                  <a:srgbClr val="216BA5"/>
                </a:solidFill>
                <a:latin typeface="B Zar"/>
                <a:ea typeface="B Zar"/>
                <a:cs typeface="B Zar"/>
              </a:defRPr>
            </a:pPr>
            <a:r>
              <a:rPr lang="fa-IR" altLang="fa-IR" sz="2300" b="1" dirty="0">
                <a:solidFill>
                  <a:srgbClr val="216BA5"/>
                </a:solidFill>
                <a:latin typeface="B Zar"/>
                <a:ea typeface="B Zar"/>
                <a:cs typeface="B Zar"/>
              </a:rPr>
              <a:t>پیاده‌سازی با معماری </a:t>
            </a:r>
            <a:r>
              <a:rPr lang="en-US" altLang="fa-IR" sz="2200" b="1" dirty="0">
                <a:solidFill>
                  <a:srgbClr val="216BA5"/>
                </a:solidFill>
                <a:latin typeface="Times New Roman"/>
                <a:ea typeface="Times New Roman"/>
                <a:cs typeface="Times New Roman"/>
              </a:rPr>
              <a:t>YOLOv11</a:t>
            </a:r>
          </a:p>
        </p:txBody>
      </p:sp>
      <p:sp>
        <p:nvSpPr>
          <p:cNvPr id="9" name="Rectangle 8">
            <a:extLst>
              <a:ext uri="{FF2B5EF4-FFF2-40B4-BE49-F238E27FC236}">
                <a16:creationId xmlns:a16="http://schemas.microsoft.com/office/drawing/2014/main" id="{567CC904-6A01-4FAA-BFA0-EE977B95E570}"/>
              </a:ext>
            </a:extLst>
          </p:cNvPr>
          <p:cNvSpPr>
            <a:spLocks noGrp="1"/>
          </p:cNvSpPr>
          <p:nvPr/>
        </p:nvSpPr>
        <p:spPr>
          <a:xfrm>
            <a:off x="2865213" y="3990173"/>
            <a:ext cx="6477000" cy="19050"/>
          </a:xfrm>
          <a:prstGeom prst="rect">
            <a:avLst/>
          </a:prstGeom>
          <a:solidFill>
            <a:srgbClr val="C1CED7"/>
          </a:solidFill>
          <a:ln w="0">
            <a:solidFill>
              <a:srgbClr val="C1CED7"/>
            </a:solidFill>
          </a:ln>
        </p:spPr>
        <p:txBody>
          <a:bodyPr/>
          <a:lstStyle/>
          <a:p>
            <a:endParaRPr/>
          </a:p>
        </p:txBody>
      </p:sp>
      <p:sp>
        <p:nvSpPr>
          <p:cNvPr id="10" name="Rectangle 9">
            <a:extLst>
              <a:ext uri="{FF2B5EF4-FFF2-40B4-BE49-F238E27FC236}">
                <a16:creationId xmlns:a16="http://schemas.microsoft.com/office/drawing/2014/main" id="{DCACF272-9B64-4EB2-B809-7FAB2C8F4C9E}"/>
              </a:ext>
            </a:extLst>
          </p:cNvPr>
          <p:cNvSpPr>
            <a:spLocks noGrp="1"/>
          </p:cNvSpPr>
          <p:nvPr/>
        </p:nvSpPr>
        <p:spPr>
          <a:xfrm>
            <a:off x="6770463" y="4364896"/>
            <a:ext cx="2000250" cy="400050"/>
          </a:xfrm>
          <a:prstGeom prst="rect">
            <a:avLst/>
          </a:prstGeom>
          <a:noFill/>
          <a:ln w="0">
            <a:noFill/>
          </a:ln>
        </p:spPr>
        <p:txBody>
          <a:bodyPr lIns="57150" tIns="38100" rIns="57150" bIns="38100" anchor="ctr">
            <a:noAutofit/>
          </a:bodyPr>
          <a:lstStyle/>
          <a:p>
            <a:pPr algn="ctr" rtl="1">
              <a:defRPr sz="2100" b="1">
                <a:solidFill>
                  <a:srgbClr val="52626E"/>
                </a:solidFill>
                <a:latin typeface="B Zar"/>
                <a:ea typeface="B Zar"/>
                <a:cs typeface="B Zar"/>
              </a:defRPr>
            </a:pPr>
            <a:r>
              <a:rPr lang="fa-IR" altLang="fa-IR" sz="2100" b="1" dirty="0">
                <a:solidFill>
                  <a:srgbClr val="52626E"/>
                </a:solidFill>
                <a:latin typeface="B Zar"/>
                <a:ea typeface="B Zar"/>
                <a:cs typeface="B Zar"/>
              </a:rPr>
              <a:t>استاد راهنما:</a:t>
            </a:r>
          </a:p>
        </p:txBody>
      </p:sp>
      <p:sp>
        <p:nvSpPr>
          <p:cNvPr id="11" name="Rectangle 10">
            <a:extLst>
              <a:ext uri="{FF2B5EF4-FFF2-40B4-BE49-F238E27FC236}">
                <a16:creationId xmlns:a16="http://schemas.microsoft.com/office/drawing/2014/main" id="{F1545991-FCB0-4169-AE03-7F355270E046}"/>
              </a:ext>
            </a:extLst>
          </p:cNvPr>
          <p:cNvSpPr>
            <a:spLocks noGrp="1"/>
          </p:cNvSpPr>
          <p:nvPr/>
        </p:nvSpPr>
        <p:spPr>
          <a:xfrm>
            <a:off x="3150963" y="4366821"/>
            <a:ext cx="3524250" cy="400050"/>
          </a:xfrm>
          <a:prstGeom prst="rect">
            <a:avLst/>
          </a:prstGeom>
          <a:noFill/>
          <a:ln w="0">
            <a:noFill/>
          </a:ln>
        </p:spPr>
        <p:txBody>
          <a:bodyPr lIns="57150" tIns="38100" rIns="57150" bIns="38100" anchor="ctr">
            <a:noAutofit/>
          </a:bodyPr>
          <a:lstStyle/>
          <a:p>
            <a:pPr algn="ctr" rtl="1">
              <a:defRPr sz="2200" b="1">
                <a:solidFill>
                  <a:srgbClr val="173E5A"/>
                </a:solidFill>
                <a:latin typeface="B Zar"/>
                <a:ea typeface="B Zar"/>
                <a:cs typeface="B Zar"/>
              </a:defRPr>
            </a:pPr>
            <a:r>
              <a:rPr lang="fa-IR" altLang="fa-IR" sz="2200" b="1" dirty="0">
                <a:solidFill>
                  <a:srgbClr val="173E5A"/>
                </a:solidFill>
                <a:latin typeface="B Zar"/>
                <a:ea typeface="B Zar"/>
                <a:cs typeface="B Zar"/>
              </a:rPr>
              <a:t>دکتر رضا شمسایی</a:t>
            </a:r>
          </a:p>
        </p:txBody>
      </p:sp>
      <p:sp>
        <p:nvSpPr>
          <p:cNvPr id="12" name="Rectangle 11">
            <a:extLst>
              <a:ext uri="{FF2B5EF4-FFF2-40B4-BE49-F238E27FC236}">
                <a16:creationId xmlns:a16="http://schemas.microsoft.com/office/drawing/2014/main" id="{8295E222-22DC-4568-884D-E1D39CB21BF5}"/>
              </a:ext>
            </a:extLst>
          </p:cNvPr>
          <p:cNvSpPr>
            <a:spLocks noGrp="1"/>
          </p:cNvSpPr>
          <p:nvPr/>
        </p:nvSpPr>
        <p:spPr>
          <a:xfrm>
            <a:off x="6770463" y="4974496"/>
            <a:ext cx="2000250" cy="400050"/>
          </a:xfrm>
          <a:prstGeom prst="rect">
            <a:avLst/>
          </a:prstGeom>
          <a:noFill/>
          <a:ln w="0">
            <a:noFill/>
          </a:ln>
        </p:spPr>
        <p:txBody>
          <a:bodyPr lIns="57150" tIns="38100" rIns="57150" bIns="38100" anchor="ctr">
            <a:noAutofit/>
          </a:bodyPr>
          <a:lstStyle/>
          <a:p>
            <a:pPr algn="ctr" rtl="1">
              <a:defRPr sz="2100" b="1">
                <a:solidFill>
                  <a:srgbClr val="52626E"/>
                </a:solidFill>
                <a:latin typeface="B Zar"/>
                <a:ea typeface="B Zar"/>
                <a:cs typeface="B Zar"/>
              </a:defRPr>
            </a:pPr>
            <a:r>
              <a:rPr lang="fa-IR" altLang="fa-IR" sz="2100" b="1" dirty="0">
                <a:solidFill>
                  <a:srgbClr val="52626E"/>
                </a:solidFill>
                <a:latin typeface="B Zar"/>
                <a:ea typeface="B Zar"/>
                <a:cs typeface="B Zar"/>
              </a:rPr>
              <a:t>استاد داور:</a:t>
            </a:r>
          </a:p>
        </p:txBody>
      </p:sp>
      <p:sp>
        <p:nvSpPr>
          <p:cNvPr id="13" name="Rectangle 12">
            <a:extLst>
              <a:ext uri="{FF2B5EF4-FFF2-40B4-BE49-F238E27FC236}">
                <a16:creationId xmlns:a16="http://schemas.microsoft.com/office/drawing/2014/main" id="{5B9B0705-F663-41E4-A95B-C368671054F5}"/>
              </a:ext>
            </a:extLst>
          </p:cNvPr>
          <p:cNvSpPr>
            <a:spLocks noGrp="1"/>
          </p:cNvSpPr>
          <p:nvPr/>
        </p:nvSpPr>
        <p:spPr>
          <a:xfrm>
            <a:off x="3150963" y="4974496"/>
            <a:ext cx="3524250" cy="400050"/>
          </a:xfrm>
          <a:prstGeom prst="rect">
            <a:avLst/>
          </a:prstGeom>
          <a:noFill/>
          <a:ln w="0">
            <a:noFill/>
          </a:ln>
        </p:spPr>
        <p:txBody>
          <a:bodyPr lIns="57150" tIns="38100" rIns="57150" bIns="38100" anchor="ctr">
            <a:noAutofit/>
          </a:bodyPr>
          <a:lstStyle/>
          <a:p>
            <a:pPr algn="ctr" rtl="1">
              <a:defRPr sz="2200" b="1">
                <a:solidFill>
                  <a:srgbClr val="173E5A"/>
                </a:solidFill>
                <a:latin typeface="B Zar"/>
                <a:ea typeface="B Zar"/>
                <a:cs typeface="B Zar"/>
              </a:defRPr>
            </a:pPr>
            <a:r>
              <a:rPr lang="fa-IR" altLang="fa-IR" sz="2200" b="1" dirty="0">
                <a:solidFill>
                  <a:srgbClr val="173E5A"/>
                </a:solidFill>
                <a:latin typeface="B Zar"/>
                <a:ea typeface="B Zar"/>
                <a:cs typeface="B Zar"/>
              </a:rPr>
              <a:t>[نام استاد داور]</a:t>
            </a:r>
          </a:p>
        </p:txBody>
      </p:sp>
      <p:sp>
        <p:nvSpPr>
          <p:cNvPr id="14" name="Rectangle 13">
            <a:extLst>
              <a:ext uri="{FF2B5EF4-FFF2-40B4-BE49-F238E27FC236}">
                <a16:creationId xmlns:a16="http://schemas.microsoft.com/office/drawing/2014/main" id="{094AFE0D-1125-471A-A80F-9478BF99A362}"/>
              </a:ext>
            </a:extLst>
          </p:cNvPr>
          <p:cNvSpPr>
            <a:spLocks noGrp="1"/>
          </p:cNvSpPr>
          <p:nvPr/>
        </p:nvSpPr>
        <p:spPr>
          <a:xfrm>
            <a:off x="6770463" y="5584096"/>
            <a:ext cx="2000250" cy="400050"/>
          </a:xfrm>
          <a:prstGeom prst="rect">
            <a:avLst/>
          </a:prstGeom>
          <a:noFill/>
          <a:ln w="0">
            <a:noFill/>
          </a:ln>
        </p:spPr>
        <p:txBody>
          <a:bodyPr lIns="57150" tIns="38100" rIns="57150" bIns="38100" anchor="ctr">
            <a:noAutofit/>
          </a:bodyPr>
          <a:lstStyle/>
          <a:p>
            <a:pPr algn="ctr" rtl="1">
              <a:defRPr sz="2100" b="1">
                <a:solidFill>
                  <a:srgbClr val="52626E"/>
                </a:solidFill>
                <a:latin typeface="B Zar"/>
                <a:ea typeface="B Zar"/>
                <a:cs typeface="B Zar"/>
              </a:defRPr>
            </a:pPr>
            <a:r>
              <a:rPr lang="fa-IR" altLang="fa-IR" sz="2100" b="1">
                <a:solidFill>
                  <a:srgbClr val="52626E"/>
                </a:solidFill>
                <a:latin typeface="B Zar"/>
                <a:ea typeface="B Zar"/>
                <a:cs typeface="B Zar"/>
              </a:rPr>
              <a:t>نام دانشجو:</a:t>
            </a:r>
          </a:p>
        </p:txBody>
      </p:sp>
      <p:sp>
        <p:nvSpPr>
          <p:cNvPr id="15" name="Rectangle 14">
            <a:extLst>
              <a:ext uri="{FF2B5EF4-FFF2-40B4-BE49-F238E27FC236}">
                <a16:creationId xmlns:a16="http://schemas.microsoft.com/office/drawing/2014/main" id="{4C047316-52D2-48E2-90D6-70348B5156B5}"/>
              </a:ext>
            </a:extLst>
          </p:cNvPr>
          <p:cNvSpPr>
            <a:spLocks noGrp="1"/>
          </p:cNvSpPr>
          <p:nvPr/>
        </p:nvSpPr>
        <p:spPr>
          <a:xfrm>
            <a:off x="3150963" y="5584096"/>
            <a:ext cx="3524250" cy="400050"/>
          </a:xfrm>
          <a:prstGeom prst="rect">
            <a:avLst/>
          </a:prstGeom>
          <a:noFill/>
          <a:ln w="0">
            <a:noFill/>
          </a:ln>
        </p:spPr>
        <p:txBody>
          <a:bodyPr lIns="57150" tIns="38100" rIns="57150" bIns="38100" anchor="ctr">
            <a:noAutofit/>
          </a:bodyPr>
          <a:lstStyle/>
          <a:p>
            <a:pPr algn="ctr" rtl="1">
              <a:defRPr sz="2200" b="1">
                <a:solidFill>
                  <a:srgbClr val="173E5A"/>
                </a:solidFill>
                <a:latin typeface="B Zar"/>
                <a:ea typeface="B Zar"/>
                <a:cs typeface="B Zar"/>
              </a:defRPr>
            </a:pPr>
            <a:r>
              <a:rPr lang="fa-IR" altLang="fa-IR" sz="2200" b="1" dirty="0">
                <a:solidFill>
                  <a:srgbClr val="173E5A"/>
                </a:solidFill>
                <a:latin typeface="B Zar"/>
                <a:ea typeface="B Zar"/>
                <a:cs typeface="B Zar"/>
              </a:rPr>
              <a:t>محمد امیر صادق‌زاده</a:t>
            </a:r>
          </a:p>
        </p:txBody>
      </p:sp>
      <p:sp>
        <p:nvSpPr>
          <p:cNvPr id="16" name="Rectangle 15">
            <a:extLst>
              <a:ext uri="{FF2B5EF4-FFF2-40B4-BE49-F238E27FC236}">
                <a16:creationId xmlns:a16="http://schemas.microsoft.com/office/drawing/2014/main" id="{C095D4CA-3379-466D-9DA9-1F4CF8ED5835}"/>
              </a:ext>
            </a:extLst>
          </p:cNvPr>
          <p:cNvSpPr>
            <a:spLocks noGrp="1"/>
          </p:cNvSpPr>
          <p:nvPr/>
        </p:nvSpPr>
        <p:spPr>
          <a:xfrm>
            <a:off x="171450" y="6496050"/>
            <a:ext cx="1762125" cy="238125"/>
          </a:xfrm>
          <a:prstGeom prst="rect">
            <a:avLst/>
          </a:prstGeom>
          <a:noFill/>
          <a:ln w="0">
            <a:noFill/>
          </a:ln>
        </p:spPr>
        <p:txBody>
          <a:bodyPr lIns="57150" tIns="38100" rIns="57150" bIns="38100" anchor="ctr">
            <a:noAutofit/>
          </a:bodyPr>
          <a:lstStyle/>
          <a:p>
            <a:pPr algn="r" rtl="1">
              <a:defRPr sz="1600" b="0">
                <a:solidFill>
                  <a:srgbClr val="52626E"/>
                </a:solidFill>
                <a:latin typeface="B Zar"/>
                <a:ea typeface="B Zar"/>
                <a:cs typeface="B Zar"/>
              </a:defRPr>
            </a:pPr>
            <a:r>
              <a:rPr lang="fa-IR" altLang="fa-IR" sz="1600" b="0" smtClean="0">
                <a:solidFill>
                  <a:srgbClr val="52626E"/>
                </a:solidFill>
                <a:latin typeface="B Zar"/>
                <a:ea typeface="B Zar"/>
                <a:cs typeface="B Zar"/>
              </a:rPr>
              <a:t>صفحه ۱ از ۳۱</a:t>
            </a:r>
            <a:endParaRPr lang="fa-IR" altLang="fa-IR" sz="1600" b="0">
              <a:solidFill>
                <a:srgbClr val="52626E"/>
              </a:solidFill>
              <a:latin typeface="B Zar"/>
              <a:ea typeface="B Zar"/>
              <a:cs typeface="B Zar"/>
            </a:endParaRPr>
          </a:p>
        </p:txBody>
      </p:sp>
      <p:sp>
        <p:nvSpPr>
          <p:cNvPr id="18" name="Rectangle 17">
            <a:extLst>
              <a:ext uri="{FF2B5EF4-FFF2-40B4-BE49-F238E27FC236}">
                <a16:creationId xmlns:a16="http://schemas.microsoft.com/office/drawing/2014/main" id="{4669FE0F-B982-44B2-AA33-ECB7CF4A98B7}"/>
              </a:ext>
            </a:extLst>
          </p:cNvPr>
          <p:cNvSpPr>
            <a:spLocks noGrp="1"/>
          </p:cNvSpPr>
          <p:nvPr/>
        </p:nvSpPr>
        <p:spPr>
          <a:xfrm>
            <a:off x="-1646" y="0"/>
            <a:ext cx="114300" cy="6858000"/>
          </a:xfrm>
          <a:prstGeom prst="rect">
            <a:avLst/>
          </a:prstGeom>
          <a:solidFill>
            <a:srgbClr val="216BA5"/>
          </a:solidFill>
          <a:ln w="0">
            <a:solidFill>
              <a:srgbClr val="216BA5"/>
            </a:solidFill>
          </a:ln>
        </p:spPr>
        <p:txBody>
          <a:bodyPr/>
          <a:lstStyle/>
          <a:p>
            <a:endParaRPr/>
          </a:p>
        </p:txBody>
      </p:sp>
      <p:sp>
        <p:nvSpPr>
          <p:cNvPr id="23" name="Rectangle 22">
            <a:extLst>
              <a:ext uri="{FF2B5EF4-FFF2-40B4-BE49-F238E27FC236}">
                <a16:creationId xmlns:a16="http://schemas.microsoft.com/office/drawing/2014/main" id="{4669FE0F-B982-44B2-AA33-ECB7CF4A98B7}"/>
              </a:ext>
            </a:extLst>
          </p:cNvPr>
          <p:cNvSpPr>
            <a:spLocks noGrp="1"/>
          </p:cNvSpPr>
          <p:nvPr/>
        </p:nvSpPr>
        <p:spPr>
          <a:xfrm>
            <a:off x="12075722" y="0"/>
            <a:ext cx="114300" cy="6858000"/>
          </a:xfrm>
          <a:prstGeom prst="rect">
            <a:avLst/>
          </a:prstGeom>
          <a:solidFill>
            <a:srgbClr val="216BA5"/>
          </a:solidFill>
          <a:ln w="0">
            <a:solidFill>
              <a:srgbClr val="216BA5"/>
            </a:solidFill>
          </a:ln>
        </p:spPr>
        <p:txBody>
          <a:bodyPr/>
          <a:lstStyle/>
          <a:p>
            <a:endParaRPr/>
          </a:p>
        </p:txBody>
      </p:sp>
    </p:spTree>
    <p:extLst>
      <p:ext uri="{BB962C8B-B14F-4D97-AF65-F5344CB8AC3E}">
        <p14:creationId xmlns:p14="http://schemas.microsoft.com/office/powerpoint/2010/main" val="868426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E7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331720"/>
            <a:ext cx="11057839" cy="1903085"/>
          </a:xfrm>
          <a:prstGeom prst="rect">
            <a:avLst/>
          </a:prstGeom>
          <a:noFill/>
        </p:spPr>
        <p:txBody>
          <a:bodyPr wrap="square" anchor="t">
            <a:spAutoFit/>
          </a:bodyPr>
          <a:lstStyle/>
          <a:p>
            <a:pPr algn="ctr" rtl="1">
              <a:spcAft>
                <a:spcPts val="1400"/>
              </a:spcAft>
            </a:pPr>
            <a:r>
              <a:rPr lang="fa-IR" sz="2600" b="1" dirty="0">
                <a:solidFill>
                  <a:srgbClr val="216BA5"/>
                </a:solidFill>
                <a:cs typeface="B Zar"/>
              </a:rPr>
              <a:t>بخش ۱</a:t>
            </a:r>
          </a:p>
          <a:p>
            <a:pPr algn="ctr" rtl="1">
              <a:spcAft>
                <a:spcPts val="1200"/>
              </a:spcAft>
            </a:pPr>
            <a:r>
              <a:rPr lang="fa-IR" sz="4600" b="1" dirty="0">
                <a:solidFill>
                  <a:srgbClr val="1B4F72"/>
                </a:solidFill>
                <a:cs typeface="B Zar"/>
              </a:rPr>
              <a:t>صورت مسئله و </a:t>
            </a:r>
            <a:r>
              <a:rPr lang="fa-IR" sz="4600" b="1" dirty="0" smtClean="0">
                <a:solidFill>
                  <a:srgbClr val="1B4F72"/>
                </a:solidFill>
                <a:cs typeface="B Zar"/>
              </a:rPr>
              <a:t>مبانی نظری</a:t>
            </a:r>
            <a:endParaRPr lang="fa-IR" sz="4600" b="1" dirty="0">
              <a:solidFill>
                <a:srgbClr val="1B4F72"/>
              </a:solidFill>
              <a:cs typeface="B Zar"/>
            </a:endParaRPr>
          </a:p>
          <a:p>
            <a:pPr algn="ctr" rtl="1">
              <a:spcAft>
                <a:spcPts val="0"/>
              </a:spcAft>
            </a:pPr>
            <a:r>
              <a:rPr lang="fa-IR" sz="2400" dirty="0" smtClean="0">
                <a:solidFill>
                  <a:srgbClr val="4A5A66"/>
                </a:solidFill>
                <a:cs typeface="B Zar"/>
              </a:rPr>
              <a:t>مفاهیم پایه‌ای، مجموعه‌داده و مدل انتخاب شده</a:t>
            </a:r>
            <a:endParaRPr lang="fa-IR" sz="2400" b="0" dirty="0">
              <a:solidFill>
                <a:srgbClr val="4A5A66"/>
              </a:solidFill>
              <a:cs typeface="B Zar"/>
            </a:endParaRPr>
          </a:p>
        </p:txBody>
      </p:sp>
    </p:spTree>
    <p:extLst>
      <p:ext uri="{BB962C8B-B14F-4D97-AF65-F5344CB8AC3E}">
        <p14:creationId xmlns:p14="http://schemas.microsoft.com/office/powerpoint/2010/main" val="133439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31"/>
          <p:cNvSpPr/>
          <p:nvPr/>
        </p:nvSpPr>
        <p:spPr>
          <a:xfrm>
            <a:off x="0" y="5275462"/>
            <a:ext cx="12192000" cy="1582540"/>
          </a:xfrm>
          <a:prstGeom prst="rect">
            <a:avLst/>
          </a:prstGeom>
          <a:gradFill flip="none" rotWithShape="1">
            <a:gsLst>
              <a:gs pos="84000">
                <a:schemeClr val="accent4">
                  <a:lumMod val="35000"/>
                  <a:lumOff val="65000"/>
                </a:schemeClr>
              </a:gs>
              <a:gs pos="8000">
                <a:schemeClr val="accent4">
                  <a:lumMod val="0"/>
                  <a:lumOff val="100000"/>
                </a:schemeClr>
              </a:gs>
              <a:gs pos="18000">
                <a:schemeClr val="accent4">
                  <a:lumMod val="5000"/>
                  <a:lumOff val="95000"/>
                </a:schemeClr>
              </a:gs>
              <a:gs pos="28000">
                <a:schemeClr val="accent4">
                  <a:lumMod val="10000"/>
                  <a:lumOff val="90000"/>
                </a:schemeClr>
              </a:gs>
              <a:gs pos="39000">
                <a:schemeClr val="accent4">
                  <a:lumMod val="15000"/>
                  <a:lumOff val="85000"/>
                </a:schemeClr>
              </a:gs>
              <a:gs pos="50000">
                <a:schemeClr val="accent4">
                  <a:lumMod val="20000"/>
                  <a:lumOff val="80000"/>
                </a:schemeClr>
              </a:gs>
              <a:gs pos="62000">
                <a:schemeClr val="accent4">
                  <a:lumMod val="25000"/>
                  <a:lumOff val="75000"/>
                </a:schemeClr>
              </a:gs>
              <a:gs pos="73000">
                <a:schemeClr val="accent4">
                  <a:lumMod val="30000"/>
                  <a:lumOff val="70000"/>
                </a:schemeClr>
              </a:gs>
              <a:gs pos="94000">
                <a:schemeClr val="accent4">
                  <a:lumMod val="40000"/>
                  <a:lumOff val="60000"/>
                </a:schemeClr>
              </a:gs>
              <a:gs pos="100000">
                <a:schemeClr val="accent4">
                  <a:lumMod val="50000"/>
                  <a:lumOff val="5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p:cNvPicPr>
            <a:picLocks noChangeAspect="1"/>
          </p:cNvPicPr>
          <p:nvPr/>
        </p:nvPicPr>
        <p:blipFill>
          <a:blip r:embed="rId3"/>
          <a:stretch/>
        </p:blipFill>
        <p:spPr>
          <a:xfrm>
            <a:off x="428984" y="187916"/>
            <a:ext cx="535979" cy="628650"/>
          </a:xfrm>
          <a:prstGeom prst="rect">
            <a:avLst/>
          </a:prstGeom>
        </p:spPr>
      </p:pic>
      <p:sp>
        <p:nvSpPr>
          <p:cNvPr id="7" name="Rectangle 6">
            <a:extLst>
              <a:ext uri="{FF2B5EF4-FFF2-40B4-BE49-F238E27FC236}">
                <a16:creationId xmlns:a16="http://schemas.microsoft.com/office/drawing/2014/main" id="{DDF03A99-DA6E-4242-A14B-ADB2F847B26A}"/>
              </a:ext>
            </a:extLst>
          </p:cNvPr>
          <p:cNvSpPr>
            <a:spLocks noGrp="1"/>
          </p:cNvSpPr>
          <p:nvPr/>
        </p:nvSpPr>
        <p:spPr>
          <a:xfrm>
            <a:off x="171450" y="6496050"/>
            <a:ext cx="1762125" cy="238125"/>
          </a:xfrm>
          <a:prstGeom prst="rect">
            <a:avLst/>
          </a:prstGeom>
          <a:noFill/>
          <a:ln w="0">
            <a:noFill/>
          </a:ln>
        </p:spPr>
        <p:txBody>
          <a:bodyPr lIns="57150" tIns="38100" rIns="57150" bIns="38100" anchor="ctr">
            <a:noAutofit/>
          </a:bodyPr>
          <a:lstStyle/>
          <a:p>
            <a:pPr algn="r" rtl="1">
              <a:defRPr sz="1600" b="0">
                <a:solidFill>
                  <a:srgbClr val="52626E"/>
                </a:solidFill>
                <a:latin typeface="B Zar"/>
                <a:ea typeface="B Zar"/>
                <a:cs typeface="B Zar"/>
              </a:defRPr>
            </a:pPr>
            <a:r>
              <a:rPr lang="fa-IR" altLang="fa-IR" sz="1600" b="0" smtClean="0">
                <a:solidFill>
                  <a:srgbClr val="52626E"/>
                </a:solidFill>
                <a:latin typeface="B Zar"/>
                <a:ea typeface="B Zar"/>
                <a:cs typeface="B Zar"/>
              </a:rPr>
              <a:t>صفحه ۳ از ۳۱</a:t>
            </a:r>
            <a:endParaRPr lang="fa-IR" altLang="fa-IR" sz="1600" b="0">
              <a:solidFill>
                <a:srgbClr val="52626E"/>
              </a:solidFill>
              <a:latin typeface="B Zar"/>
              <a:ea typeface="B Zar"/>
              <a:cs typeface="B Zar"/>
            </a:endParaRPr>
          </a:p>
        </p:txBody>
      </p:sp>
      <p:sp>
        <p:nvSpPr>
          <p:cNvPr id="8" name="Rectangle 7">
            <a:extLst>
              <a:ext uri="{FF2B5EF4-FFF2-40B4-BE49-F238E27FC236}">
                <a16:creationId xmlns:a16="http://schemas.microsoft.com/office/drawing/2014/main" id="{710BC7D9-1F8D-443F-9BD6-D0A64A223C04}"/>
              </a:ext>
            </a:extLst>
          </p:cNvPr>
          <p:cNvSpPr>
            <a:spLocks noGrp="1"/>
          </p:cNvSpPr>
          <p:nvPr/>
        </p:nvSpPr>
        <p:spPr>
          <a:xfrm>
            <a:off x="5414422" y="1641435"/>
            <a:ext cx="6166546" cy="3726978"/>
          </a:xfrm>
          <a:prstGeom prst="rect">
            <a:avLst/>
          </a:prstGeom>
          <a:noFill/>
          <a:ln w="0">
            <a:noFill/>
          </a:ln>
        </p:spPr>
        <p:txBody>
          <a:bodyPr lIns="76200" tIns="47625" rIns="76200" bIns="47625" anchor="t">
            <a:noAutofit/>
          </a:bodyPr>
          <a:lstStyle/>
          <a:p>
            <a:pPr marR="317500" indent="-165100" algn="just" rtl="1">
              <a:lnSpc>
                <a:spcPct val="150000"/>
              </a:lnSpc>
              <a:spcAft>
                <a:spcPts val="1500"/>
              </a:spcAft>
              <a:buChar char="•"/>
              <a:defRPr sz="2200">
                <a:solidFill>
                  <a:srgbClr val="17232C"/>
                </a:solidFill>
                <a:latin typeface="B Zar"/>
                <a:ea typeface="B Zar"/>
                <a:cs typeface="B Zar"/>
              </a:defRPr>
            </a:pPr>
            <a:r>
              <a:rPr lang="fa-IR" altLang="fa-IR" sz="2200" b="0" dirty="0" smtClean="0">
                <a:solidFill>
                  <a:srgbClr val="17232C"/>
                </a:solidFill>
                <a:latin typeface="B Zar"/>
                <a:ea typeface="B Zar"/>
                <a:cs typeface="B Zar"/>
              </a:rPr>
              <a:t> </a:t>
            </a:r>
            <a:r>
              <a:rPr lang="fa-IR" sz="2000" b="1" dirty="0"/>
              <a:t>مرجع </a:t>
            </a:r>
            <a:r>
              <a:rPr lang="ar-SA" sz="2000" b="1" dirty="0">
                <a:cs typeface="B Zar" panose="00000400000000000000" pitchFamily="50" charset="-78"/>
              </a:rPr>
              <a:t>[</a:t>
            </a:r>
            <a:r>
              <a:rPr lang="fa-IR" sz="2000" b="1" dirty="0">
                <a:cs typeface="B Zar" panose="00000400000000000000" pitchFamily="50" charset="-78"/>
              </a:rPr>
              <a:t>۱</a:t>
            </a:r>
            <a:r>
              <a:rPr lang="ar-SA" sz="2000" b="1" dirty="0" smtClean="0">
                <a:cs typeface="B Zar" panose="00000400000000000000" pitchFamily="50" charset="-78"/>
              </a:rPr>
              <a:t>]</a:t>
            </a:r>
            <a:r>
              <a:rPr lang="fa-IR" sz="2000" b="1" dirty="0" smtClean="0">
                <a:cs typeface="B Zar" panose="00000400000000000000" pitchFamily="50" charset="-78"/>
              </a:rPr>
              <a:t>:</a:t>
            </a:r>
            <a:r>
              <a:rPr lang="fa-IR" dirty="0" smtClean="0">
                <a:cs typeface="B Zar" panose="00000400000000000000" pitchFamily="50" charset="-78"/>
              </a:rPr>
              <a:t> </a:t>
            </a:r>
            <a:r>
              <a:rPr lang="ar-SA" sz="2200" dirty="0" smtClean="0"/>
              <a:t>مجموعه</a:t>
            </a:r>
            <a:r>
              <a:rPr lang="en-US" sz="2200" dirty="0"/>
              <a:t>‌</a:t>
            </a:r>
            <a:r>
              <a:rPr lang="ar-SA" sz="2200" dirty="0"/>
              <a:t>داده چنددامنه رانندگی </a:t>
            </a:r>
            <a:r>
              <a:rPr lang="ar-SA" sz="2200" dirty="0" smtClean="0"/>
              <a:t>خودکار</a:t>
            </a:r>
            <a:r>
              <a:rPr lang="fa-IR" sz="2200" dirty="0" smtClean="0"/>
              <a:t> (</a:t>
            </a:r>
            <a:r>
              <a:rPr lang="en-US" sz="2100" dirty="0" smtClean="0">
                <a:latin typeface="Times New Roman" panose="02020603050405020304" pitchFamily="18" charset="0"/>
                <a:cs typeface="Times New Roman" panose="02020603050405020304" pitchFamily="18" charset="0"/>
              </a:rPr>
              <a:t>IADD</a:t>
            </a:r>
            <a:r>
              <a:rPr lang="fa-IR" sz="2200" dirty="0" smtClean="0"/>
              <a:t>)</a:t>
            </a:r>
          </a:p>
          <a:p>
            <a:pPr marR="317500" indent="-165100" algn="just" rtl="1">
              <a:lnSpc>
                <a:spcPct val="150000"/>
              </a:lnSpc>
              <a:spcAft>
                <a:spcPts val="1500"/>
              </a:spcAft>
              <a:buChar char="•"/>
              <a:defRPr sz="2200">
                <a:solidFill>
                  <a:srgbClr val="17232C"/>
                </a:solidFill>
                <a:latin typeface="B Zar"/>
                <a:ea typeface="B Zar"/>
                <a:cs typeface="B Zar"/>
              </a:defRPr>
            </a:pPr>
            <a:r>
              <a:rPr lang="fa-IR" sz="2200" dirty="0" smtClean="0"/>
              <a:t> </a:t>
            </a:r>
            <a:r>
              <a:rPr lang="ar-SA" sz="2200" dirty="0" smtClean="0"/>
              <a:t>دانشکده </a:t>
            </a:r>
            <a:r>
              <a:rPr lang="ar-SA" sz="2200" dirty="0" smtClean="0"/>
              <a:t>مهندسی خودرو دانشگاه علم و صنعت</a:t>
            </a:r>
            <a:endParaRPr lang="fa-IR" sz="2200" dirty="0" smtClean="0"/>
          </a:p>
          <a:p>
            <a:pPr marR="317500" indent="-165100" algn="just" rtl="1">
              <a:lnSpc>
                <a:spcPct val="150000"/>
              </a:lnSpc>
              <a:spcAft>
                <a:spcPts val="1500"/>
              </a:spcAft>
              <a:buChar char="•"/>
              <a:defRPr sz="2200">
                <a:solidFill>
                  <a:srgbClr val="17232C"/>
                </a:solidFill>
                <a:latin typeface="B Zar"/>
                <a:ea typeface="B Zar"/>
                <a:cs typeface="B Zar"/>
              </a:defRPr>
            </a:pPr>
            <a:r>
              <a:rPr lang="fa-IR" sz="2200" dirty="0" smtClean="0"/>
              <a:t>چاپ شده در مجله </a:t>
            </a:r>
            <a:r>
              <a:rPr lang="en-US" sz="2100" dirty="0" smtClean="0">
                <a:latin typeface="Times New Roman" panose="02020603050405020304" pitchFamily="18" charset="0"/>
                <a:cs typeface="Times New Roman" panose="02020603050405020304" pitchFamily="18" charset="0"/>
              </a:rPr>
              <a:t>IET Image Processing</a:t>
            </a:r>
            <a:r>
              <a:rPr lang="fa-IR" sz="2100" dirty="0" smtClean="0">
                <a:latin typeface="Times New Roman" panose="02020603050405020304" pitchFamily="18" charset="0"/>
                <a:cs typeface="Times New Roman" panose="02020603050405020304" pitchFamily="18" charset="0"/>
              </a:rPr>
              <a:t> در سال 2023</a:t>
            </a:r>
            <a:endParaRPr lang="fa-IR" sz="2200" dirty="0" smtClean="0">
              <a:latin typeface="Times New Roman" panose="02020603050405020304" pitchFamily="18" charset="0"/>
              <a:cs typeface="Times New Roman" panose="02020603050405020304" pitchFamily="18" charset="0"/>
            </a:endParaRPr>
          </a:p>
          <a:p>
            <a:pPr marR="317500" indent="-165100" algn="just" rtl="1">
              <a:lnSpc>
                <a:spcPct val="150000"/>
              </a:lnSpc>
              <a:spcAft>
                <a:spcPts val="1500"/>
              </a:spcAft>
              <a:buChar char="•"/>
              <a:defRPr sz="2200">
                <a:solidFill>
                  <a:srgbClr val="17232C"/>
                </a:solidFill>
                <a:latin typeface="B Zar"/>
                <a:ea typeface="B Zar"/>
                <a:cs typeface="B Zar"/>
              </a:defRPr>
            </a:pPr>
            <a:r>
              <a:rPr lang="fa-IR" sz="2200" dirty="0" smtClean="0">
                <a:cs typeface="B Zar" panose="00000400000000000000" pitchFamily="50" charset="-78"/>
              </a:rPr>
              <a:t> </a:t>
            </a:r>
            <a:r>
              <a:rPr lang="fa-IR" sz="2000" b="1" dirty="0" smtClean="0">
                <a:cs typeface="B Zar" panose="00000400000000000000" pitchFamily="50" charset="-78"/>
              </a:rPr>
              <a:t>هدف </a:t>
            </a:r>
            <a:r>
              <a:rPr lang="fa-IR" sz="2000" b="1" dirty="0">
                <a:cs typeface="B Zar" panose="00000400000000000000" pitchFamily="50" charset="-78"/>
              </a:rPr>
              <a:t>اصلی: </a:t>
            </a:r>
            <a:r>
              <a:rPr lang="fa-IR" sz="2200" dirty="0">
                <a:cs typeface="B Zar" panose="00000400000000000000" pitchFamily="50" charset="-78"/>
              </a:rPr>
              <a:t>بهبود توانایی تعمیم مدل‌های </a:t>
            </a:r>
            <a:r>
              <a:rPr lang="fa-IR" sz="2200" dirty="0" smtClean="0">
                <a:cs typeface="B Zar" panose="00000400000000000000" pitchFamily="50" charset="-78"/>
              </a:rPr>
              <a:t>یادگیری عمیق</a:t>
            </a:r>
          </a:p>
          <a:p>
            <a:pPr marR="317500" indent="-165100" algn="just" rtl="1">
              <a:lnSpc>
                <a:spcPct val="150000"/>
              </a:lnSpc>
              <a:spcAft>
                <a:spcPts val="1500"/>
              </a:spcAft>
              <a:buChar char="•"/>
              <a:defRPr sz="2200">
                <a:solidFill>
                  <a:srgbClr val="17232C"/>
                </a:solidFill>
                <a:latin typeface="B Zar"/>
                <a:ea typeface="B Zar"/>
                <a:cs typeface="B Zar"/>
              </a:defRPr>
            </a:pPr>
            <a:r>
              <a:rPr lang="fa-IR" sz="2200" dirty="0">
                <a:cs typeface="B Zar" panose="00000400000000000000" pitchFamily="50" charset="-78"/>
              </a:rPr>
              <a:t> </a:t>
            </a:r>
            <a:r>
              <a:rPr lang="fa-IR" sz="2200" dirty="0" smtClean="0">
                <a:cs typeface="B Zar" panose="00000400000000000000" pitchFamily="50" charset="-78"/>
              </a:rPr>
              <a:t>پوشش شرایط</a:t>
            </a:r>
            <a:r>
              <a:rPr lang="en-US" sz="2200" dirty="0" smtClean="0">
                <a:cs typeface="B Zar" panose="00000400000000000000" pitchFamily="50" charset="-78"/>
              </a:rPr>
              <a:t> </a:t>
            </a:r>
            <a:r>
              <a:rPr lang="fa-IR" sz="2200" dirty="0" smtClean="0">
                <a:cs typeface="B Zar" panose="00000400000000000000" pitchFamily="50" charset="-78"/>
              </a:rPr>
              <a:t>شهری</a:t>
            </a:r>
            <a:r>
              <a:rPr lang="fa-IR" sz="2200" dirty="0">
                <a:cs typeface="B Zar" panose="00000400000000000000" pitchFamily="50" charset="-78"/>
              </a:rPr>
              <a:t>، </a:t>
            </a:r>
            <a:r>
              <a:rPr lang="fa-IR" sz="2200" dirty="0" smtClean="0">
                <a:cs typeface="B Zar" panose="00000400000000000000" pitchFamily="50" charset="-78"/>
              </a:rPr>
              <a:t>برون‌شهری</a:t>
            </a:r>
            <a:r>
              <a:rPr lang="en-US" sz="2200" dirty="0" smtClean="0">
                <a:cs typeface="B Zar" panose="00000400000000000000" pitchFamily="50" charset="-78"/>
              </a:rPr>
              <a:t> </a:t>
            </a:r>
            <a:r>
              <a:rPr lang="fa-IR" sz="2200" dirty="0" smtClean="0">
                <a:cs typeface="B Zar" panose="00000400000000000000" pitchFamily="50" charset="-78"/>
              </a:rPr>
              <a:t>و جریان‌های ترافیکی مختلف</a:t>
            </a:r>
            <a:endParaRPr lang="fa-IR" sz="2100" dirty="0" smtClean="0">
              <a:latin typeface="Times New Roman" panose="02020603050405020304" pitchFamily="18" charset="0"/>
              <a:cs typeface="B Zar" panose="00000400000000000000" pitchFamily="50" charset="-78"/>
            </a:endParaRPr>
          </a:p>
          <a:p>
            <a:pPr marR="317500" indent="-165100" algn="just" rtl="1">
              <a:lnSpc>
                <a:spcPct val="150000"/>
              </a:lnSpc>
              <a:spcAft>
                <a:spcPts val="1500"/>
              </a:spcAft>
              <a:buChar char="•"/>
              <a:defRPr sz="2200">
                <a:solidFill>
                  <a:srgbClr val="17232C"/>
                </a:solidFill>
                <a:latin typeface="B Zar"/>
                <a:ea typeface="B Zar"/>
                <a:cs typeface="B Zar"/>
              </a:defRPr>
            </a:pPr>
            <a:endParaRPr lang="en-US" altLang="fa-IR" sz="2200" b="0" dirty="0">
              <a:solidFill>
                <a:srgbClr val="17232C"/>
              </a:solidFill>
              <a:latin typeface="Times New Roman"/>
              <a:ea typeface="Times New Roman"/>
              <a:cs typeface="Times New Roman"/>
            </a:endParaRPr>
          </a:p>
        </p:txBody>
      </p:sp>
      <p:sp>
        <p:nvSpPr>
          <p:cNvPr id="19" name="Rectangle 18">
            <a:extLst>
              <a:ext uri="{FF2B5EF4-FFF2-40B4-BE49-F238E27FC236}">
                <a16:creationId xmlns:a16="http://schemas.microsoft.com/office/drawing/2014/main" id="{C4452ECC-0329-42FD-A992-5D81CCFFD581}"/>
              </a:ext>
            </a:extLst>
          </p:cNvPr>
          <p:cNvSpPr>
            <a:spLocks noGrp="1"/>
          </p:cNvSpPr>
          <p:nvPr/>
        </p:nvSpPr>
        <p:spPr>
          <a:xfrm>
            <a:off x="1754630" y="279232"/>
            <a:ext cx="10096500" cy="485775"/>
          </a:xfrm>
          <a:prstGeom prst="rect">
            <a:avLst/>
          </a:prstGeom>
          <a:noFill/>
          <a:ln w="0">
            <a:noFill/>
          </a:ln>
        </p:spPr>
        <p:txBody>
          <a:bodyPr lIns="57150" tIns="38100" rIns="57150" bIns="38100" anchor="ctr">
            <a:noAutofit/>
          </a:bodyPr>
          <a:lstStyle/>
          <a:p>
            <a:pPr algn="r" rtl="1">
              <a:defRPr sz="3100" b="1">
                <a:solidFill>
                  <a:srgbClr val="173E5A"/>
                </a:solidFill>
                <a:latin typeface="B Zar"/>
                <a:ea typeface="B Zar"/>
                <a:cs typeface="B Zar"/>
              </a:defRPr>
            </a:pPr>
            <a:r>
              <a:rPr lang="fa-IR" altLang="fa-IR" sz="3100" b="1" dirty="0" smtClean="0">
                <a:solidFill>
                  <a:srgbClr val="173E5A"/>
                </a:solidFill>
                <a:latin typeface="B Zar"/>
                <a:ea typeface="B Zar"/>
                <a:cs typeface="B Zar"/>
              </a:rPr>
              <a:t>مجموعه‌داده انتخابی</a:t>
            </a:r>
            <a:endParaRPr lang="fa-IR" altLang="fa-IR" sz="3100" b="1" dirty="0">
              <a:solidFill>
                <a:srgbClr val="173E5A"/>
              </a:solidFill>
              <a:latin typeface="B Zar"/>
              <a:ea typeface="B Zar"/>
              <a:cs typeface="B Zar"/>
            </a:endParaRPr>
          </a:p>
        </p:txBody>
      </p:sp>
      <p:pic>
        <p:nvPicPr>
          <p:cNvPr id="27" name="Picture 2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8984" y="1641434"/>
            <a:ext cx="4985438" cy="372697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96787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p:cNvSpPr/>
          <p:nvPr/>
        </p:nvSpPr>
        <p:spPr>
          <a:xfrm>
            <a:off x="0" y="5275462"/>
            <a:ext cx="12192000" cy="1582540"/>
          </a:xfrm>
          <a:prstGeom prst="rect">
            <a:avLst/>
          </a:prstGeom>
          <a:gradFill flip="none" rotWithShape="1">
            <a:gsLst>
              <a:gs pos="84000">
                <a:schemeClr val="accent4">
                  <a:lumMod val="35000"/>
                  <a:lumOff val="65000"/>
                </a:schemeClr>
              </a:gs>
              <a:gs pos="8000">
                <a:schemeClr val="accent4">
                  <a:lumMod val="0"/>
                  <a:lumOff val="100000"/>
                </a:schemeClr>
              </a:gs>
              <a:gs pos="18000">
                <a:schemeClr val="accent4">
                  <a:lumMod val="5000"/>
                  <a:lumOff val="95000"/>
                </a:schemeClr>
              </a:gs>
              <a:gs pos="28000">
                <a:schemeClr val="accent4">
                  <a:lumMod val="10000"/>
                  <a:lumOff val="90000"/>
                </a:schemeClr>
              </a:gs>
              <a:gs pos="39000">
                <a:schemeClr val="accent4">
                  <a:lumMod val="15000"/>
                  <a:lumOff val="85000"/>
                </a:schemeClr>
              </a:gs>
              <a:gs pos="50000">
                <a:schemeClr val="accent4">
                  <a:lumMod val="20000"/>
                  <a:lumOff val="80000"/>
                </a:schemeClr>
              </a:gs>
              <a:gs pos="62000">
                <a:schemeClr val="accent4">
                  <a:lumMod val="25000"/>
                  <a:lumOff val="75000"/>
                </a:schemeClr>
              </a:gs>
              <a:gs pos="73000">
                <a:schemeClr val="accent4">
                  <a:lumMod val="30000"/>
                  <a:lumOff val="70000"/>
                </a:schemeClr>
              </a:gs>
              <a:gs pos="94000">
                <a:schemeClr val="accent4">
                  <a:lumMod val="40000"/>
                  <a:lumOff val="60000"/>
                </a:schemeClr>
              </a:gs>
              <a:gs pos="100000">
                <a:schemeClr val="accent4">
                  <a:lumMod val="50000"/>
                  <a:lumOff val="5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1" name="Table 20"/>
          <p:cNvGraphicFramePr/>
          <p:nvPr>
            <p:extLst>
              <p:ext uri="{D42A27DB-BD31-4B8C-83A1-F6EECF244321}">
                <p14:modId xmlns:p14="http://schemas.microsoft.com/office/powerpoint/2010/main" val="1647694464"/>
              </p:ext>
            </p:extLst>
          </p:nvPr>
        </p:nvGraphicFramePr>
        <p:xfrm>
          <a:off x="488618" y="1928486"/>
          <a:ext cx="4865688" cy="2842759"/>
        </p:xfrm>
        <a:graphic>
          <a:graphicData uri="http://schemas.openxmlformats.org/drawingml/2006/table">
            <a:tbl>
              <a:tblPr/>
              <a:tblGrid>
                <a:gridCol w="1272565">
                  <a:extLst>
                    <a:ext uri="{9D8B030D-6E8A-4147-A177-3AD203B41FA5}">
                      <a16:colId xmlns:a16="http://schemas.microsoft.com/office/drawing/2014/main" val="20000"/>
                    </a:ext>
                  </a:extLst>
                </a:gridCol>
                <a:gridCol w="1571991">
                  <a:extLst>
                    <a:ext uri="{9D8B030D-6E8A-4147-A177-3AD203B41FA5}">
                      <a16:colId xmlns:a16="http://schemas.microsoft.com/office/drawing/2014/main" val="20001"/>
                    </a:ext>
                  </a:extLst>
                </a:gridCol>
                <a:gridCol w="2021132">
                  <a:extLst>
                    <a:ext uri="{9D8B030D-6E8A-4147-A177-3AD203B41FA5}">
                      <a16:colId xmlns:a16="http://schemas.microsoft.com/office/drawing/2014/main" val="20002"/>
                    </a:ext>
                  </a:extLst>
                </a:gridCol>
              </a:tblGrid>
              <a:tr h="711844">
                <a:tc>
                  <a:txBody>
                    <a:bodyPr/>
                    <a:lstStyle/>
                    <a:p>
                      <a:pPr algn="ctr" rtl="1"/>
                      <a:r>
                        <a:rPr lang="fa-IR" altLang="fa-IR" sz="2000" b="1" dirty="0" smtClean="0">
                          <a:solidFill>
                            <a:srgbClr val="FFFFFF"/>
                          </a:solidFill>
                          <a:latin typeface="B Zar"/>
                          <a:ea typeface="B Zar"/>
                          <a:cs typeface="B Zar"/>
                        </a:rPr>
                        <a:t>تعداد ویدیو</a:t>
                      </a:r>
                      <a:endParaRPr lang="fa-IR" altLang="fa-IR" sz="2000" b="1" dirty="0">
                        <a:solidFill>
                          <a:srgbClr val="FFFFFF"/>
                        </a:solidFill>
                        <a:latin typeface="B Zar"/>
                        <a:ea typeface="B Zar"/>
                        <a:cs typeface="B Zar"/>
                      </a:endParaRPr>
                    </a:p>
                  </a:txBody>
                  <a:tcPr marL="66675" marR="66675" marT="57150" marB="57150" anchor="ctr">
                    <a:solidFill>
                      <a:schemeClr val="accent4">
                        <a:lumMod val="75000"/>
                      </a:schemeClr>
                    </a:solidFill>
                  </a:tcPr>
                </a:tc>
                <a:tc>
                  <a:txBody>
                    <a:bodyPr/>
                    <a:lstStyle/>
                    <a:p>
                      <a:pPr algn="ctr" rtl="1"/>
                      <a:r>
                        <a:rPr lang="fa-IR" altLang="fa-IR" sz="2000" b="1" dirty="0" smtClean="0">
                          <a:solidFill>
                            <a:srgbClr val="FFFFFF"/>
                          </a:solidFill>
                          <a:latin typeface="B Zar"/>
                          <a:ea typeface="B Zar"/>
                          <a:cs typeface="B Zar"/>
                        </a:rPr>
                        <a:t>تعداد تصویر</a:t>
                      </a:r>
                      <a:endParaRPr lang="fa-IR" altLang="fa-IR" sz="2000" b="1" dirty="0">
                        <a:solidFill>
                          <a:srgbClr val="FFFFFF"/>
                        </a:solidFill>
                        <a:latin typeface="B Zar"/>
                        <a:ea typeface="B Zar"/>
                        <a:cs typeface="B Zar"/>
                      </a:endParaRPr>
                    </a:p>
                  </a:txBody>
                  <a:tcPr marL="66675" marR="66675" marT="57150" marB="57150" anchor="ctr">
                    <a:solidFill>
                      <a:schemeClr val="accent4">
                        <a:lumMod val="75000"/>
                      </a:schemeClr>
                    </a:solidFill>
                  </a:tcPr>
                </a:tc>
                <a:tc>
                  <a:txBody>
                    <a:bodyPr/>
                    <a:lstStyle/>
                    <a:p>
                      <a:pPr algn="ctr" rtl="1"/>
                      <a:r>
                        <a:rPr lang="fa-IR" altLang="fa-IR" sz="2000" b="1" dirty="0" smtClean="0">
                          <a:solidFill>
                            <a:srgbClr val="FFFFFF"/>
                          </a:solidFill>
                          <a:latin typeface="B Zar"/>
                          <a:ea typeface="B Zar"/>
                          <a:cs typeface="B Zar"/>
                        </a:rPr>
                        <a:t>نسخه داده</a:t>
                      </a:r>
                      <a:endParaRPr lang="fa-IR" altLang="fa-IR" sz="2000" b="1" dirty="0">
                        <a:solidFill>
                          <a:srgbClr val="FFFFFF"/>
                        </a:solidFill>
                        <a:latin typeface="B Zar"/>
                        <a:ea typeface="B Zar"/>
                        <a:cs typeface="B Zar"/>
                      </a:endParaRPr>
                    </a:p>
                  </a:txBody>
                  <a:tcPr marL="66675" marR="66675" marT="57150" marB="57150" anchor="ctr">
                    <a:solidFill>
                      <a:schemeClr val="accent4">
                        <a:lumMod val="75000"/>
                      </a:schemeClr>
                    </a:solidFill>
                  </a:tcPr>
                </a:tc>
                <a:extLst>
                  <a:ext uri="{0D108BD9-81ED-4DB2-BD59-A6C34878D82A}">
                    <a16:rowId xmlns:a16="http://schemas.microsoft.com/office/drawing/2014/main" val="10000"/>
                  </a:ext>
                </a:extLst>
              </a:tr>
              <a:tr h="710305">
                <a:tc>
                  <a:txBody>
                    <a:bodyPr/>
                    <a:lstStyle/>
                    <a:p>
                      <a:pPr algn="ctr" rtl="1"/>
                      <a:r>
                        <a:rPr lang="fa-IR" altLang="fa-IR" sz="2000">
                          <a:solidFill>
                            <a:srgbClr val="17232C"/>
                          </a:solidFill>
                          <a:latin typeface="B Zar"/>
                          <a:ea typeface="B Zar"/>
                          <a:cs typeface="B Zar"/>
                        </a:rPr>
                        <a:t>۱۷۱</a:t>
                      </a:r>
                    </a:p>
                  </a:txBody>
                  <a:tcPr marL="66675" marR="66675" marT="57150" marB="57150" anchor="ctr">
                    <a:solidFill>
                      <a:srgbClr val="FFFFFF"/>
                    </a:solidFill>
                  </a:tcPr>
                </a:tc>
                <a:tc>
                  <a:txBody>
                    <a:bodyPr/>
                    <a:lstStyle/>
                    <a:p>
                      <a:pPr algn="ctr" rtl="1"/>
                      <a:r>
                        <a:rPr lang="fa-IR" altLang="fa-IR" sz="2000">
                          <a:solidFill>
                            <a:srgbClr val="17232C"/>
                          </a:solidFill>
                          <a:latin typeface="B Zar"/>
                          <a:ea typeface="B Zar"/>
                          <a:cs typeface="B Zar"/>
                        </a:rPr>
                        <a:t>۹۷٬۵۲۸</a:t>
                      </a:r>
                    </a:p>
                  </a:txBody>
                  <a:tcPr marL="66675" marR="66675" marT="57150" marB="57150" anchor="ctr">
                    <a:solidFill>
                      <a:srgbClr val="FFFFFF"/>
                    </a:solidFill>
                  </a:tcPr>
                </a:tc>
                <a:tc>
                  <a:txBody>
                    <a:bodyPr/>
                    <a:lstStyle/>
                    <a:p>
                      <a:pPr algn="ctr" rtl="1"/>
                      <a:r>
                        <a:rPr lang="fa-IR" altLang="fa-IR" sz="2000" b="1" dirty="0" smtClean="0">
                          <a:solidFill>
                            <a:srgbClr val="173E5A"/>
                          </a:solidFill>
                          <a:latin typeface="B Zar"/>
                          <a:ea typeface="B Zar"/>
                          <a:cs typeface="B Zar"/>
                        </a:rPr>
                        <a:t>مجموعه منتشرشده</a:t>
                      </a:r>
                      <a:endParaRPr lang="fa-IR" altLang="fa-IR" sz="2000" b="1" dirty="0">
                        <a:solidFill>
                          <a:srgbClr val="173E5A"/>
                        </a:solidFill>
                        <a:latin typeface="B Zar"/>
                        <a:ea typeface="B Zar"/>
                        <a:cs typeface="B Zar"/>
                      </a:endParaRPr>
                    </a:p>
                  </a:txBody>
                  <a:tcPr marL="66675" marR="66675" marT="57150" marB="57150" anchor="ctr">
                    <a:solidFill>
                      <a:srgbClr val="CBFBF9">
                        <a:alpha val="42000"/>
                      </a:srgbClr>
                    </a:solidFill>
                  </a:tcPr>
                </a:tc>
                <a:extLst>
                  <a:ext uri="{0D108BD9-81ED-4DB2-BD59-A6C34878D82A}">
                    <a16:rowId xmlns:a16="http://schemas.microsoft.com/office/drawing/2014/main" val="10001"/>
                  </a:ext>
                </a:extLst>
              </a:tr>
              <a:tr h="710305">
                <a:tc>
                  <a:txBody>
                    <a:bodyPr/>
                    <a:lstStyle/>
                    <a:p>
                      <a:pPr algn="ctr" rtl="1"/>
                      <a:r>
                        <a:rPr lang="fa-IR" altLang="fa-IR" sz="2000">
                          <a:solidFill>
                            <a:srgbClr val="17232C"/>
                          </a:solidFill>
                          <a:latin typeface="B Zar"/>
                          <a:ea typeface="B Zar"/>
                          <a:cs typeface="B Zar"/>
                        </a:rPr>
                        <a:t>۱۶۶</a:t>
                      </a:r>
                    </a:p>
                  </a:txBody>
                  <a:tcPr marL="66675" marR="66675" marT="57150" marB="57150" anchor="ctr">
                    <a:solidFill>
                      <a:srgbClr val="F1F3F5"/>
                    </a:solidFill>
                  </a:tcPr>
                </a:tc>
                <a:tc>
                  <a:txBody>
                    <a:bodyPr/>
                    <a:lstStyle/>
                    <a:p>
                      <a:pPr algn="ctr" rtl="1"/>
                      <a:r>
                        <a:rPr lang="fa-IR" altLang="fa-IR" sz="2000" dirty="0">
                          <a:solidFill>
                            <a:srgbClr val="17232C"/>
                          </a:solidFill>
                          <a:latin typeface="B Zar"/>
                          <a:ea typeface="B Zar"/>
                          <a:cs typeface="B Zar"/>
                        </a:rPr>
                        <a:t>۸۳٬۰۴۲</a:t>
                      </a:r>
                    </a:p>
                  </a:txBody>
                  <a:tcPr marL="66675" marR="66675" marT="57150" marB="57150" anchor="ctr">
                    <a:solidFill>
                      <a:srgbClr val="F1F3F5"/>
                    </a:solidFill>
                  </a:tcPr>
                </a:tc>
                <a:tc>
                  <a:txBody>
                    <a:bodyPr/>
                    <a:lstStyle/>
                    <a:p>
                      <a:pPr algn="ctr" rtl="1"/>
                      <a:r>
                        <a:rPr lang="fa-IR" altLang="fa-IR" sz="2000" b="1" smtClean="0">
                          <a:solidFill>
                            <a:srgbClr val="173E5A"/>
                          </a:solidFill>
                          <a:latin typeface="B Zar"/>
                          <a:ea typeface="B Zar"/>
                          <a:cs typeface="B Zar"/>
                        </a:rPr>
                        <a:t>بخش دارای برچسب</a:t>
                      </a:r>
                      <a:endParaRPr lang="fa-IR" altLang="fa-IR" sz="2000" b="1" dirty="0">
                        <a:solidFill>
                          <a:srgbClr val="173E5A"/>
                        </a:solidFill>
                        <a:latin typeface="B Zar"/>
                        <a:ea typeface="B Zar"/>
                        <a:cs typeface="B Zar"/>
                      </a:endParaRPr>
                    </a:p>
                  </a:txBody>
                  <a:tcPr marL="66675" marR="66675" marT="57150" marB="57150" anchor="ctr">
                    <a:solidFill>
                      <a:srgbClr val="CBFBF9">
                        <a:alpha val="42000"/>
                      </a:srgbClr>
                    </a:solidFill>
                  </a:tcPr>
                </a:tc>
                <a:extLst>
                  <a:ext uri="{0D108BD9-81ED-4DB2-BD59-A6C34878D82A}">
                    <a16:rowId xmlns:a16="http://schemas.microsoft.com/office/drawing/2014/main" val="10002"/>
                  </a:ext>
                </a:extLst>
              </a:tr>
              <a:tr h="710305">
                <a:tc>
                  <a:txBody>
                    <a:bodyPr/>
                    <a:lstStyle/>
                    <a:p>
                      <a:pPr algn="ctr" rtl="1"/>
                      <a:r>
                        <a:rPr lang="fa-IR" altLang="fa-IR" sz="2000">
                          <a:solidFill>
                            <a:srgbClr val="17232C"/>
                          </a:solidFill>
                          <a:latin typeface="B Zar"/>
                          <a:ea typeface="B Zar"/>
                          <a:cs typeface="B Zar"/>
                        </a:rPr>
                        <a:t>۱۶۰</a:t>
                      </a:r>
                    </a:p>
                  </a:txBody>
                  <a:tcPr marL="66675" marR="66675" marT="57150" marB="57150" anchor="ctr">
                    <a:solidFill>
                      <a:srgbClr val="FFFFFF"/>
                    </a:solidFill>
                  </a:tcPr>
                </a:tc>
                <a:tc>
                  <a:txBody>
                    <a:bodyPr/>
                    <a:lstStyle/>
                    <a:p>
                      <a:pPr algn="ctr" rtl="1"/>
                      <a:r>
                        <a:rPr lang="fa-IR" altLang="fa-IR" sz="2000" dirty="0">
                          <a:solidFill>
                            <a:srgbClr val="17232C"/>
                          </a:solidFill>
                          <a:latin typeface="B Zar"/>
                          <a:ea typeface="B Zar"/>
                          <a:cs typeface="B Zar"/>
                        </a:rPr>
                        <a:t>۳۷٬۱۴۲</a:t>
                      </a:r>
                    </a:p>
                  </a:txBody>
                  <a:tcPr marL="66675" marR="66675" marT="57150" marB="57150" anchor="ctr">
                    <a:solidFill>
                      <a:srgbClr val="FFFFFF"/>
                    </a:solidFill>
                  </a:tcPr>
                </a:tc>
                <a:tc>
                  <a:txBody>
                    <a:bodyPr/>
                    <a:lstStyle/>
                    <a:p>
                      <a:pPr algn="ctr" rtl="1"/>
                      <a:r>
                        <a:rPr lang="fa-IR" altLang="fa-IR" sz="2000" b="1" dirty="0" smtClean="0">
                          <a:solidFill>
                            <a:srgbClr val="173E5A"/>
                          </a:solidFill>
                          <a:latin typeface="B Zar"/>
                          <a:ea typeface="B Zar"/>
                          <a:cs typeface="B Zar"/>
                        </a:rPr>
                        <a:t>زیرمجموعه نهایی</a:t>
                      </a:r>
                      <a:endParaRPr lang="fa-IR" altLang="fa-IR" sz="2000" b="1" dirty="0">
                        <a:solidFill>
                          <a:srgbClr val="173E5A"/>
                        </a:solidFill>
                        <a:latin typeface="B Zar"/>
                        <a:ea typeface="B Zar"/>
                        <a:cs typeface="B Zar"/>
                      </a:endParaRPr>
                    </a:p>
                  </a:txBody>
                  <a:tcPr marL="66675" marR="66675" marT="57150" marB="57150" anchor="ctr">
                    <a:solidFill>
                      <a:srgbClr val="CBFBF9">
                        <a:alpha val="42000"/>
                      </a:srgbClr>
                    </a:solidFill>
                  </a:tcPr>
                </a:tc>
                <a:extLst>
                  <a:ext uri="{0D108BD9-81ED-4DB2-BD59-A6C34878D82A}">
                    <a16:rowId xmlns:a16="http://schemas.microsoft.com/office/drawing/2014/main" val="10003"/>
                  </a:ext>
                </a:extLst>
              </a:tr>
            </a:tbl>
          </a:graphicData>
        </a:graphic>
      </p:graphicFrame>
      <p:pic>
        <p:nvPicPr>
          <p:cNvPr id="15" name="Picture 14"/>
          <p:cNvPicPr>
            <a:picLocks noChangeAspect="1"/>
          </p:cNvPicPr>
          <p:nvPr/>
        </p:nvPicPr>
        <p:blipFill>
          <a:blip r:embed="rId3"/>
          <a:stretch/>
        </p:blipFill>
        <p:spPr>
          <a:xfrm>
            <a:off x="428984" y="187916"/>
            <a:ext cx="535979" cy="628650"/>
          </a:xfrm>
          <a:prstGeom prst="rect">
            <a:avLst/>
          </a:prstGeom>
        </p:spPr>
      </p:pic>
      <p:sp>
        <p:nvSpPr>
          <p:cNvPr id="7" name="Rectangle 6">
            <a:extLst>
              <a:ext uri="{FF2B5EF4-FFF2-40B4-BE49-F238E27FC236}">
                <a16:creationId xmlns:a16="http://schemas.microsoft.com/office/drawing/2014/main" id="{DDF03A99-DA6E-4242-A14B-ADB2F847B26A}"/>
              </a:ext>
            </a:extLst>
          </p:cNvPr>
          <p:cNvSpPr>
            <a:spLocks noGrp="1"/>
          </p:cNvSpPr>
          <p:nvPr/>
        </p:nvSpPr>
        <p:spPr>
          <a:xfrm>
            <a:off x="171450" y="6496050"/>
            <a:ext cx="1762125" cy="238125"/>
          </a:xfrm>
          <a:prstGeom prst="rect">
            <a:avLst/>
          </a:prstGeom>
          <a:noFill/>
          <a:ln w="0">
            <a:noFill/>
          </a:ln>
        </p:spPr>
        <p:txBody>
          <a:bodyPr lIns="57150" tIns="38100" rIns="57150" bIns="38100" anchor="ctr">
            <a:noAutofit/>
          </a:bodyPr>
          <a:lstStyle/>
          <a:p>
            <a:pPr algn="r" rtl="1">
              <a:defRPr sz="1600" b="0">
                <a:solidFill>
                  <a:srgbClr val="52626E"/>
                </a:solidFill>
                <a:latin typeface="B Zar"/>
                <a:ea typeface="B Zar"/>
                <a:cs typeface="B Zar"/>
              </a:defRPr>
            </a:pPr>
            <a:r>
              <a:rPr lang="fa-IR" altLang="fa-IR" sz="1600" b="0" smtClean="0">
                <a:solidFill>
                  <a:srgbClr val="52626E"/>
                </a:solidFill>
                <a:latin typeface="B Zar"/>
                <a:ea typeface="B Zar"/>
                <a:cs typeface="B Zar"/>
              </a:rPr>
              <a:t>صفحه ۴ از ۳۱</a:t>
            </a:r>
            <a:endParaRPr lang="fa-IR" altLang="fa-IR" sz="1600" b="0">
              <a:solidFill>
                <a:srgbClr val="52626E"/>
              </a:solidFill>
              <a:latin typeface="B Zar"/>
              <a:ea typeface="B Zar"/>
              <a:cs typeface="B Zar"/>
            </a:endParaRPr>
          </a:p>
        </p:txBody>
      </p:sp>
      <p:sp>
        <p:nvSpPr>
          <p:cNvPr id="8" name="Rectangle 7">
            <a:extLst>
              <a:ext uri="{FF2B5EF4-FFF2-40B4-BE49-F238E27FC236}">
                <a16:creationId xmlns:a16="http://schemas.microsoft.com/office/drawing/2014/main" id="{710BC7D9-1F8D-443F-9BD6-D0A64A223C04}"/>
              </a:ext>
            </a:extLst>
          </p:cNvPr>
          <p:cNvSpPr>
            <a:spLocks noGrp="1"/>
          </p:cNvSpPr>
          <p:nvPr/>
        </p:nvSpPr>
        <p:spPr>
          <a:xfrm>
            <a:off x="5348749" y="1699886"/>
            <a:ext cx="6183057" cy="3963495"/>
          </a:xfrm>
          <a:prstGeom prst="rect">
            <a:avLst/>
          </a:prstGeom>
          <a:noFill/>
          <a:ln w="0">
            <a:noFill/>
          </a:ln>
        </p:spPr>
        <p:txBody>
          <a:bodyPr lIns="76200" tIns="47625" rIns="76200" bIns="47625" anchor="t">
            <a:noAutofit/>
          </a:bodyPr>
          <a:lstStyle/>
          <a:p>
            <a:pPr marR="317500" indent="225425" algn="just" rtl="1">
              <a:lnSpc>
                <a:spcPct val="150000"/>
              </a:lnSpc>
              <a:spcAft>
                <a:spcPts val="1500"/>
              </a:spcAft>
              <a:buFontTx/>
              <a:buChar char="•"/>
              <a:defRPr sz="2200">
                <a:solidFill>
                  <a:srgbClr val="17232C"/>
                </a:solidFill>
                <a:latin typeface="B Zar"/>
                <a:ea typeface="B Zar"/>
                <a:cs typeface="B Zar"/>
              </a:defRPr>
            </a:pPr>
            <a:r>
              <a:rPr lang="fa-IR" altLang="fa-IR" sz="2200" dirty="0" smtClean="0">
                <a:latin typeface="B Zar"/>
                <a:ea typeface="B Zar"/>
                <a:cs typeface="B Zar" panose="00000400000000000000" pitchFamily="50" charset="-78"/>
              </a:rPr>
              <a:t> شش </a:t>
            </a:r>
            <a:r>
              <a:rPr lang="fa-IR" altLang="fa-IR" sz="2200" dirty="0">
                <a:latin typeface="B Zar"/>
                <a:ea typeface="B Zar"/>
                <a:cs typeface="B Zar" panose="00000400000000000000" pitchFamily="50" charset="-78"/>
              </a:rPr>
              <a:t>رده، هشت شهر و شرایط روز، شب، باران و هوای </a:t>
            </a:r>
            <a:r>
              <a:rPr lang="fa-IR" altLang="fa-IR" sz="2200" dirty="0" smtClean="0">
                <a:latin typeface="B Zar"/>
                <a:ea typeface="B Zar"/>
                <a:cs typeface="B Zar" panose="00000400000000000000" pitchFamily="50" charset="-78"/>
              </a:rPr>
              <a:t>ابری</a:t>
            </a:r>
          </a:p>
          <a:p>
            <a:pPr marR="317500" indent="225425" algn="just" rtl="1">
              <a:lnSpc>
                <a:spcPct val="150000"/>
              </a:lnSpc>
              <a:spcAft>
                <a:spcPts val="1500"/>
              </a:spcAft>
              <a:buFontTx/>
              <a:buChar char="•"/>
              <a:defRPr sz="2200">
                <a:solidFill>
                  <a:srgbClr val="17232C"/>
                </a:solidFill>
                <a:latin typeface="B Zar"/>
                <a:ea typeface="B Zar"/>
                <a:cs typeface="B Zar"/>
              </a:defRPr>
            </a:pPr>
            <a:r>
              <a:rPr lang="fa-IR" altLang="fa-IR" sz="2200" dirty="0" smtClean="0">
                <a:solidFill>
                  <a:srgbClr val="17232C"/>
                </a:solidFill>
                <a:latin typeface="Times New Roman"/>
                <a:ea typeface="Times New Roman"/>
                <a:cs typeface="B Zar" panose="00000400000000000000" pitchFamily="50" charset="-78"/>
              </a:rPr>
              <a:t> استخراج </a:t>
            </a:r>
            <a:r>
              <a:rPr lang="fa-IR" altLang="fa-IR" sz="2200" dirty="0">
                <a:solidFill>
                  <a:srgbClr val="17232C"/>
                </a:solidFill>
                <a:latin typeface="Times New Roman"/>
                <a:ea typeface="Times New Roman"/>
                <a:cs typeface="B Zar" panose="00000400000000000000" pitchFamily="50" charset="-78"/>
              </a:rPr>
              <a:t>تصویر از ویدیوهای ثبت شده؛ هر 2 ثانیه یک </a:t>
            </a:r>
            <a:r>
              <a:rPr lang="fa-IR" altLang="fa-IR" sz="2200" dirty="0" smtClean="0">
                <a:solidFill>
                  <a:srgbClr val="17232C"/>
                </a:solidFill>
                <a:latin typeface="Times New Roman"/>
                <a:ea typeface="Times New Roman"/>
                <a:cs typeface="B Zar" panose="00000400000000000000" pitchFamily="50" charset="-78"/>
              </a:rPr>
              <a:t>فریم</a:t>
            </a:r>
            <a:endParaRPr lang="fa-IR" altLang="fa-IR" sz="2200" b="0" dirty="0" smtClean="0">
              <a:solidFill>
                <a:srgbClr val="17232C"/>
              </a:solidFill>
              <a:latin typeface="B Zar"/>
              <a:ea typeface="B Zar"/>
              <a:cs typeface="B Zar" panose="00000400000000000000" pitchFamily="50" charset="-78"/>
            </a:endParaRPr>
          </a:p>
          <a:p>
            <a:pPr marR="317500" indent="225425" algn="just" rtl="1">
              <a:lnSpc>
                <a:spcPct val="150000"/>
              </a:lnSpc>
              <a:spcAft>
                <a:spcPts val="1500"/>
              </a:spcAft>
              <a:buChar char="•"/>
              <a:defRPr sz="2200">
                <a:solidFill>
                  <a:srgbClr val="17232C"/>
                </a:solidFill>
                <a:latin typeface="B Zar"/>
                <a:ea typeface="B Zar"/>
                <a:cs typeface="B Zar"/>
              </a:defRPr>
            </a:pPr>
            <a:r>
              <a:rPr lang="fa-IR" sz="2200" dirty="0" smtClean="0"/>
              <a:t> برچسب‌گذاری </a:t>
            </a:r>
            <a:r>
              <a:rPr lang="fa-IR" sz="2200" dirty="0"/>
              <a:t>به‌صورت نیمه‌نظارتی </a:t>
            </a:r>
            <a:r>
              <a:rPr lang="fa-IR" sz="2200" dirty="0" smtClean="0"/>
              <a:t>با مدل </a:t>
            </a:r>
            <a:r>
              <a:rPr lang="en-US" sz="2100" dirty="0" err="1" smtClean="0">
                <a:latin typeface="Times New Roman" panose="02020603050405020304" pitchFamily="18" charset="0"/>
                <a:cs typeface="Times New Roman" panose="02020603050405020304" pitchFamily="18" charset="0"/>
              </a:rPr>
              <a:t>YoloR</a:t>
            </a:r>
            <a:endParaRPr lang="en-US" sz="2100" dirty="0" smtClean="0">
              <a:latin typeface="Times New Roman" panose="02020603050405020304" pitchFamily="18" charset="0"/>
              <a:cs typeface="Times New Roman" panose="02020603050405020304" pitchFamily="18" charset="0"/>
            </a:endParaRPr>
          </a:p>
          <a:p>
            <a:pPr marR="317500" indent="225425" algn="just" rtl="1">
              <a:lnSpc>
                <a:spcPct val="150000"/>
              </a:lnSpc>
              <a:spcAft>
                <a:spcPts val="1500"/>
              </a:spcAft>
              <a:buChar char="•"/>
              <a:defRPr sz="2200">
                <a:solidFill>
                  <a:srgbClr val="17232C"/>
                </a:solidFill>
                <a:latin typeface="B Zar"/>
                <a:ea typeface="B Zar"/>
                <a:cs typeface="B Zar"/>
              </a:defRPr>
            </a:pPr>
            <a:r>
              <a:rPr lang="fa-IR" altLang="fa-IR" sz="2200" dirty="0" smtClean="0">
                <a:solidFill>
                  <a:srgbClr val="17232C"/>
                </a:solidFill>
                <a:latin typeface="Times New Roman"/>
                <a:ea typeface="Times New Roman"/>
                <a:cs typeface="B Zar" panose="00000400000000000000" pitchFamily="50" charset="-78"/>
              </a:rPr>
              <a:t>۱۴٬۴۸۶ تصویر بخش آزمون، بدون برچسب بودند</a:t>
            </a:r>
            <a:endParaRPr lang="en-US" altLang="fa-IR" sz="2200" dirty="0" smtClean="0">
              <a:solidFill>
                <a:srgbClr val="17232C"/>
              </a:solidFill>
              <a:latin typeface="Times New Roman"/>
              <a:ea typeface="Times New Roman"/>
              <a:cs typeface="B Zar" panose="00000400000000000000" pitchFamily="50" charset="-78"/>
            </a:endParaRPr>
          </a:p>
          <a:p>
            <a:pPr marR="317500" indent="225425" algn="just" rtl="1">
              <a:lnSpc>
                <a:spcPct val="150000"/>
              </a:lnSpc>
              <a:spcAft>
                <a:spcPts val="1500"/>
              </a:spcAft>
              <a:buChar char="•"/>
              <a:defRPr sz="2200">
                <a:solidFill>
                  <a:srgbClr val="17232C"/>
                </a:solidFill>
                <a:latin typeface="B Zar"/>
                <a:ea typeface="B Zar"/>
                <a:cs typeface="B Zar"/>
              </a:defRPr>
            </a:pPr>
            <a:r>
              <a:rPr lang="fa-IR" altLang="fa-IR" sz="2200" dirty="0" smtClean="0">
                <a:solidFill>
                  <a:srgbClr val="17232C"/>
                </a:solidFill>
                <a:latin typeface="Times New Roman"/>
                <a:ea typeface="Times New Roman"/>
                <a:cs typeface="B Zar" panose="00000400000000000000" pitchFamily="50" charset="-78"/>
              </a:rPr>
              <a:t>روش حل این مشکل در بخش 2 بیان شده است</a:t>
            </a:r>
          </a:p>
        </p:txBody>
      </p:sp>
      <p:sp>
        <p:nvSpPr>
          <p:cNvPr id="19" name="Rectangle 18">
            <a:extLst>
              <a:ext uri="{FF2B5EF4-FFF2-40B4-BE49-F238E27FC236}">
                <a16:creationId xmlns:a16="http://schemas.microsoft.com/office/drawing/2014/main" id="{C4452ECC-0329-42FD-A992-5D81CCFFD581}"/>
              </a:ext>
            </a:extLst>
          </p:cNvPr>
          <p:cNvSpPr>
            <a:spLocks noGrp="1"/>
          </p:cNvSpPr>
          <p:nvPr/>
        </p:nvSpPr>
        <p:spPr>
          <a:xfrm>
            <a:off x="1754630" y="279232"/>
            <a:ext cx="10096500" cy="485775"/>
          </a:xfrm>
          <a:prstGeom prst="rect">
            <a:avLst/>
          </a:prstGeom>
          <a:noFill/>
          <a:ln w="0">
            <a:noFill/>
          </a:ln>
        </p:spPr>
        <p:txBody>
          <a:bodyPr lIns="57150" tIns="38100" rIns="57150" bIns="38100" anchor="ctr">
            <a:noAutofit/>
          </a:bodyPr>
          <a:lstStyle/>
          <a:p>
            <a:pPr algn="r" rtl="1">
              <a:defRPr sz="3100" b="1">
                <a:solidFill>
                  <a:srgbClr val="173E5A"/>
                </a:solidFill>
                <a:latin typeface="B Zar"/>
                <a:ea typeface="B Zar"/>
                <a:cs typeface="B Zar"/>
              </a:defRPr>
            </a:pPr>
            <a:r>
              <a:rPr lang="fa-IR" altLang="fa-IR" sz="3100" b="1" dirty="0" smtClean="0">
                <a:solidFill>
                  <a:srgbClr val="173E5A"/>
                </a:solidFill>
                <a:latin typeface="B Zar"/>
                <a:ea typeface="B Zar"/>
                <a:cs typeface="B Zar"/>
              </a:rPr>
              <a:t>مجموعه‌داده انتخابی</a:t>
            </a:r>
            <a:endParaRPr lang="fa-IR" altLang="fa-IR" sz="3100" b="1" dirty="0">
              <a:solidFill>
                <a:srgbClr val="173E5A"/>
              </a:solidFill>
              <a:latin typeface="B Zar"/>
              <a:ea typeface="B Zar"/>
              <a:cs typeface="B Zar"/>
            </a:endParaRPr>
          </a:p>
        </p:txBody>
      </p:sp>
    </p:spTree>
    <p:extLst>
      <p:ext uri="{BB962C8B-B14F-4D97-AF65-F5344CB8AC3E}">
        <p14:creationId xmlns:p14="http://schemas.microsoft.com/office/powerpoint/2010/main" val="3809501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B59D151-27E6-4178-A5B2-8754E020B817}"/>
              </a:ext>
            </a:extLst>
          </p:cNvPr>
          <p:cNvSpPr>
            <a:spLocks noGrp="1"/>
          </p:cNvSpPr>
          <p:nvPr/>
        </p:nvSpPr>
        <p:spPr>
          <a:xfrm>
            <a:off x="321012" y="6254884"/>
            <a:ext cx="1087269" cy="428017"/>
          </a:xfrm>
          <a:prstGeom prst="rect">
            <a:avLst/>
          </a:prstGeom>
          <a:noFill/>
          <a:ln w="0">
            <a:noFill/>
          </a:ln>
        </p:spPr>
        <p:txBody>
          <a:bodyPr lIns="57150" tIns="38100" rIns="57150" bIns="38100" anchor="ctr">
            <a:noAutofit/>
          </a:bodyPr>
          <a:lstStyle/>
          <a:p>
            <a:pPr algn="r" rtl="1">
              <a:defRPr sz="1600" b="0">
                <a:solidFill>
                  <a:srgbClr val="52626E"/>
                </a:solidFill>
                <a:latin typeface="B Zar"/>
                <a:ea typeface="B Zar"/>
                <a:cs typeface="B Zar"/>
              </a:defRPr>
            </a:pPr>
            <a:r>
              <a:rPr lang="fa-IR" altLang="fa-IR" sz="1600" b="0" smtClean="0">
                <a:solidFill>
                  <a:srgbClr val="52626E"/>
                </a:solidFill>
                <a:latin typeface="B Zar"/>
                <a:ea typeface="B Zar"/>
                <a:cs typeface="B Zar"/>
              </a:rPr>
              <a:t>صفحه ۵ از ۳۱</a:t>
            </a:r>
            <a:endParaRPr lang="fa-IR" altLang="fa-IR" sz="1600" b="0" dirty="0">
              <a:solidFill>
                <a:srgbClr val="52626E"/>
              </a:solidFill>
              <a:latin typeface="B Zar"/>
              <a:ea typeface="B Zar"/>
              <a:cs typeface="B Zar"/>
            </a:endParaRPr>
          </a:p>
        </p:txBody>
      </p:sp>
      <p:graphicFrame>
        <p:nvGraphicFramePr>
          <p:cNvPr id="17" name="Table 16"/>
          <p:cNvGraphicFramePr/>
          <p:nvPr>
            <p:extLst>
              <p:ext uri="{D42A27DB-BD31-4B8C-83A1-F6EECF244321}">
                <p14:modId xmlns:p14="http://schemas.microsoft.com/office/powerpoint/2010/main" val="1161820342"/>
              </p:ext>
            </p:extLst>
          </p:nvPr>
        </p:nvGraphicFramePr>
        <p:xfrm>
          <a:off x="1346470" y="1652154"/>
          <a:ext cx="9499060" cy="4143376"/>
        </p:xfrm>
        <a:graphic>
          <a:graphicData uri="http://schemas.openxmlformats.org/drawingml/2006/table">
            <a:tbl>
              <a:tblPr/>
              <a:tblGrid>
                <a:gridCol w="3014125">
                  <a:extLst>
                    <a:ext uri="{9D8B030D-6E8A-4147-A177-3AD203B41FA5}">
                      <a16:colId xmlns:a16="http://schemas.microsoft.com/office/drawing/2014/main" val="20000"/>
                    </a:ext>
                  </a:extLst>
                </a:gridCol>
                <a:gridCol w="3196799">
                  <a:extLst>
                    <a:ext uri="{9D8B030D-6E8A-4147-A177-3AD203B41FA5}">
                      <a16:colId xmlns:a16="http://schemas.microsoft.com/office/drawing/2014/main" val="20001"/>
                    </a:ext>
                  </a:extLst>
                </a:gridCol>
                <a:gridCol w="3288136">
                  <a:extLst>
                    <a:ext uri="{9D8B030D-6E8A-4147-A177-3AD203B41FA5}">
                      <a16:colId xmlns:a16="http://schemas.microsoft.com/office/drawing/2014/main" val="20002"/>
                    </a:ext>
                  </a:extLst>
                </a:gridCol>
              </a:tblGrid>
              <a:tr h="517922">
                <a:tc>
                  <a:txBody>
                    <a:bodyPr/>
                    <a:lstStyle/>
                    <a:p>
                      <a:pPr algn="ctr" rtl="1"/>
                      <a:r>
                        <a:rPr lang="fa-IR" altLang="fa-IR" sz="2000" b="1" dirty="0">
                          <a:solidFill>
                            <a:srgbClr val="FFFFFF"/>
                          </a:solidFill>
                          <a:latin typeface="B Zar"/>
                          <a:ea typeface="B Zar"/>
                          <a:cs typeface="B Zar"/>
                        </a:rPr>
                        <a:t>وضعیت</a:t>
                      </a:r>
                    </a:p>
                  </a:txBody>
                  <a:tcPr marL="66675" marR="66675" marT="57150" marB="57150" anchor="ctr">
                    <a:solidFill>
                      <a:schemeClr val="accent4">
                        <a:lumMod val="75000"/>
                      </a:schemeClr>
                    </a:solidFill>
                  </a:tcPr>
                </a:tc>
                <a:tc>
                  <a:txBody>
                    <a:bodyPr/>
                    <a:lstStyle/>
                    <a:p>
                      <a:pPr algn="ctr" rtl="1"/>
                      <a:r>
                        <a:rPr lang="fa-IR" altLang="fa-IR" sz="2000" b="1" dirty="0">
                          <a:solidFill>
                            <a:srgbClr val="FFFFFF"/>
                          </a:solidFill>
                          <a:latin typeface="B Zar"/>
                          <a:ea typeface="B Zar"/>
                          <a:cs typeface="B Zar"/>
                        </a:rPr>
                        <a:t>رده پروژه</a:t>
                      </a:r>
                    </a:p>
                  </a:txBody>
                  <a:tcPr marL="66675" marR="66675" marT="57150" marB="57150" anchor="ctr">
                    <a:solidFill>
                      <a:schemeClr val="accent4">
                        <a:lumMod val="75000"/>
                      </a:schemeClr>
                    </a:solidFill>
                  </a:tcPr>
                </a:tc>
                <a:tc>
                  <a:txBody>
                    <a:bodyPr/>
                    <a:lstStyle/>
                    <a:p>
                      <a:pPr algn="ctr" rtl="1"/>
                      <a:r>
                        <a:rPr lang="fa-IR" altLang="fa-IR" sz="2000" b="1" dirty="0" smtClean="0">
                          <a:solidFill>
                            <a:srgbClr val="FFFFFF"/>
                          </a:solidFill>
                          <a:latin typeface="B Zar"/>
                          <a:ea typeface="B Zar"/>
                          <a:cs typeface="B Zar"/>
                        </a:rPr>
                        <a:t>رده </a:t>
                      </a:r>
                      <a:r>
                        <a:rPr lang="fa-IR" altLang="fa-IR" sz="2000" b="1" dirty="0">
                          <a:solidFill>
                            <a:srgbClr val="FFFFFF"/>
                          </a:solidFill>
                          <a:latin typeface="B Zar"/>
                          <a:ea typeface="B Zar"/>
                          <a:cs typeface="B Zar"/>
                        </a:rPr>
                        <a:t>مصوب</a:t>
                      </a:r>
                    </a:p>
                  </a:txBody>
                  <a:tcPr marL="66675" marR="66675" marT="57150" marB="57150" anchor="ctr">
                    <a:solidFill>
                      <a:schemeClr val="accent4">
                        <a:lumMod val="75000"/>
                      </a:schemeClr>
                    </a:solidFill>
                  </a:tcPr>
                </a:tc>
                <a:extLst>
                  <a:ext uri="{0D108BD9-81ED-4DB2-BD59-A6C34878D82A}">
                    <a16:rowId xmlns:a16="http://schemas.microsoft.com/office/drawing/2014/main" val="10000"/>
                  </a:ext>
                </a:extLst>
              </a:tr>
              <a:tr h="517922">
                <a:tc>
                  <a:txBody>
                    <a:bodyPr/>
                    <a:lstStyle/>
                    <a:p>
                      <a:pPr algn="ctr" rtl="1"/>
                      <a:r>
                        <a:rPr lang="fa-IR" altLang="fa-IR" sz="2000">
                          <a:solidFill>
                            <a:srgbClr val="17232C"/>
                          </a:solidFill>
                          <a:latin typeface="B Zar"/>
                          <a:ea typeface="B Zar"/>
                          <a:cs typeface="B Zar"/>
                        </a:rPr>
                        <a:t>گسترده‌تر</a:t>
                      </a:r>
                    </a:p>
                  </a:txBody>
                  <a:tcPr marL="66675" marR="66675" marT="57150" marB="57150" anchor="ctr">
                    <a:solidFill>
                      <a:srgbClr val="FFFFFF"/>
                    </a:solidFill>
                  </a:tcPr>
                </a:tc>
                <a:tc>
                  <a:txBody>
                    <a:bodyPr/>
                    <a:lstStyle/>
                    <a:p>
                      <a:pPr algn="ctr" rtl="1"/>
                      <a:r>
                        <a:rPr lang="fa-IR" altLang="fa-IR" sz="2000">
                          <a:solidFill>
                            <a:srgbClr val="17232C"/>
                          </a:solidFill>
                          <a:latin typeface="B Zar"/>
                          <a:ea typeface="B Zar"/>
                          <a:cs typeface="B Zar"/>
                        </a:rPr>
                        <a:t>شخص</a:t>
                      </a:r>
                    </a:p>
                  </a:txBody>
                  <a:tcPr marL="66675" marR="66675" marT="57150" marB="57150" anchor="ctr">
                    <a:solidFill>
                      <a:srgbClr val="FFFFFF"/>
                    </a:solidFill>
                  </a:tcPr>
                </a:tc>
                <a:tc>
                  <a:txBody>
                    <a:bodyPr/>
                    <a:lstStyle/>
                    <a:p>
                      <a:pPr algn="ctr" rtl="1"/>
                      <a:r>
                        <a:rPr lang="fa-IR" altLang="fa-IR" sz="2000" b="1">
                          <a:solidFill>
                            <a:srgbClr val="173E5A"/>
                          </a:solidFill>
                          <a:latin typeface="B Zar"/>
                          <a:ea typeface="B Zar"/>
                          <a:cs typeface="B Zar"/>
                        </a:rPr>
                        <a:t>عابر</a:t>
                      </a:r>
                    </a:p>
                  </a:txBody>
                  <a:tcPr marL="66675" marR="66675" marT="57150" marB="57150" anchor="ctr">
                    <a:solidFill>
                      <a:srgbClr val="D4F2FC"/>
                    </a:solidFill>
                  </a:tcPr>
                </a:tc>
                <a:extLst>
                  <a:ext uri="{0D108BD9-81ED-4DB2-BD59-A6C34878D82A}">
                    <a16:rowId xmlns:a16="http://schemas.microsoft.com/office/drawing/2014/main" val="10001"/>
                  </a:ext>
                </a:extLst>
              </a:tr>
              <a:tr h="517922">
                <a:tc>
                  <a:txBody>
                    <a:bodyPr/>
                    <a:lstStyle/>
                    <a:p>
                      <a:pPr algn="ctr" rtl="1"/>
                      <a:r>
                        <a:rPr lang="fa-IR" altLang="fa-IR" sz="2000">
                          <a:solidFill>
                            <a:srgbClr val="17232C"/>
                          </a:solidFill>
                          <a:latin typeface="B Zar"/>
                          <a:ea typeface="B Zar"/>
                          <a:cs typeface="B Zar"/>
                        </a:rPr>
                        <a:t>یکسان</a:t>
                      </a:r>
                    </a:p>
                  </a:txBody>
                  <a:tcPr marL="66675" marR="66675" marT="57150" marB="57150" anchor="ctr">
                    <a:solidFill>
                      <a:srgbClr val="F1F3F5"/>
                    </a:solidFill>
                  </a:tcPr>
                </a:tc>
                <a:tc>
                  <a:txBody>
                    <a:bodyPr/>
                    <a:lstStyle/>
                    <a:p>
                      <a:pPr algn="ctr" rtl="1"/>
                      <a:r>
                        <a:rPr lang="fa-IR" altLang="fa-IR" sz="2000">
                          <a:solidFill>
                            <a:srgbClr val="17232C"/>
                          </a:solidFill>
                          <a:latin typeface="B Zar"/>
                          <a:ea typeface="B Zar"/>
                          <a:cs typeface="B Zar"/>
                        </a:rPr>
                        <a:t>اتوبوس</a:t>
                      </a:r>
                    </a:p>
                  </a:txBody>
                  <a:tcPr marL="66675" marR="66675" marT="57150" marB="57150" anchor="ctr">
                    <a:solidFill>
                      <a:srgbClr val="F1F3F5"/>
                    </a:solidFill>
                  </a:tcPr>
                </a:tc>
                <a:tc>
                  <a:txBody>
                    <a:bodyPr/>
                    <a:lstStyle/>
                    <a:p>
                      <a:pPr algn="ctr" rtl="1"/>
                      <a:r>
                        <a:rPr lang="fa-IR" altLang="fa-IR" sz="2000" b="1">
                          <a:solidFill>
                            <a:srgbClr val="173E5A"/>
                          </a:solidFill>
                          <a:latin typeface="B Zar"/>
                          <a:ea typeface="B Zar"/>
                          <a:cs typeface="B Zar"/>
                        </a:rPr>
                        <a:t>اتوبوس</a:t>
                      </a:r>
                    </a:p>
                  </a:txBody>
                  <a:tcPr marL="66675" marR="66675" marT="57150" marB="57150" anchor="ctr">
                    <a:solidFill>
                      <a:srgbClr val="D4F2FC"/>
                    </a:solidFill>
                  </a:tcPr>
                </a:tc>
                <a:extLst>
                  <a:ext uri="{0D108BD9-81ED-4DB2-BD59-A6C34878D82A}">
                    <a16:rowId xmlns:a16="http://schemas.microsoft.com/office/drawing/2014/main" val="10002"/>
                  </a:ext>
                </a:extLst>
              </a:tr>
              <a:tr h="517922">
                <a:tc>
                  <a:txBody>
                    <a:bodyPr/>
                    <a:lstStyle/>
                    <a:p>
                      <a:pPr algn="ctr" rtl="1"/>
                      <a:r>
                        <a:rPr lang="fa-IR" altLang="fa-IR" sz="2000" dirty="0">
                          <a:solidFill>
                            <a:srgbClr val="17232C"/>
                          </a:solidFill>
                          <a:latin typeface="B Zar"/>
                          <a:ea typeface="B Zar"/>
                          <a:cs typeface="B Zar"/>
                        </a:rPr>
                        <a:t>یکسان</a:t>
                      </a:r>
                    </a:p>
                  </a:txBody>
                  <a:tcPr marL="66675" marR="66675" marT="57150" marB="57150" anchor="ctr">
                    <a:solidFill>
                      <a:srgbClr val="FFFFFF"/>
                    </a:solidFill>
                  </a:tcPr>
                </a:tc>
                <a:tc>
                  <a:txBody>
                    <a:bodyPr/>
                    <a:lstStyle/>
                    <a:p>
                      <a:pPr algn="ctr" rtl="1"/>
                      <a:r>
                        <a:rPr lang="fa-IR" altLang="fa-IR" sz="2000" dirty="0">
                          <a:solidFill>
                            <a:srgbClr val="17232C"/>
                          </a:solidFill>
                          <a:latin typeface="B Zar"/>
                          <a:ea typeface="B Zar"/>
                          <a:cs typeface="B Zar"/>
                        </a:rPr>
                        <a:t>خودروی سبک</a:t>
                      </a:r>
                    </a:p>
                  </a:txBody>
                  <a:tcPr marL="66675" marR="66675" marT="57150" marB="57150" anchor="ctr">
                    <a:solidFill>
                      <a:srgbClr val="FFFFFF"/>
                    </a:solidFill>
                  </a:tcPr>
                </a:tc>
                <a:tc>
                  <a:txBody>
                    <a:bodyPr/>
                    <a:lstStyle/>
                    <a:p>
                      <a:pPr algn="ctr" rtl="1"/>
                      <a:r>
                        <a:rPr lang="fa-IR" altLang="fa-IR" sz="2000" b="1">
                          <a:solidFill>
                            <a:srgbClr val="173E5A"/>
                          </a:solidFill>
                          <a:latin typeface="B Zar"/>
                          <a:ea typeface="B Zar"/>
                          <a:cs typeface="B Zar"/>
                        </a:rPr>
                        <a:t>خودروی سبک</a:t>
                      </a:r>
                    </a:p>
                  </a:txBody>
                  <a:tcPr marL="66675" marR="66675" marT="57150" marB="57150" anchor="ctr">
                    <a:solidFill>
                      <a:srgbClr val="D4F2FC"/>
                    </a:solidFill>
                  </a:tcPr>
                </a:tc>
                <a:extLst>
                  <a:ext uri="{0D108BD9-81ED-4DB2-BD59-A6C34878D82A}">
                    <a16:rowId xmlns:a16="http://schemas.microsoft.com/office/drawing/2014/main" val="10003"/>
                  </a:ext>
                </a:extLst>
              </a:tr>
              <a:tr h="517922">
                <a:tc>
                  <a:txBody>
                    <a:bodyPr/>
                    <a:lstStyle/>
                    <a:p>
                      <a:pPr algn="ctr" rtl="1"/>
                      <a:r>
                        <a:rPr lang="fa-IR" altLang="fa-IR" sz="2000">
                          <a:solidFill>
                            <a:srgbClr val="17232C"/>
                          </a:solidFill>
                          <a:latin typeface="B Zar"/>
                          <a:ea typeface="B Zar"/>
                          <a:cs typeface="B Zar"/>
                        </a:rPr>
                        <a:t>یکسان</a:t>
                      </a:r>
                    </a:p>
                  </a:txBody>
                  <a:tcPr marL="66675" marR="66675" marT="57150" marB="57150" anchor="ctr">
                    <a:solidFill>
                      <a:srgbClr val="F1F3F5"/>
                    </a:solidFill>
                  </a:tcPr>
                </a:tc>
                <a:tc>
                  <a:txBody>
                    <a:bodyPr/>
                    <a:lstStyle/>
                    <a:p>
                      <a:pPr algn="ctr" rtl="1"/>
                      <a:r>
                        <a:rPr lang="fa-IR" altLang="fa-IR" sz="2000">
                          <a:solidFill>
                            <a:srgbClr val="17232C"/>
                          </a:solidFill>
                          <a:latin typeface="B Zar"/>
                          <a:ea typeface="B Zar"/>
                          <a:cs typeface="B Zar"/>
                        </a:rPr>
                        <a:t>موتورسیکلت</a:t>
                      </a:r>
                    </a:p>
                  </a:txBody>
                  <a:tcPr marL="66675" marR="66675" marT="57150" marB="57150" anchor="ctr">
                    <a:solidFill>
                      <a:srgbClr val="F1F3F5"/>
                    </a:solidFill>
                  </a:tcPr>
                </a:tc>
                <a:tc>
                  <a:txBody>
                    <a:bodyPr/>
                    <a:lstStyle/>
                    <a:p>
                      <a:pPr algn="ctr" rtl="1"/>
                      <a:r>
                        <a:rPr lang="fa-IR" altLang="fa-IR" sz="2000" b="1" dirty="0">
                          <a:solidFill>
                            <a:srgbClr val="173E5A"/>
                          </a:solidFill>
                          <a:latin typeface="B Zar"/>
                          <a:ea typeface="B Zar"/>
                          <a:cs typeface="B Zar"/>
                        </a:rPr>
                        <a:t>موتور</a:t>
                      </a:r>
                    </a:p>
                  </a:txBody>
                  <a:tcPr marL="66675" marR="66675" marT="57150" marB="57150" anchor="ctr">
                    <a:solidFill>
                      <a:srgbClr val="D4F2FC"/>
                    </a:solidFill>
                  </a:tcPr>
                </a:tc>
                <a:extLst>
                  <a:ext uri="{0D108BD9-81ED-4DB2-BD59-A6C34878D82A}">
                    <a16:rowId xmlns:a16="http://schemas.microsoft.com/office/drawing/2014/main" val="10004"/>
                  </a:ext>
                </a:extLst>
              </a:tr>
              <a:tr h="517922">
                <a:tc>
                  <a:txBody>
                    <a:bodyPr/>
                    <a:lstStyle/>
                    <a:p>
                      <a:pPr algn="ctr" rtl="1"/>
                      <a:r>
                        <a:rPr lang="fa-IR" altLang="fa-IR" sz="2000">
                          <a:solidFill>
                            <a:srgbClr val="17232C"/>
                          </a:solidFill>
                          <a:latin typeface="B Zar"/>
                          <a:ea typeface="B Zar"/>
                          <a:cs typeface="B Zar"/>
                        </a:rPr>
                        <a:t>ادغام در خودروی باری</a:t>
                      </a:r>
                    </a:p>
                  </a:txBody>
                  <a:tcPr marL="66675" marR="66675" marT="57150" marB="57150" anchor="ctr">
                    <a:solidFill>
                      <a:srgbClr val="FFFFFF"/>
                    </a:solidFill>
                  </a:tcPr>
                </a:tc>
                <a:tc>
                  <a:txBody>
                    <a:bodyPr/>
                    <a:lstStyle/>
                    <a:p>
                      <a:pPr algn="ctr" rtl="1"/>
                      <a:r>
                        <a:rPr lang="fa-IR" altLang="fa-IR" sz="2000" dirty="0">
                          <a:solidFill>
                            <a:srgbClr val="17232C"/>
                          </a:solidFill>
                          <a:latin typeface="B Zar"/>
                          <a:ea typeface="B Zar"/>
                          <a:cs typeface="B Zar"/>
                        </a:rPr>
                        <a:t>خودروی باری</a:t>
                      </a:r>
                    </a:p>
                  </a:txBody>
                  <a:tcPr marL="66675" marR="66675" marT="57150" marB="57150" anchor="ctr">
                    <a:solidFill>
                      <a:srgbClr val="FFFFFF"/>
                    </a:solidFill>
                  </a:tcPr>
                </a:tc>
                <a:tc>
                  <a:txBody>
                    <a:bodyPr/>
                    <a:lstStyle/>
                    <a:p>
                      <a:pPr algn="ctr" rtl="1"/>
                      <a:r>
                        <a:rPr lang="fa-IR" altLang="fa-IR" sz="2000" b="1" dirty="0">
                          <a:solidFill>
                            <a:srgbClr val="173E5A"/>
                          </a:solidFill>
                          <a:latin typeface="B Zar"/>
                          <a:ea typeface="B Zar"/>
                          <a:cs typeface="B Zar"/>
                        </a:rPr>
                        <a:t>تریلر</a:t>
                      </a:r>
                    </a:p>
                  </a:txBody>
                  <a:tcPr marL="66675" marR="66675" marT="57150" marB="57150" anchor="ctr">
                    <a:solidFill>
                      <a:srgbClr val="D4F2FC"/>
                    </a:solidFill>
                  </a:tcPr>
                </a:tc>
                <a:extLst>
                  <a:ext uri="{0D108BD9-81ED-4DB2-BD59-A6C34878D82A}">
                    <a16:rowId xmlns:a16="http://schemas.microsoft.com/office/drawing/2014/main" val="10005"/>
                  </a:ext>
                </a:extLst>
              </a:tr>
              <a:tr h="517922">
                <a:tc>
                  <a:txBody>
                    <a:bodyPr/>
                    <a:lstStyle/>
                    <a:p>
                      <a:pPr algn="ctr" rtl="1"/>
                      <a:r>
                        <a:rPr lang="fa-IR" altLang="fa-IR" sz="2000">
                          <a:solidFill>
                            <a:srgbClr val="17232C"/>
                          </a:solidFill>
                          <a:latin typeface="B Zar"/>
                          <a:ea typeface="B Zar"/>
                          <a:cs typeface="B Zar"/>
                        </a:rPr>
                        <a:t>ادغام در خودروی باری</a:t>
                      </a:r>
                    </a:p>
                  </a:txBody>
                  <a:tcPr marL="66675" marR="66675" marT="57150" marB="57150" anchor="ctr">
                    <a:solidFill>
                      <a:srgbClr val="F1F3F5"/>
                    </a:solidFill>
                  </a:tcPr>
                </a:tc>
                <a:tc>
                  <a:txBody>
                    <a:bodyPr/>
                    <a:lstStyle/>
                    <a:p>
                      <a:pPr algn="ctr" rtl="1"/>
                      <a:r>
                        <a:rPr lang="fa-IR" altLang="fa-IR" sz="2000" dirty="0">
                          <a:solidFill>
                            <a:srgbClr val="17232C"/>
                          </a:solidFill>
                          <a:latin typeface="B Zar"/>
                          <a:ea typeface="B Zar"/>
                          <a:cs typeface="B Zar"/>
                        </a:rPr>
                        <a:t>خودروی باری</a:t>
                      </a:r>
                    </a:p>
                  </a:txBody>
                  <a:tcPr marL="66675" marR="66675" marT="57150" marB="57150" anchor="ctr">
                    <a:solidFill>
                      <a:srgbClr val="F1F3F5"/>
                    </a:solidFill>
                  </a:tcPr>
                </a:tc>
                <a:tc>
                  <a:txBody>
                    <a:bodyPr/>
                    <a:lstStyle/>
                    <a:p>
                      <a:pPr algn="ctr" rtl="1"/>
                      <a:r>
                        <a:rPr lang="fa-IR" altLang="fa-IR" sz="2000" b="1" dirty="0">
                          <a:solidFill>
                            <a:srgbClr val="173E5A"/>
                          </a:solidFill>
                          <a:latin typeface="B Zar"/>
                          <a:ea typeface="B Zar"/>
                          <a:cs typeface="B Zar"/>
                        </a:rPr>
                        <a:t>وانت</a:t>
                      </a:r>
                    </a:p>
                  </a:txBody>
                  <a:tcPr marL="66675" marR="66675" marT="57150" marB="57150" anchor="ctr">
                    <a:solidFill>
                      <a:srgbClr val="D4F2FC"/>
                    </a:solidFill>
                  </a:tcPr>
                </a:tc>
                <a:extLst>
                  <a:ext uri="{0D108BD9-81ED-4DB2-BD59-A6C34878D82A}">
                    <a16:rowId xmlns:a16="http://schemas.microsoft.com/office/drawing/2014/main" val="10006"/>
                  </a:ext>
                </a:extLst>
              </a:tr>
              <a:tr h="517922">
                <a:tc>
                  <a:txBody>
                    <a:bodyPr/>
                    <a:lstStyle/>
                    <a:p>
                      <a:pPr algn="ctr" rtl="1"/>
                      <a:r>
                        <a:rPr lang="fa-IR" altLang="fa-IR" sz="2000" dirty="0">
                          <a:solidFill>
                            <a:srgbClr val="17232C"/>
                          </a:solidFill>
                          <a:latin typeface="B Zar"/>
                          <a:ea typeface="B Zar"/>
                          <a:cs typeface="B Zar"/>
                        </a:rPr>
                        <a:t>افزوده شد</a:t>
                      </a:r>
                    </a:p>
                  </a:txBody>
                  <a:tcPr marL="66675" marR="66675" marT="57150" marB="57150" anchor="ctr">
                    <a:solidFill>
                      <a:srgbClr val="FFFFFF"/>
                    </a:solidFill>
                  </a:tcPr>
                </a:tc>
                <a:tc>
                  <a:txBody>
                    <a:bodyPr/>
                    <a:lstStyle/>
                    <a:p>
                      <a:pPr algn="ctr" rtl="1"/>
                      <a:r>
                        <a:rPr lang="fa-IR" altLang="fa-IR" sz="2000" dirty="0">
                          <a:solidFill>
                            <a:srgbClr val="17232C"/>
                          </a:solidFill>
                          <a:latin typeface="B Zar"/>
                          <a:ea typeface="B Zar"/>
                          <a:cs typeface="B Zar"/>
                        </a:rPr>
                        <a:t>چراغ راهنمایی</a:t>
                      </a:r>
                    </a:p>
                  </a:txBody>
                  <a:tcPr marL="66675" marR="66675" marT="57150" marB="57150" anchor="ctr">
                    <a:solidFill>
                      <a:srgbClr val="FFFFFF"/>
                    </a:solidFill>
                  </a:tcPr>
                </a:tc>
                <a:tc>
                  <a:txBody>
                    <a:bodyPr/>
                    <a:lstStyle/>
                    <a:p>
                      <a:pPr algn="ctr"/>
                      <a:r>
                        <a:rPr lang="fa-IR" altLang="fa-IR" sz="2000" b="1" dirty="0">
                          <a:solidFill>
                            <a:srgbClr val="173E5A"/>
                          </a:solidFill>
                          <a:latin typeface="B Zar"/>
                          <a:ea typeface="B Zar"/>
                          <a:cs typeface="B Zar"/>
                        </a:rPr>
                        <a:t>—</a:t>
                      </a:r>
                    </a:p>
                  </a:txBody>
                  <a:tcPr marL="66675" marR="66675" marT="57150" marB="57150" anchor="ctr">
                    <a:solidFill>
                      <a:srgbClr val="D4F2FC"/>
                    </a:solidFill>
                  </a:tcPr>
                </a:tc>
                <a:extLst>
                  <a:ext uri="{0D108BD9-81ED-4DB2-BD59-A6C34878D82A}">
                    <a16:rowId xmlns:a16="http://schemas.microsoft.com/office/drawing/2014/main" val="10007"/>
                  </a:ext>
                </a:extLst>
              </a:tr>
            </a:tbl>
          </a:graphicData>
        </a:graphic>
      </p:graphicFrame>
      <p:pic>
        <p:nvPicPr>
          <p:cNvPr id="25" name="Picture 24"/>
          <p:cNvPicPr>
            <a:picLocks noChangeAspect="1"/>
          </p:cNvPicPr>
          <p:nvPr/>
        </p:nvPicPr>
        <p:blipFill>
          <a:blip r:embed="rId3"/>
          <a:stretch/>
        </p:blipFill>
        <p:spPr>
          <a:xfrm>
            <a:off x="428984" y="187916"/>
            <a:ext cx="535979" cy="628650"/>
          </a:xfrm>
          <a:prstGeom prst="rect">
            <a:avLst/>
          </a:prstGeom>
        </p:spPr>
      </p:pic>
      <p:sp>
        <p:nvSpPr>
          <p:cNvPr id="26" name="Rectangle 25">
            <a:extLst>
              <a:ext uri="{FF2B5EF4-FFF2-40B4-BE49-F238E27FC236}">
                <a16:creationId xmlns:a16="http://schemas.microsoft.com/office/drawing/2014/main" id="{C4452ECC-0329-42FD-A992-5D81CCFFD581}"/>
              </a:ext>
            </a:extLst>
          </p:cNvPr>
          <p:cNvSpPr>
            <a:spLocks noGrp="1"/>
          </p:cNvSpPr>
          <p:nvPr/>
        </p:nvSpPr>
        <p:spPr>
          <a:xfrm>
            <a:off x="1754630" y="279232"/>
            <a:ext cx="10096500" cy="485775"/>
          </a:xfrm>
          <a:prstGeom prst="rect">
            <a:avLst/>
          </a:prstGeom>
          <a:noFill/>
          <a:ln w="0">
            <a:noFill/>
          </a:ln>
        </p:spPr>
        <p:txBody>
          <a:bodyPr lIns="57150" tIns="38100" rIns="57150" bIns="38100" anchor="ctr">
            <a:noAutofit/>
          </a:bodyPr>
          <a:lstStyle/>
          <a:p>
            <a:pPr algn="r" rtl="1">
              <a:defRPr sz="3100" b="1">
                <a:solidFill>
                  <a:srgbClr val="173E5A"/>
                </a:solidFill>
                <a:latin typeface="B Zar"/>
                <a:ea typeface="B Zar"/>
                <a:cs typeface="B Zar"/>
              </a:defRPr>
            </a:pPr>
            <a:r>
              <a:rPr lang="fa-IR" altLang="fa-IR" sz="3100" b="1" dirty="0" smtClean="0">
                <a:solidFill>
                  <a:srgbClr val="173E5A"/>
                </a:solidFill>
                <a:latin typeface="B Zar"/>
                <a:ea typeface="B Zar"/>
                <a:cs typeface="B Zar"/>
              </a:rPr>
              <a:t>مقایسه رده‌های مصوب و نهایی</a:t>
            </a:r>
            <a:endParaRPr lang="fa-IR" altLang="fa-IR" sz="3100" b="1" dirty="0">
              <a:solidFill>
                <a:srgbClr val="173E5A"/>
              </a:solidFill>
              <a:latin typeface="B Zar"/>
              <a:ea typeface="B Zar"/>
              <a:cs typeface="B Zar"/>
            </a:endParaRPr>
          </a:p>
        </p:txBody>
      </p:sp>
    </p:spTree>
    <p:extLst>
      <p:ext uri="{BB962C8B-B14F-4D97-AF65-F5344CB8AC3E}">
        <p14:creationId xmlns:p14="http://schemas.microsoft.com/office/powerpoint/2010/main" val="1436451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B59D151-27E6-4178-A5B2-8754E020B817}"/>
              </a:ext>
            </a:extLst>
          </p:cNvPr>
          <p:cNvSpPr>
            <a:spLocks noGrp="1"/>
          </p:cNvSpPr>
          <p:nvPr/>
        </p:nvSpPr>
        <p:spPr>
          <a:xfrm>
            <a:off x="359704" y="6354737"/>
            <a:ext cx="1087269" cy="428017"/>
          </a:xfrm>
          <a:prstGeom prst="rect">
            <a:avLst/>
          </a:prstGeom>
          <a:noFill/>
          <a:ln w="0">
            <a:noFill/>
          </a:ln>
        </p:spPr>
        <p:txBody>
          <a:bodyPr lIns="57150" tIns="38100" rIns="57150" bIns="38100" anchor="ctr">
            <a:noAutofit/>
          </a:bodyPr>
          <a:lstStyle/>
          <a:p>
            <a:pPr algn="r" rtl="1">
              <a:defRPr sz="1600" b="0">
                <a:solidFill>
                  <a:srgbClr val="52626E"/>
                </a:solidFill>
                <a:latin typeface="B Zar"/>
                <a:ea typeface="B Zar"/>
                <a:cs typeface="B Zar"/>
              </a:defRPr>
            </a:pPr>
            <a:r>
              <a:rPr lang="fa-IR" altLang="fa-IR" sz="1600" b="0" smtClean="0">
                <a:solidFill>
                  <a:srgbClr val="52626E"/>
                </a:solidFill>
                <a:latin typeface="B Zar"/>
                <a:ea typeface="B Zar"/>
                <a:cs typeface="B Zar"/>
              </a:rPr>
              <a:t>صفحه ۶ از ۳۱</a:t>
            </a:r>
            <a:endParaRPr lang="fa-IR" altLang="fa-IR" sz="1600" b="0" dirty="0">
              <a:solidFill>
                <a:srgbClr val="52626E"/>
              </a:solidFill>
              <a:latin typeface="B Zar"/>
              <a:ea typeface="B Zar"/>
              <a:cs typeface="B Zar"/>
            </a:endParaRPr>
          </a:p>
        </p:txBody>
      </p:sp>
      <p:sp>
        <p:nvSpPr>
          <p:cNvPr id="26" name="Rectangle 25">
            <a:extLst>
              <a:ext uri="{FF2B5EF4-FFF2-40B4-BE49-F238E27FC236}">
                <a16:creationId xmlns:a16="http://schemas.microsoft.com/office/drawing/2014/main" id="{C4452ECC-0329-42FD-A992-5D81CCFFD581}"/>
              </a:ext>
            </a:extLst>
          </p:cNvPr>
          <p:cNvSpPr>
            <a:spLocks noGrp="1"/>
          </p:cNvSpPr>
          <p:nvPr/>
        </p:nvSpPr>
        <p:spPr>
          <a:xfrm>
            <a:off x="1754630" y="279232"/>
            <a:ext cx="10096500" cy="485775"/>
          </a:xfrm>
          <a:prstGeom prst="rect">
            <a:avLst/>
          </a:prstGeom>
          <a:noFill/>
          <a:ln w="0">
            <a:noFill/>
          </a:ln>
        </p:spPr>
        <p:txBody>
          <a:bodyPr lIns="57150" tIns="38100" rIns="57150" bIns="38100" anchor="ctr">
            <a:noAutofit/>
          </a:bodyPr>
          <a:lstStyle/>
          <a:p>
            <a:pPr algn="r" rtl="1">
              <a:defRPr sz="3100" b="1">
                <a:solidFill>
                  <a:srgbClr val="173E5A"/>
                </a:solidFill>
                <a:latin typeface="B Zar"/>
                <a:ea typeface="B Zar"/>
                <a:cs typeface="B Zar"/>
              </a:defRPr>
            </a:pPr>
            <a:r>
              <a:rPr lang="fa-IR" altLang="fa-IR" sz="3100" b="1" smtClean="0">
                <a:solidFill>
                  <a:srgbClr val="173E5A"/>
                </a:solidFill>
                <a:latin typeface="B Zar"/>
                <a:ea typeface="B Zar"/>
                <a:cs typeface="B Zar" panose="00000400000000000000" pitchFamily="50" charset="-78"/>
              </a:rPr>
              <a:t>‏نسبت هم‌پوشانی کادرها</a:t>
            </a:r>
            <a:endParaRPr lang="fa-IR" altLang="fa-IR" sz="3100" b="1" dirty="0">
              <a:solidFill>
                <a:srgbClr val="173E5A"/>
              </a:solidFill>
              <a:latin typeface="B Zar"/>
              <a:ea typeface="B Zar"/>
              <a:cs typeface="B Zar" panose="00000400000000000000" pitchFamily="50" charset="-78"/>
            </a:endParaRPr>
          </a:p>
        </p:txBody>
      </p:sp>
      <p:pic>
        <p:nvPicPr>
          <p:cNvPr id="2" name="Picture 1"/>
          <p:cNvPicPr>
            <a:picLocks/>
          </p:cNvPicPr>
          <p:nvPr/>
        </p:nvPicPr>
        <p:blipFill>
          <a:blip r:embed="rId3">
            <a:extLst>
              <a:ext uri="{28A0092B-C50C-407E-A947-70E740481C1C}">
                <a14:useLocalDpi xmlns:a14="http://schemas.microsoft.com/office/drawing/2010/main" val="0"/>
              </a:ext>
            </a:extLst>
          </a:blip>
          <a:stretch>
            <a:fillRect/>
          </a:stretch>
        </p:blipFill>
        <p:spPr>
          <a:xfrm>
            <a:off x="903339" y="999350"/>
            <a:ext cx="10385323" cy="3208861"/>
          </a:xfrm>
          <a:prstGeom prst="rect">
            <a:avLst/>
          </a:prstGeom>
          <a:ln w="12700">
            <a:solidFill>
              <a:schemeClr val="accent4">
                <a:lumMod val="75000"/>
              </a:schemeClr>
            </a:solidFill>
          </a:ln>
        </p:spPr>
      </p:pic>
      <p:sp>
        <p:nvSpPr>
          <p:cNvPr id="3" name="TextBox 2"/>
          <p:cNvSpPr txBox="1"/>
          <p:nvPr/>
        </p:nvSpPr>
        <p:spPr>
          <a:xfrm>
            <a:off x="4925965" y="4475489"/>
            <a:ext cx="6068962" cy="1543972"/>
          </a:xfrm>
          <a:prstGeom prst="rect">
            <a:avLst/>
          </a:prstGeom>
          <a:noFill/>
        </p:spPr>
        <p:txBody>
          <a:bodyPr vert="horz" wrap="square" lIns="0" tIns="0" rIns="0" bIns="0" rtlCol="0">
            <a:noAutofit/>
          </a:bodyPr>
          <a:lstStyle/>
          <a:p>
            <a:pPr marL="342900" indent="-342900" algn="just" rtl="1">
              <a:lnSpc>
                <a:spcPct val="150000"/>
              </a:lnSpc>
              <a:buFont typeface="Arial" panose="020B0604020202020204" pitchFamily="34" charset="0"/>
              <a:buChar char="•"/>
            </a:pPr>
            <a:r>
              <a:rPr lang="en-US" sz="1900" b="1" dirty="0" err="1" smtClean="0">
                <a:solidFill>
                  <a:schemeClr val="accent4">
                    <a:lumMod val="50000"/>
                  </a:schemeClr>
                </a:solidFill>
                <a:latin typeface="Times New Roman" panose="02020603050405020304" pitchFamily="18" charset="0"/>
                <a:cs typeface="B Zar" panose="00000400000000000000" pitchFamily="50" charset="-78"/>
              </a:rPr>
              <a:t>IoU</a:t>
            </a:r>
            <a:r>
              <a:rPr lang="fa-IR" sz="2000" b="1" dirty="0" smtClean="0">
                <a:solidFill>
                  <a:schemeClr val="accent4">
                    <a:lumMod val="50000"/>
                  </a:schemeClr>
                </a:solidFill>
                <a:latin typeface="Times New Roman" panose="02020603050405020304" pitchFamily="18" charset="0"/>
                <a:cs typeface="B Zar" panose="00000400000000000000" pitchFamily="50" charset="-78"/>
              </a:rPr>
              <a:t>: </a:t>
            </a:r>
            <a:r>
              <a:rPr lang="fa-IR" sz="2000" dirty="0" smtClean="0">
                <a:solidFill>
                  <a:schemeClr val="accent4">
                    <a:lumMod val="50000"/>
                  </a:schemeClr>
                </a:solidFill>
                <a:latin typeface="Times New Roman" panose="02020603050405020304" pitchFamily="18" charset="0"/>
                <a:cs typeface="B Zar" panose="00000400000000000000" pitchFamily="50" charset="-78"/>
              </a:rPr>
              <a:t>میزان انطباق کادر پیش‌بینی شده با کادر واقعی</a:t>
            </a:r>
          </a:p>
          <a:p>
            <a:pPr marL="342900" indent="-342900" algn="just" rtl="1">
              <a:lnSpc>
                <a:spcPct val="150000"/>
              </a:lnSpc>
              <a:buFont typeface="Arial" panose="020B0604020202020204" pitchFamily="34" charset="0"/>
              <a:buChar char="•"/>
            </a:pPr>
            <a:r>
              <a:rPr lang="fa-IR" sz="2000" dirty="0" smtClean="0">
                <a:solidFill>
                  <a:schemeClr val="accent4">
                    <a:lumMod val="50000"/>
                  </a:schemeClr>
                </a:solidFill>
                <a:latin typeface="Times New Roman" panose="02020603050405020304" pitchFamily="18" charset="0"/>
                <a:cs typeface="B Zar" panose="00000400000000000000" pitchFamily="50" charset="-78"/>
              </a:rPr>
              <a:t>مقدار </a:t>
            </a:r>
            <a:r>
              <a:rPr lang="en-US" sz="1900" dirty="0" err="1" smtClean="0">
                <a:solidFill>
                  <a:schemeClr val="accent4">
                    <a:lumMod val="50000"/>
                  </a:schemeClr>
                </a:solidFill>
                <a:latin typeface="Times New Roman" panose="02020603050405020304" pitchFamily="18" charset="0"/>
                <a:cs typeface="B Zar" panose="00000400000000000000" pitchFamily="50" charset="-78"/>
              </a:rPr>
              <a:t>IoU</a:t>
            </a:r>
            <a:r>
              <a:rPr lang="fa-IR" sz="2000" dirty="0" smtClean="0">
                <a:solidFill>
                  <a:schemeClr val="accent4">
                    <a:lumMod val="50000"/>
                  </a:schemeClr>
                </a:solidFill>
                <a:latin typeface="Times New Roman" panose="02020603050405020304" pitchFamily="18" charset="0"/>
                <a:cs typeface="B Zar" panose="00000400000000000000" pitchFamily="50" charset="-78"/>
              </a:rPr>
              <a:t> همواره بین صفر و یک قرار می‌گیرد</a:t>
            </a:r>
          </a:p>
          <a:p>
            <a:pPr marL="342900" indent="-342900" algn="just" rtl="1">
              <a:lnSpc>
                <a:spcPct val="150000"/>
              </a:lnSpc>
              <a:buFont typeface="Arial" panose="020B0604020202020204" pitchFamily="34" charset="0"/>
              <a:buChar char="•"/>
            </a:pPr>
            <a:r>
              <a:rPr lang="fa-IR" sz="2000" dirty="0" smtClean="0">
                <a:solidFill>
                  <a:schemeClr val="accent4">
                    <a:lumMod val="50000"/>
                  </a:schemeClr>
                </a:solidFill>
                <a:latin typeface="Times New Roman" panose="02020603050405020304" pitchFamily="18" charset="0"/>
                <a:cs typeface="B Zar" panose="00000400000000000000" pitchFamily="50" charset="-78"/>
              </a:rPr>
              <a:t>مقدار یک به معنی انطباق کامل و صفر به معنی نبود هم‌پوشانی است</a:t>
            </a:r>
          </a:p>
          <a:p>
            <a:pPr marL="342900" indent="-342900" algn="ctr" rtl="1">
              <a:lnSpc>
                <a:spcPct val="150000"/>
              </a:lnSpc>
              <a:buFont typeface="Arial" panose="020B0604020202020204" pitchFamily="34" charset="0"/>
              <a:buChar char="•"/>
            </a:pPr>
            <a:endParaRPr lang="en-US" sz="2000" dirty="0">
              <a:solidFill>
                <a:schemeClr val="accent4">
                  <a:lumMod val="50000"/>
                </a:schemeClr>
              </a:solidFill>
              <a:latin typeface="Times New Roman" panose="02020603050405020304" pitchFamily="18" charset="0"/>
              <a:cs typeface="B Zar" panose="00000400000000000000" pitchFamily="50" charset="-78"/>
            </a:endParaRPr>
          </a:p>
        </p:txBody>
      </p:sp>
      <p:pic>
        <p:nvPicPr>
          <p:cNvPr id="9" name="Picture 8"/>
          <p:cNvPicPr>
            <a:picLocks/>
          </p:cNvPicPr>
          <p:nvPr/>
        </p:nvPicPr>
        <p:blipFill>
          <a:blip r:embed="rId4" cstate="hqprint">
            <a:extLst>
              <a:ext uri="{28A0092B-C50C-407E-A947-70E740481C1C}">
                <a14:useLocalDpi xmlns:a14="http://schemas.microsoft.com/office/drawing/2010/main" val="0"/>
              </a:ext>
            </a:extLst>
          </a:blip>
          <a:stretch>
            <a:fillRect/>
          </a:stretch>
        </p:blipFill>
        <p:spPr>
          <a:xfrm>
            <a:off x="429768" y="192024"/>
            <a:ext cx="539496" cy="630936"/>
          </a:xfrm>
          <a:prstGeom prst="rect">
            <a:avLst/>
          </a:prstGeom>
        </p:spPr>
      </p:pic>
      <p:sp>
        <p:nvSpPr>
          <p:cNvPr id="11" name="Rectangle 10"/>
          <p:cNvSpPr/>
          <p:nvPr/>
        </p:nvSpPr>
        <p:spPr>
          <a:xfrm>
            <a:off x="903339" y="4298019"/>
            <a:ext cx="3806313" cy="1898912"/>
          </a:xfrm>
          <a:prstGeom prst="rect">
            <a:avLst/>
          </a:prstGeom>
          <a:noFill/>
          <a:ln w="190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1496535680"/>
                  </p:ext>
                </p:extLst>
              </p:nvPr>
            </p:nvGraphicFramePr>
            <p:xfrm>
              <a:off x="1042738" y="4532363"/>
              <a:ext cx="3527514" cy="1115314"/>
            </p:xfrm>
            <a:graphic>
              <a:graphicData uri="http://schemas.openxmlformats.org/drawingml/2006/table">
                <a:tbl>
                  <a:tblPr rtl="1" firstRow="1" firstCol="1" bandRow="1">
                    <a:tableStyleId>{5C22544A-7EE6-4342-B048-85BDC9FD1C3A}</a:tableStyleId>
                  </a:tblPr>
                  <a:tblGrid>
                    <a:gridCol w="3527514">
                      <a:extLst>
                        <a:ext uri="{9D8B030D-6E8A-4147-A177-3AD203B41FA5}">
                          <a16:colId xmlns:a16="http://schemas.microsoft.com/office/drawing/2014/main" val="2595146144"/>
                        </a:ext>
                      </a:extLst>
                    </a:gridCol>
                  </a:tblGrid>
                  <a:tr h="795211">
                    <a:tc>
                      <a:txBody>
                        <a:bodyPr/>
                        <a:lstStyle/>
                        <a:p>
                          <a:pPr algn="ctr" rtl="0">
                            <a:lnSpc>
                              <a:spcPct val="150000"/>
                            </a:lnSpc>
                            <a:spcAft>
                              <a:spcPts val="0"/>
                            </a:spcAft>
                          </a:pPr>
                          <a14:m>
                            <m:oMathPara xmlns:m="http://schemas.openxmlformats.org/officeDocument/2006/math">
                              <m:oMathParaPr>
                                <m:jc m:val="center"/>
                              </m:oMathParaPr>
                              <m:oMath xmlns:m="http://schemas.openxmlformats.org/officeDocument/2006/math">
                                <m:r>
                                  <a:rPr lang="en-US" sz="2200" b="0" i="1" smtClean="0">
                                    <a:solidFill>
                                      <a:schemeClr val="tx1">
                                        <a:lumMod val="85000"/>
                                        <a:lumOff val="15000"/>
                                      </a:schemeClr>
                                    </a:solidFill>
                                    <a:effectLst/>
                                    <a:latin typeface="Cambria Math" panose="02040503050406030204" pitchFamily="18" charset="0"/>
                                  </a:rPr>
                                  <m:t>𝐼𝑜𝑈</m:t>
                                </m:r>
                                <m:r>
                                  <a:rPr lang="en-US" sz="2200" b="0" smtClean="0">
                                    <a:solidFill>
                                      <a:schemeClr val="tx1">
                                        <a:lumMod val="85000"/>
                                        <a:lumOff val="15000"/>
                                      </a:schemeClr>
                                    </a:solidFill>
                                    <a:effectLst/>
                                    <a:latin typeface="Cambria Math" panose="02040503050406030204" pitchFamily="18" charset="0"/>
                                  </a:rPr>
                                  <m:t> = </m:t>
                                </m:r>
                                <m:f>
                                  <m:fPr>
                                    <m:ctrlPr>
                                      <a:rPr lang="en-US" sz="2200" b="0" i="1">
                                        <a:solidFill>
                                          <a:schemeClr val="tx1">
                                            <a:lumMod val="85000"/>
                                            <a:lumOff val="15000"/>
                                          </a:schemeClr>
                                        </a:solidFill>
                                        <a:effectLst/>
                                        <a:latin typeface="Cambria Math" panose="02040503050406030204" pitchFamily="18" charset="0"/>
                                      </a:rPr>
                                    </m:ctrlPr>
                                  </m:fPr>
                                  <m:num>
                                    <m:r>
                                      <a:rPr lang="en-US" sz="2200" b="0" i="1">
                                        <a:solidFill>
                                          <a:schemeClr val="tx1">
                                            <a:lumMod val="85000"/>
                                            <a:lumOff val="15000"/>
                                          </a:schemeClr>
                                        </a:solidFill>
                                        <a:effectLst/>
                                        <a:latin typeface="Cambria Math" panose="02040503050406030204" pitchFamily="18" charset="0"/>
                                      </a:rPr>
                                      <m:t>𝑎𝑟𝑒𝑎</m:t>
                                    </m:r>
                                    <m:r>
                                      <a:rPr lang="en-US" sz="2200" b="0">
                                        <a:solidFill>
                                          <a:schemeClr val="tx1">
                                            <a:lumMod val="85000"/>
                                            <a:lumOff val="15000"/>
                                          </a:schemeClr>
                                        </a:solidFill>
                                        <a:effectLst/>
                                        <a:latin typeface="Cambria Math" panose="02040503050406030204" pitchFamily="18" charset="0"/>
                                      </a:rPr>
                                      <m:t>(</m:t>
                                    </m:r>
                                    <m:sSub>
                                      <m:sSubPr>
                                        <m:ctrlPr>
                                          <a:rPr lang="en-US" sz="2200" b="0" i="1">
                                            <a:solidFill>
                                              <a:schemeClr val="tx1">
                                                <a:lumMod val="85000"/>
                                                <a:lumOff val="15000"/>
                                              </a:schemeClr>
                                            </a:solidFill>
                                            <a:effectLst/>
                                            <a:latin typeface="Cambria Math" panose="02040503050406030204" pitchFamily="18" charset="0"/>
                                          </a:rPr>
                                        </m:ctrlPr>
                                      </m:sSubPr>
                                      <m:e>
                                        <m:r>
                                          <a:rPr lang="en-US" sz="2200" b="0" i="1">
                                            <a:solidFill>
                                              <a:schemeClr val="tx1">
                                                <a:lumMod val="85000"/>
                                                <a:lumOff val="15000"/>
                                              </a:schemeClr>
                                            </a:solidFill>
                                            <a:effectLst/>
                                            <a:latin typeface="Cambria Math" panose="02040503050406030204" pitchFamily="18" charset="0"/>
                                          </a:rPr>
                                          <m:t>𝐵</m:t>
                                        </m:r>
                                      </m:e>
                                      <m:sub>
                                        <m:r>
                                          <a:rPr lang="en-US" sz="2200" b="0" i="1">
                                            <a:solidFill>
                                              <a:schemeClr val="tx1">
                                                <a:lumMod val="85000"/>
                                                <a:lumOff val="15000"/>
                                              </a:schemeClr>
                                            </a:solidFill>
                                            <a:effectLst/>
                                            <a:latin typeface="Cambria Math" panose="02040503050406030204" pitchFamily="18" charset="0"/>
                                          </a:rPr>
                                          <m:t>𝑝𝑟𝑒𝑑</m:t>
                                        </m:r>
                                      </m:sub>
                                    </m:sSub>
                                    <m:r>
                                      <a:rPr lang="en-US" sz="2200" b="0">
                                        <a:solidFill>
                                          <a:schemeClr val="tx1">
                                            <a:lumMod val="85000"/>
                                            <a:lumOff val="15000"/>
                                          </a:schemeClr>
                                        </a:solidFill>
                                        <a:effectLst/>
                                        <a:latin typeface="Cambria Math" panose="02040503050406030204" pitchFamily="18" charset="0"/>
                                      </a:rPr>
                                      <m:t> ∩ </m:t>
                                    </m:r>
                                    <m:sSub>
                                      <m:sSubPr>
                                        <m:ctrlPr>
                                          <a:rPr lang="en-US" sz="2200" b="0" i="1">
                                            <a:solidFill>
                                              <a:schemeClr val="tx1">
                                                <a:lumMod val="85000"/>
                                                <a:lumOff val="15000"/>
                                              </a:schemeClr>
                                            </a:solidFill>
                                            <a:effectLst/>
                                            <a:latin typeface="Cambria Math" panose="02040503050406030204" pitchFamily="18" charset="0"/>
                                          </a:rPr>
                                        </m:ctrlPr>
                                      </m:sSubPr>
                                      <m:e>
                                        <m:r>
                                          <a:rPr lang="en-US" sz="2200" b="0" i="1">
                                            <a:solidFill>
                                              <a:schemeClr val="tx1">
                                                <a:lumMod val="85000"/>
                                                <a:lumOff val="15000"/>
                                              </a:schemeClr>
                                            </a:solidFill>
                                            <a:effectLst/>
                                            <a:latin typeface="Cambria Math" panose="02040503050406030204" pitchFamily="18" charset="0"/>
                                          </a:rPr>
                                          <m:t>𝐵</m:t>
                                        </m:r>
                                      </m:e>
                                      <m:sub>
                                        <m:r>
                                          <a:rPr lang="en-US" sz="2200" b="0" i="1">
                                            <a:solidFill>
                                              <a:schemeClr val="tx1">
                                                <a:lumMod val="85000"/>
                                                <a:lumOff val="15000"/>
                                              </a:schemeClr>
                                            </a:solidFill>
                                            <a:effectLst/>
                                            <a:latin typeface="Cambria Math" panose="02040503050406030204" pitchFamily="18" charset="0"/>
                                          </a:rPr>
                                          <m:t>𝑔𝑡</m:t>
                                        </m:r>
                                      </m:sub>
                                    </m:sSub>
                                    <m:r>
                                      <a:rPr lang="en-US" sz="2200" b="0">
                                        <a:solidFill>
                                          <a:schemeClr val="tx1">
                                            <a:lumMod val="85000"/>
                                            <a:lumOff val="15000"/>
                                          </a:schemeClr>
                                        </a:solidFill>
                                        <a:effectLst/>
                                        <a:latin typeface="Cambria Math" panose="02040503050406030204" pitchFamily="18" charset="0"/>
                                      </a:rPr>
                                      <m:t>)</m:t>
                                    </m:r>
                                  </m:num>
                                  <m:den>
                                    <m:r>
                                      <a:rPr lang="en-US" sz="2200" b="0" i="1">
                                        <a:solidFill>
                                          <a:schemeClr val="tx1">
                                            <a:lumMod val="85000"/>
                                            <a:lumOff val="15000"/>
                                          </a:schemeClr>
                                        </a:solidFill>
                                        <a:effectLst/>
                                        <a:latin typeface="Cambria Math" panose="02040503050406030204" pitchFamily="18" charset="0"/>
                                      </a:rPr>
                                      <m:t>𝑎𝑟𝑒𝑎</m:t>
                                    </m:r>
                                    <m:r>
                                      <a:rPr lang="en-US" sz="2200" b="0">
                                        <a:solidFill>
                                          <a:schemeClr val="tx1">
                                            <a:lumMod val="85000"/>
                                            <a:lumOff val="15000"/>
                                          </a:schemeClr>
                                        </a:solidFill>
                                        <a:effectLst/>
                                        <a:latin typeface="Cambria Math" panose="02040503050406030204" pitchFamily="18" charset="0"/>
                                      </a:rPr>
                                      <m:t>(</m:t>
                                    </m:r>
                                    <m:sSub>
                                      <m:sSubPr>
                                        <m:ctrlPr>
                                          <a:rPr lang="en-US" sz="2200" b="0" i="1">
                                            <a:solidFill>
                                              <a:schemeClr val="tx1">
                                                <a:lumMod val="85000"/>
                                                <a:lumOff val="15000"/>
                                              </a:schemeClr>
                                            </a:solidFill>
                                            <a:effectLst/>
                                            <a:latin typeface="Cambria Math" panose="02040503050406030204" pitchFamily="18" charset="0"/>
                                          </a:rPr>
                                        </m:ctrlPr>
                                      </m:sSubPr>
                                      <m:e>
                                        <m:r>
                                          <a:rPr lang="en-US" sz="2200" b="0" i="1">
                                            <a:solidFill>
                                              <a:schemeClr val="tx1">
                                                <a:lumMod val="85000"/>
                                                <a:lumOff val="15000"/>
                                              </a:schemeClr>
                                            </a:solidFill>
                                            <a:effectLst/>
                                            <a:latin typeface="Cambria Math" panose="02040503050406030204" pitchFamily="18" charset="0"/>
                                          </a:rPr>
                                          <m:t>𝐵</m:t>
                                        </m:r>
                                      </m:e>
                                      <m:sub>
                                        <m:r>
                                          <a:rPr lang="en-US" sz="2200" b="0" i="1">
                                            <a:solidFill>
                                              <a:schemeClr val="tx1">
                                                <a:lumMod val="85000"/>
                                                <a:lumOff val="15000"/>
                                              </a:schemeClr>
                                            </a:solidFill>
                                            <a:effectLst/>
                                            <a:latin typeface="Cambria Math" panose="02040503050406030204" pitchFamily="18" charset="0"/>
                                          </a:rPr>
                                          <m:t>𝑝𝑟𝑒𝑑</m:t>
                                        </m:r>
                                      </m:sub>
                                    </m:sSub>
                                    <m:r>
                                      <a:rPr lang="en-US" sz="2200" b="0">
                                        <a:solidFill>
                                          <a:schemeClr val="tx1">
                                            <a:lumMod val="85000"/>
                                            <a:lumOff val="15000"/>
                                          </a:schemeClr>
                                        </a:solidFill>
                                        <a:effectLst/>
                                        <a:latin typeface="Cambria Math" panose="02040503050406030204" pitchFamily="18" charset="0"/>
                                      </a:rPr>
                                      <m:t> ∪ </m:t>
                                    </m:r>
                                    <m:sSub>
                                      <m:sSubPr>
                                        <m:ctrlPr>
                                          <a:rPr lang="en-US" sz="2200" b="0" i="1">
                                            <a:solidFill>
                                              <a:schemeClr val="tx1">
                                                <a:lumMod val="85000"/>
                                                <a:lumOff val="15000"/>
                                              </a:schemeClr>
                                            </a:solidFill>
                                            <a:effectLst/>
                                            <a:latin typeface="Cambria Math" panose="02040503050406030204" pitchFamily="18" charset="0"/>
                                          </a:rPr>
                                        </m:ctrlPr>
                                      </m:sSubPr>
                                      <m:e>
                                        <m:r>
                                          <a:rPr lang="en-US" sz="2200" b="0" i="1">
                                            <a:solidFill>
                                              <a:schemeClr val="tx1">
                                                <a:lumMod val="85000"/>
                                                <a:lumOff val="15000"/>
                                              </a:schemeClr>
                                            </a:solidFill>
                                            <a:effectLst/>
                                            <a:latin typeface="Cambria Math" panose="02040503050406030204" pitchFamily="18" charset="0"/>
                                          </a:rPr>
                                          <m:t>𝐵</m:t>
                                        </m:r>
                                      </m:e>
                                      <m:sub>
                                        <m:r>
                                          <a:rPr lang="en-US" sz="2200" b="0" i="1">
                                            <a:solidFill>
                                              <a:schemeClr val="tx1">
                                                <a:lumMod val="85000"/>
                                                <a:lumOff val="15000"/>
                                              </a:schemeClr>
                                            </a:solidFill>
                                            <a:effectLst/>
                                            <a:latin typeface="Cambria Math" panose="02040503050406030204" pitchFamily="18" charset="0"/>
                                          </a:rPr>
                                          <m:t>𝑔𝑡</m:t>
                                        </m:r>
                                      </m:sub>
                                    </m:sSub>
                                    <m:r>
                                      <a:rPr lang="en-US" sz="2200" b="0">
                                        <a:solidFill>
                                          <a:schemeClr val="tx1">
                                            <a:lumMod val="85000"/>
                                            <a:lumOff val="15000"/>
                                          </a:schemeClr>
                                        </a:solidFill>
                                        <a:effectLst/>
                                        <a:latin typeface="Cambria Math" panose="02040503050406030204" pitchFamily="18" charset="0"/>
                                      </a:rPr>
                                      <m:t>)</m:t>
                                    </m:r>
                                  </m:den>
                                </m:f>
                              </m:oMath>
                            </m:oMathPara>
                          </a14:m>
                          <a:endParaRPr lang="en-US" sz="2200" b="0" dirty="0">
                            <a:solidFill>
                              <a:schemeClr val="tx1">
                                <a:lumMod val="85000"/>
                                <a:lumOff val="15000"/>
                              </a:schemeClr>
                            </a:solidFill>
                            <a:effectLst/>
                            <a:latin typeface="B Zar" panose="00000400000000000000" pitchFamily="50" charset="-78"/>
                            <a:ea typeface="MS Mincho" panose="02020609040205080304" pitchFamily="49" charset="-128"/>
                            <a:cs typeface="B Zar" panose="00000400000000000000" pitchFamily="50" charset="-78"/>
                          </a:endParaRPr>
                        </a:p>
                      </a:txBody>
                      <a:tcPr marL="68580" marR="68580" marT="0" marB="0">
                        <a:solidFill>
                          <a:schemeClr val="bg1"/>
                        </a:solidFill>
                      </a:tcPr>
                    </a:tc>
                    <a:extLst>
                      <a:ext uri="{0D108BD9-81ED-4DB2-BD59-A6C34878D82A}">
                        <a16:rowId xmlns:a16="http://schemas.microsoft.com/office/drawing/2014/main" val="2755638858"/>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1496535680"/>
                  </p:ext>
                </p:extLst>
              </p:nvPr>
            </p:nvGraphicFramePr>
            <p:xfrm>
              <a:off x="1042738" y="4532363"/>
              <a:ext cx="3527514" cy="1115314"/>
            </p:xfrm>
            <a:graphic>
              <a:graphicData uri="http://schemas.openxmlformats.org/drawingml/2006/table">
                <a:tbl>
                  <a:tblPr rtl="1" firstRow="1" firstCol="1" bandRow="1">
                    <a:tableStyleId>{5C22544A-7EE6-4342-B048-85BDC9FD1C3A}</a:tableStyleId>
                  </a:tblPr>
                  <a:tblGrid>
                    <a:gridCol w="3527514">
                      <a:extLst>
                        <a:ext uri="{9D8B030D-6E8A-4147-A177-3AD203B41FA5}">
                          <a16:colId xmlns:a16="http://schemas.microsoft.com/office/drawing/2014/main" val="2595146144"/>
                        </a:ext>
                      </a:extLst>
                    </a:gridCol>
                  </a:tblGrid>
                  <a:tr h="1115314">
                    <a:tc>
                      <a:txBody>
                        <a:bodyPr/>
                        <a:lstStyle/>
                        <a:p>
                          <a:endParaRPr lang="en-US"/>
                        </a:p>
                      </a:txBody>
                      <a:tcPr marL="68580" marR="68580" marT="0" marB="0">
                        <a:blipFill>
                          <a:blip r:embed="rId5"/>
                          <a:stretch>
                            <a:fillRect l="-173" t="-543" r="-691" b="-2174"/>
                          </a:stretch>
                        </a:blipFill>
                      </a:tcPr>
                    </a:tc>
                    <a:extLst>
                      <a:ext uri="{0D108BD9-81ED-4DB2-BD59-A6C34878D82A}">
                        <a16:rowId xmlns:a16="http://schemas.microsoft.com/office/drawing/2014/main" val="2755638858"/>
                      </a:ext>
                    </a:extLst>
                  </a:tr>
                </a:tbl>
              </a:graphicData>
            </a:graphic>
          </p:graphicFrame>
        </mc:Fallback>
      </mc:AlternateContent>
      <p:sp>
        <p:nvSpPr>
          <p:cNvPr id="13" name="Rectangle 12"/>
          <p:cNvSpPr/>
          <p:nvPr/>
        </p:nvSpPr>
        <p:spPr>
          <a:xfrm>
            <a:off x="4815129" y="4298019"/>
            <a:ext cx="6473533" cy="1898912"/>
          </a:xfrm>
          <a:prstGeom prst="rect">
            <a:avLst/>
          </a:prstGeom>
          <a:noFill/>
          <a:ln w="190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ارجاع فرمول‌ها"/>
          <p:cNvSpPr txBox="1"/>
          <p:nvPr/>
        </p:nvSpPr>
        <p:spPr>
          <a:xfrm>
            <a:off x="9062026" y="6374401"/>
            <a:ext cx="2226636" cy="553998"/>
          </a:xfrm>
          <a:prstGeom prst="rect">
            <a:avLst/>
          </a:prstGeom>
          <a:noFill/>
        </p:spPr>
        <p:txBody>
          <a:bodyPr wrap="none" lIns="0" tIns="0" rIns="0" bIns="0">
            <a:spAutoFit/>
          </a:bodyPr>
          <a:lstStyle/>
          <a:p>
            <a:pPr algn="r" rtl="1"/>
            <a:r>
              <a:rPr lang="fa-IR" dirty="0" smtClean="0">
                <a:solidFill>
                  <a:srgbClr val="263D4F"/>
                </a:solidFill>
                <a:latin typeface="B Zar"/>
                <a:ea typeface="B Zar"/>
                <a:cs typeface="B Zar"/>
              </a:rPr>
              <a:t>مرجع [۵]: رابطه نسبت هم‌پوشانی</a:t>
            </a:r>
            <a:endParaRPr lang="fa-IR" dirty="0">
              <a:solidFill>
                <a:srgbClr val="263D4F"/>
              </a:solidFill>
              <a:latin typeface="B Zar"/>
              <a:ea typeface="B Zar"/>
              <a:cs typeface="B Zar"/>
            </a:endParaRPr>
          </a:p>
          <a:p>
            <a:pPr algn="r" rtl="1"/>
            <a:endParaRPr dirty="0">
              <a:solidFill>
                <a:srgbClr val="263D4F"/>
              </a:solidFill>
              <a:latin typeface="B Zar"/>
              <a:ea typeface="B Zar"/>
              <a:cs typeface="B Zar"/>
            </a:endParaRPr>
          </a:p>
        </p:txBody>
      </p:sp>
    </p:spTree>
    <p:extLst>
      <p:ext uri="{BB962C8B-B14F-4D97-AF65-F5344CB8AC3E}">
        <p14:creationId xmlns:p14="http://schemas.microsoft.com/office/powerpoint/2010/main" val="201992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B59D151-27E6-4178-A5B2-8754E020B817}"/>
              </a:ext>
            </a:extLst>
          </p:cNvPr>
          <p:cNvSpPr>
            <a:spLocks noGrp="1"/>
          </p:cNvSpPr>
          <p:nvPr/>
        </p:nvSpPr>
        <p:spPr>
          <a:xfrm>
            <a:off x="374783" y="6325073"/>
            <a:ext cx="1087269" cy="428017"/>
          </a:xfrm>
          <a:prstGeom prst="rect">
            <a:avLst/>
          </a:prstGeom>
          <a:noFill/>
          <a:ln w="0">
            <a:noFill/>
          </a:ln>
        </p:spPr>
        <p:txBody>
          <a:bodyPr lIns="57150" tIns="38100" rIns="57150" bIns="38100" anchor="ctr">
            <a:noAutofit/>
          </a:bodyPr>
          <a:lstStyle/>
          <a:p>
            <a:pPr algn="r" rtl="1">
              <a:defRPr sz="1600" b="0">
                <a:solidFill>
                  <a:srgbClr val="52626E"/>
                </a:solidFill>
                <a:latin typeface="B Zar"/>
                <a:ea typeface="B Zar"/>
                <a:cs typeface="B Zar"/>
              </a:defRPr>
            </a:pPr>
            <a:r>
              <a:rPr lang="fa-IR" altLang="fa-IR" sz="1600" b="0" smtClean="0">
                <a:solidFill>
                  <a:srgbClr val="52626E"/>
                </a:solidFill>
                <a:latin typeface="B Zar"/>
                <a:ea typeface="B Zar"/>
                <a:cs typeface="B Zar"/>
              </a:rPr>
              <a:t>صفحه ۷ از ۳۱</a:t>
            </a:r>
            <a:endParaRPr lang="fa-IR" altLang="fa-IR" sz="1600" b="0" dirty="0">
              <a:solidFill>
                <a:srgbClr val="52626E"/>
              </a:solidFill>
              <a:latin typeface="B Zar"/>
              <a:ea typeface="B Zar"/>
              <a:cs typeface="B Zar"/>
            </a:endParaRPr>
          </a:p>
        </p:txBody>
      </p:sp>
      <p:sp>
        <p:nvSpPr>
          <p:cNvPr id="26" name="Rectangle 25">
            <a:extLst>
              <a:ext uri="{FF2B5EF4-FFF2-40B4-BE49-F238E27FC236}">
                <a16:creationId xmlns:a16="http://schemas.microsoft.com/office/drawing/2014/main" id="{C4452ECC-0329-42FD-A992-5D81CCFFD581}"/>
              </a:ext>
            </a:extLst>
          </p:cNvPr>
          <p:cNvSpPr>
            <a:spLocks noGrp="1"/>
          </p:cNvSpPr>
          <p:nvPr/>
        </p:nvSpPr>
        <p:spPr>
          <a:xfrm>
            <a:off x="1744797" y="216287"/>
            <a:ext cx="10096500" cy="485775"/>
          </a:xfrm>
          <a:prstGeom prst="rect">
            <a:avLst/>
          </a:prstGeom>
          <a:noFill/>
          <a:ln w="0">
            <a:noFill/>
          </a:ln>
        </p:spPr>
        <p:txBody>
          <a:bodyPr lIns="57150" tIns="38100" rIns="57150" bIns="38100" anchor="ctr">
            <a:noAutofit/>
          </a:bodyPr>
          <a:lstStyle/>
          <a:p>
            <a:pPr algn="r" rtl="1">
              <a:defRPr sz="3100" b="1">
                <a:solidFill>
                  <a:srgbClr val="173E5A"/>
                </a:solidFill>
                <a:latin typeface="B Zar"/>
                <a:ea typeface="B Zar"/>
                <a:cs typeface="B Zar"/>
              </a:defRPr>
            </a:pPr>
            <a:r>
              <a:rPr lang="fa-IR" altLang="fa-IR" sz="3100" b="1" dirty="0" smtClean="0">
                <a:solidFill>
                  <a:srgbClr val="173E5A"/>
                </a:solidFill>
                <a:latin typeface="B Zar"/>
                <a:ea typeface="B Zar"/>
                <a:cs typeface="B Zar" panose="00000400000000000000" pitchFamily="50" charset="-78"/>
              </a:rPr>
              <a:t>‏دقت، فراخوانی و </a:t>
            </a:r>
            <a:r>
              <a:rPr lang="en-US" altLang="fa-IR" sz="3000" b="1" dirty="0" smtClean="0">
                <a:solidFill>
                  <a:srgbClr val="173E5A"/>
                </a:solidFill>
                <a:latin typeface="Times New Roman" panose="02020603050405020304" pitchFamily="18" charset="0"/>
                <a:ea typeface="B Zar"/>
                <a:cs typeface="Times New Roman" panose="02020603050405020304" pitchFamily="18" charset="0"/>
              </a:rPr>
              <a:t>F1</a:t>
            </a:r>
            <a:endParaRPr lang="fa-IR" altLang="fa-IR" sz="3000" b="1" dirty="0">
              <a:solidFill>
                <a:srgbClr val="173E5A"/>
              </a:solidFill>
              <a:latin typeface="Times New Roman" panose="02020603050405020304" pitchFamily="18" charset="0"/>
              <a:ea typeface="B Zar"/>
              <a:cs typeface="Times New Roman" panose="02020603050405020304" pitchFamily="18" charset="0"/>
            </a:endParaRPr>
          </a:p>
        </p:txBody>
      </p:sp>
      <p:sp>
        <p:nvSpPr>
          <p:cNvPr id="3" name="TextBox 2"/>
          <p:cNvSpPr txBox="1"/>
          <p:nvPr/>
        </p:nvSpPr>
        <p:spPr>
          <a:xfrm>
            <a:off x="9142483" y="1216134"/>
            <a:ext cx="1739354" cy="403504"/>
          </a:xfrm>
          <a:prstGeom prst="rect">
            <a:avLst/>
          </a:prstGeom>
          <a:noFill/>
        </p:spPr>
        <p:txBody>
          <a:bodyPr vert="horz" wrap="square" lIns="0" tIns="0" rIns="0" bIns="0" rtlCol="0">
            <a:noAutofit/>
          </a:bodyPr>
          <a:lstStyle/>
          <a:p>
            <a:pPr algn="ctr" rtl="1"/>
            <a:r>
              <a:rPr lang="fa-IR" sz="2700" b="1" dirty="0" smtClean="0">
                <a:solidFill>
                  <a:srgbClr val="197EA3"/>
                </a:solidFill>
                <a:cs typeface="B Zar" panose="00000400000000000000" pitchFamily="50" charset="-78"/>
              </a:rPr>
              <a:t>‏دقت</a:t>
            </a:r>
            <a:endParaRPr lang="en-US" sz="2700" b="1" dirty="0">
              <a:solidFill>
                <a:srgbClr val="197EA3"/>
              </a:solidFill>
              <a:cs typeface="B Zar" panose="00000400000000000000" pitchFamily="50" charset="-78"/>
            </a:endParaRPr>
          </a:p>
        </p:txBody>
      </p:sp>
      <mc:AlternateContent xmlns:mc="http://schemas.openxmlformats.org/markup-compatibility/2006" xmlns:a14="http://schemas.microsoft.com/office/drawing/2010/main">
        <mc:Choice Requires="a14">
          <p:sp>
            <p:nvSpPr>
              <p:cNvPr id="5" name="TextBox 4"/>
              <p:cNvSpPr txBox="1"/>
              <p:nvPr/>
            </p:nvSpPr>
            <p:spPr>
              <a:xfrm>
                <a:off x="8495228" y="1838864"/>
                <a:ext cx="3033865" cy="731867"/>
              </a:xfrm>
              <a:prstGeom prst="rect">
                <a:avLst/>
              </a:prstGeom>
              <a:noFill/>
            </p:spPr>
            <p:txBody>
              <a:bodyPr vert="horz" wrap="square" lIns="0" tIns="0" rIns="0" bIns="0" rtlCol="0">
                <a:noAutofit/>
              </a:bodyPr>
              <a:lstStyle/>
              <a:p>
                <a:pPr algn="ctr"/>
                <a14:m>
                  <m:oMathPara xmlns:m="http://schemas.openxmlformats.org/officeDocument/2006/math">
                    <m:oMathParaPr>
                      <m:jc m:val="centerGroup"/>
                    </m:oMathParaPr>
                    <m:oMath xmlns:m="http://schemas.openxmlformats.org/officeDocument/2006/math">
                      <m:r>
                        <m:rPr>
                          <m:sty m:val="p"/>
                        </m:rPr>
                        <a:rPr lang="en-US" sz="2000" smtClean="0">
                          <a:latin typeface="Cambria Math" panose="02040503050406030204" pitchFamily="18" charset="0"/>
                        </a:rPr>
                        <m:t>Precision</m:t>
                      </m:r>
                      <m:r>
                        <a:rPr lang="en-US" sz="2000">
                          <a:latin typeface="Cambria Math" panose="02040503050406030204" pitchFamily="18" charset="0"/>
                        </a:rPr>
                        <m:t> = </m:t>
                      </m:r>
                      <m:f>
                        <m:fPr>
                          <m:ctrlPr>
                            <a:rPr lang="en-US" sz="2000" i="1">
                              <a:latin typeface="Cambria Math" panose="02040503050406030204" pitchFamily="18" charset="0"/>
                            </a:rPr>
                          </m:ctrlPr>
                        </m:fPr>
                        <m:num>
                          <m:r>
                            <m:rPr>
                              <m:sty m:val="p"/>
                            </m:rPr>
                            <a:rPr lang="en-US" sz="2000">
                              <a:latin typeface="Cambria Math" panose="02040503050406030204" pitchFamily="18" charset="0"/>
                            </a:rPr>
                            <m:t>TP</m:t>
                          </m:r>
                        </m:num>
                        <m:den>
                          <m:r>
                            <m:rPr>
                              <m:sty m:val="p"/>
                            </m:rPr>
                            <a:rPr lang="en-US" sz="2000">
                              <a:latin typeface="Cambria Math" panose="02040503050406030204" pitchFamily="18" charset="0"/>
                            </a:rPr>
                            <m:t>TP</m:t>
                          </m:r>
                          <m:r>
                            <a:rPr lang="en-US" sz="2000">
                              <a:latin typeface="Cambria Math" panose="02040503050406030204" pitchFamily="18" charset="0"/>
                            </a:rPr>
                            <m:t> + </m:t>
                          </m:r>
                          <m:r>
                            <m:rPr>
                              <m:sty m:val="p"/>
                            </m:rPr>
                            <a:rPr lang="en-US" sz="2000">
                              <a:latin typeface="Cambria Math" panose="02040503050406030204" pitchFamily="18" charset="0"/>
                            </a:rPr>
                            <m:t>FP</m:t>
                          </m:r>
                        </m:den>
                      </m:f>
                    </m:oMath>
                  </m:oMathPara>
                </a14:m>
                <a:endParaRPr lang="en-US" sz="2000" b="1" dirty="0">
                  <a:solidFill>
                    <a:srgbClr val="17384F"/>
                  </a:solidFill>
                  <a:latin typeface="Times New Roman" panose="02020603050405020304" pitchFamily="18" charset="0"/>
                  <a:cs typeface="Times New Roman" panose="02020603050405020304" pitchFamily="18"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8495228" y="1838864"/>
                <a:ext cx="3033865" cy="731867"/>
              </a:xfrm>
              <a:prstGeom prst="rect">
                <a:avLst/>
              </a:prstGeom>
              <a:blipFill>
                <a:blip r:embed="rId3"/>
                <a:stretch>
                  <a:fillRect/>
                </a:stretch>
              </a:blipFill>
            </p:spPr>
            <p:txBody>
              <a:bodyPr/>
              <a:lstStyle/>
              <a:p>
                <a:r>
                  <a:rPr lang="en-US">
                    <a:noFill/>
                  </a:rPr>
                  <a:t> </a:t>
                </a:r>
              </a:p>
            </p:txBody>
          </p:sp>
        </mc:Fallback>
      </mc:AlternateContent>
      <p:sp>
        <p:nvSpPr>
          <p:cNvPr id="8" name="TextBox 7"/>
          <p:cNvSpPr txBox="1"/>
          <p:nvPr/>
        </p:nvSpPr>
        <p:spPr>
          <a:xfrm>
            <a:off x="5040045" y="1180325"/>
            <a:ext cx="2129094" cy="505187"/>
          </a:xfrm>
          <a:prstGeom prst="rect">
            <a:avLst/>
          </a:prstGeom>
          <a:noFill/>
        </p:spPr>
        <p:txBody>
          <a:bodyPr vert="horz" wrap="square" lIns="0" tIns="0" rIns="0" bIns="0" rtlCol="0">
            <a:noAutofit/>
          </a:bodyPr>
          <a:lstStyle/>
          <a:p>
            <a:pPr algn="ctr" rtl="1"/>
            <a:r>
              <a:rPr lang="fa-IR" sz="2700" b="1" dirty="0" smtClean="0">
                <a:solidFill>
                  <a:srgbClr val="219653"/>
                </a:solidFill>
                <a:cs typeface="B Zar" panose="00000400000000000000" pitchFamily="50" charset="-78"/>
              </a:rPr>
              <a:t>‏فراخوانی</a:t>
            </a:r>
            <a:endParaRPr lang="en-US" sz="2700" b="1" dirty="0">
              <a:solidFill>
                <a:srgbClr val="219653"/>
              </a:solidFill>
              <a:cs typeface="B Zar" panose="00000400000000000000" pitchFamily="50" charset="-78"/>
            </a:endParaRPr>
          </a:p>
        </p:txBody>
      </p:sp>
      <p:pic>
        <p:nvPicPr>
          <p:cNvPr id="15" name="Picture 14"/>
          <p:cNvPicPr>
            <a:picLocks/>
          </p:cNvPicPr>
          <p:nvPr/>
        </p:nvPicPr>
        <p:blipFill>
          <a:blip r:embed="rId4" cstate="hqprint">
            <a:extLst>
              <a:ext uri="{28A0092B-C50C-407E-A947-70E740481C1C}">
                <a14:useLocalDpi xmlns:a14="http://schemas.microsoft.com/office/drawing/2010/main" val="0"/>
              </a:ext>
            </a:extLst>
          </a:blip>
          <a:stretch>
            <a:fillRect/>
          </a:stretch>
        </p:blipFill>
        <p:spPr>
          <a:xfrm>
            <a:off x="429768" y="192024"/>
            <a:ext cx="539496" cy="630936"/>
          </a:xfrm>
          <a:prstGeom prst="rect">
            <a:avLst/>
          </a:prstGeom>
        </p:spPr>
      </p:pic>
      <mc:AlternateContent xmlns:mc="http://schemas.openxmlformats.org/markup-compatibility/2006" xmlns:a14="http://schemas.microsoft.com/office/drawing/2010/main">
        <mc:Choice Requires="a14">
          <p:sp>
            <p:nvSpPr>
              <p:cNvPr id="16" name="Rectangle 15"/>
              <p:cNvSpPr/>
              <p:nvPr/>
            </p:nvSpPr>
            <p:spPr>
              <a:xfrm>
                <a:off x="4899916" y="1843001"/>
                <a:ext cx="2379177" cy="67371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000" smtClean="0">
                          <a:latin typeface="Cambria Math" panose="02040503050406030204" pitchFamily="18" charset="0"/>
                        </a:rPr>
                        <m:t>R</m:t>
                      </m:r>
                      <m:r>
                        <m:rPr>
                          <m:sty m:val="p"/>
                        </m:rPr>
                        <a:rPr lang="en-US" sz="2000" i="0">
                          <a:latin typeface="Cambria Math" panose="02040503050406030204" pitchFamily="18" charset="0"/>
                        </a:rPr>
                        <m:t>ecall</m:t>
                      </m:r>
                      <m:r>
                        <a:rPr lang="en-US" sz="2000" i="0">
                          <a:latin typeface="Cambria Math" panose="02040503050406030204" pitchFamily="18" charset="0"/>
                        </a:rPr>
                        <m:t> = </m:t>
                      </m:r>
                      <m:f>
                        <m:fPr>
                          <m:ctrlPr>
                            <a:rPr lang="en-US" sz="2000" i="1">
                              <a:latin typeface="Cambria Math" panose="02040503050406030204" pitchFamily="18" charset="0"/>
                            </a:rPr>
                          </m:ctrlPr>
                        </m:fPr>
                        <m:num>
                          <m:r>
                            <m:rPr>
                              <m:sty m:val="p"/>
                            </m:rPr>
                            <a:rPr lang="en-US" sz="2000" i="0">
                              <a:latin typeface="Cambria Math" panose="02040503050406030204" pitchFamily="18" charset="0"/>
                            </a:rPr>
                            <m:t>TP</m:t>
                          </m:r>
                        </m:num>
                        <m:den>
                          <m:r>
                            <m:rPr>
                              <m:sty m:val="p"/>
                            </m:rPr>
                            <a:rPr lang="en-US" sz="2000" i="0">
                              <a:latin typeface="Cambria Math" panose="02040503050406030204" pitchFamily="18" charset="0"/>
                            </a:rPr>
                            <m:t>TP</m:t>
                          </m:r>
                          <m:r>
                            <a:rPr lang="en-US" sz="2000" i="0">
                              <a:latin typeface="Cambria Math" panose="02040503050406030204" pitchFamily="18" charset="0"/>
                            </a:rPr>
                            <m:t> + </m:t>
                          </m:r>
                          <m:r>
                            <m:rPr>
                              <m:sty m:val="p"/>
                            </m:rPr>
                            <a:rPr lang="en-US" sz="2000" i="0">
                              <a:latin typeface="Cambria Math" panose="02040503050406030204" pitchFamily="18" charset="0"/>
                            </a:rPr>
                            <m:t>FN</m:t>
                          </m:r>
                        </m:den>
                      </m:f>
                    </m:oMath>
                  </m:oMathPara>
                </a14:m>
                <a:endParaRPr lang="en-US" sz="2000" dirty="0"/>
              </a:p>
            </p:txBody>
          </p:sp>
        </mc:Choice>
        <mc:Fallback xmlns="">
          <p:sp>
            <p:nvSpPr>
              <p:cNvPr id="16" name="Rectangle 15"/>
              <p:cNvSpPr>
                <a:spLocks noRot="1" noChangeAspect="1" noMove="1" noResize="1" noEditPoints="1" noAdjustHandles="1" noChangeArrowheads="1" noChangeShapeType="1" noTextEdit="1"/>
              </p:cNvSpPr>
              <p:nvPr/>
            </p:nvSpPr>
            <p:spPr>
              <a:xfrm>
                <a:off x="4899916" y="1843001"/>
                <a:ext cx="2379177" cy="67371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p:cNvSpPr/>
              <p:nvPr/>
            </p:nvSpPr>
            <p:spPr>
              <a:xfrm>
                <a:off x="373357" y="1838865"/>
                <a:ext cx="3621696" cy="68198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000" smtClean="0">
                          <a:latin typeface="Cambria Math" panose="02040503050406030204" pitchFamily="18" charset="0"/>
                        </a:rPr>
                        <m:t>F</m:t>
                      </m:r>
                      <m:r>
                        <a:rPr lang="en-US" sz="2000" i="0">
                          <a:latin typeface="Cambria Math" panose="02040503050406030204" pitchFamily="18" charset="0"/>
                        </a:rPr>
                        <m:t>1</m:t>
                      </m:r>
                      <m:r>
                        <a:rPr lang="en-US" sz="2000" i="0">
                          <a:latin typeface="Cambria Math" panose="02040503050406030204" pitchFamily="18" charset="0"/>
                        </a:rPr>
                        <m:t> = </m:t>
                      </m:r>
                      <m:r>
                        <a:rPr lang="en-US" sz="2000" i="0">
                          <a:latin typeface="Cambria Math" panose="02040503050406030204" pitchFamily="18" charset="0"/>
                        </a:rPr>
                        <m:t>2</m:t>
                      </m:r>
                      <m:r>
                        <a:rPr lang="en-US" sz="2000" i="0">
                          <a:latin typeface="Cambria Math" panose="02040503050406030204" pitchFamily="18" charset="0"/>
                        </a:rPr>
                        <m:t> × </m:t>
                      </m:r>
                      <m:f>
                        <m:fPr>
                          <m:ctrlPr>
                            <a:rPr lang="en-US" sz="2000" i="1">
                              <a:latin typeface="Cambria Math" panose="02040503050406030204" pitchFamily="18" charset="0"/>
                            </a:rPr>
                          </m:ctrlPr>
                        </m:fPr>
                        <m:num>
                          <m:r>
                            <m:rPr>
                              <m:sty m:val="p"/>
                            </m:rPr>
                            <a:rPr lang="en-US" sz="2000" i="0" smtClean="0">
                              <a:latin typeface="Cambria Math" panose="02040503050406030204" pitchFamily="18" charset="0"/>
                            </a:rPr>
                            <m:t>Precision</m:t>
                          </m:r>
                          <m:r>
                            <a:rPr lang="en-US" sz="2000" i="0">
                              <a:latin typeface="Cambria Math" panose="02040503050406030204" pitchFamily="18" charset="0"/>
                            </a:rPr>
                            <m:t> × </m:t>
                          </m:r>
                          <m:r>
                            <m:rPr>
                              <m:sty m:val="p"/>
                            </m:rPr>
                            <a:rPr lang="en-US" sz="2000" i="0">
                              <a:latin typeface="Cambria Math" panose="02040503050406030204" pitchFamily="18" charset="0"/>
                            </a:rPr>
                            <m:t>Recall</m:t>
                          </m:r>
                        </m:num>
                        <m:den>
                          <m:r>
                            <m:rPr>
                              <m:sty m:val="p"/>
                            </m:rPr>
                            <a:rPr lang="en-US" sz="2000" i="0">
                              <a:latin typeface="Cambria Math" panose="02040503050406030204" pitchFamily="18" charset="0"/>
                            </a:rPr>
                            <m:t>Precision</m:t>
                          </m:r>
                          <m:r>
                            <a:rPr lang="en-US" sz="2000" i="0">
                              <a:latin typeface="Cambria Math" panose="02040503050406030204" pitchFamily="18" charset="0"/>
                            </a:rPr>
                            <m:t> + </m:t>
                          </m:r>
                          <m:r>
                            <m:rPr>
                              <m:sty m:val="p"/>
                            </m:rPr>
                            <a:rPr lang="en-US" sz="2000" i="0">
                              <a:latin typeface="Cambria Math" panose="02040503050406030204" pitchFamily="18" charset="0"/>
                            </a:rPr>
                            <m:t>Recall</m:t>
                          </m:r>
                        </m:den>
                      </m:f>
                    </m:oMath>
                  </m:oMathPara>
                </a14:m>
                <a:endParaRPr lang="en-US" sz="2000" dirty="0"/>
              </a:p>
            </p:txBody>
          </p:sp>
        </mc:Choice>
        <mc:Fallback xmlns="">
          <p:sp>
            <p:nvSpPr>
              <p:cNvPr id="32" name="Rectangle 31"/>
              <p:cNvSpPr>
                <a:spLocks noRot="1" noChangeAspect="1" noMove="1" noResize="1" noEditPoints="1" noAdjustHandles="1" noChangeArrowheads="1" noChangeShapeType="1" noTextEdit="1"/>
              </p:cNvSpPr>
              <p:nvPr/>
            </p:nvSpPr>
            <p:spPr>
              <a:xfrm>
                <a:off x="373357" y="1838865"/>
                <a:ext cx="3621696" cy="681982"/>
              </a:xfrm>
              <a:prstGeom prst="rect">
                <a:avLst/>
              </a:prstGeom>
              <a:blipFill>
                <a:blip r:embed="rId6"/>
                <a:stretch>
                  <a:fillRect/>
                </a:stretch>
              </a:blipFill>
            </p:spPr>
            <p:txBody>
              <a:bodyPr/>
              <a:lstStyle/>
              <a:p>
                <a:r>
                  <a:rPr lang="en-US">
                    <a:noFill/>
                  </a:rPr>
                  <a:t> </a:t>
                </a:r>
              </a:p>
            </p:txBody>
          </p:sp>
        </mc:Fallback>
      </mc:AlternateContent>
      <p:sp>
        <p:nvSpPr>
          <p:cNvPr id="33" name="TextBox 32"/>
          <p:cNvSpPr txBox="1"/>
          <p:nvPr/>
        </p:nvSpPr>
        <p:spPr>
          <a:xfrm>
            <a:off x="1119003" y="1207753"/>
            <a:ext cx="2129094" cy="505187"/>
          </a:xfrm>
          <a:prstGeom prst="rect">
            <a:avLst/>
          </a:prstGeom>
          <a:noFill/>
        </p:spPr>
        <p:txBody>
          <a:bodyPr vert="horz" wrap="square" lIns="0" tIns="0" rIns="0" bIns="0" rtlCol="0">
            <a:noAutofit/>
          </a:bodyPr>
          <a:lstStyle/>
          <a:p>
            <a:pPr algn="ctr" rtl="1"/>
            <a:r>
              <a:rPr lang="fa-IR" sz="2700" b="1" dirty="0" smtClean="0">
                <a:solidFill>
                  <a:schemeClr val="accent2">
                    <a:lumMod val="75000"/>
                  </a:schemeClr>
                </a:solidFill>
                <a:cs typeface="B Zar" panose="00000400000000000000" pitchFamily="50" charset="-78"/>
              </a:rPr>
              <a:t>‏امتیاز </a:t>
            </a:r>
            <a:r>
              <a:rPr lang="en-US" sz="2700" b="1" dirty="0" smtClean="0">
                <a:solidFill>
                  <a:schemeClr val="accent2">
                    <a:lumMod val="75000"/>
                  </a:schemeClr>
                </a:solidFill>
                <a:cs typeface="B Zar" panose="00000400000000000000" pitchFamily="50" charset="-78"/>
              </a:rPr>
              <a:t>F1</a:t>
            </a:r>
            <a:endParaRPr lang="en-US" sz="2700" b="1" dirty="0">
              <a:solidFill>
                <a:schemeClr val="accent2">
                  <a:lumMod val="75000"/>
                </a:schemeClr>
              </a:solidFill>
              <a:cs typeface="B Zar" panose="00000400000000000000" pitchFamily="50" charset="-78"/>
            </a:endParaRPr>
          </a:p>
        </p:txBody>
      </p:sp>
      <p:sp>
        <p:nvSpPr>
          <p:cNvPr id="43" name="Rectangle 42"/>
          <p:cNvSpPr/>
          <p:nvPr/>
        </p:nvSpPr>
        <p:spPr>
          <a:xfrm>
            <a:off x="8094619" y="2792361"/>
            <a:ext cx="3835082" cy="3462523"/>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p:cNvSpPr/>
          <p:nvPr/>
        </p:nvSpPr>
        <p:spPr>
          <a:xfrm>
            <a:off x="8094619" y="1036235"/>
            <a:ext cx="3835082" cy="5218649"/>
          </a:xfrm>
          <a:prstGeom prst="rect">
            <a:avLst/>
          </a:prstGeom>
          <a:noFill/>
          <a:ln w="127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4187051" y="2792361"/>
            <a:ext cx="3835082" cy="3462523"/>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271634" y="2792360"/>
            <a:ext cx="3823833" cy="3462523"/>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just" rtl="1">
              <a:spcBef>
                <a:spcPts val="1200"/>
              </a:spcBef>
              <a:spcAft>
                <a:spcPts val="1200"/>
              </a:spcAft>
              <a:buFont typeface="Wingdings" panose="05000000000000000000" pitchFamily="2" charset="2"/>
              <a:buChar char="q"/>
            </a:pPr>
            <a:endParaRPr lang="en-US" dirty="0">
              <a:solidFill>
                <a:schemeClr val="tx1"/>
              </a:solidFill>
              <a:cs typeface="B Zar" panose="00000400000000000000" pitchFamily="50" charset="-78"/>
            </a:endParaRPr>
          </a:p>
        </p:txBody>
      </p:sp>
      <p:sp>
        <p:nvSpPr>
          <p:cNvPr id="41" name="Rectangle 40"/>
          <p:cNvSpPr/>
          <p:nvPr/>
        </p:nvSpPr>
        <p:spPr>
          <a:xfrm>
            <a:off x="4187051" y="1036235"/>
            <a:ext cx="3835082" cy="5218649"/>
          </a:xfrm>
          <a:prstGeom prst="rect">
            <a:avLst/>
          </a:prstGeom>
          <a:noFill/>
          <a:ln w="127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271635" y="1036235"/>
            <a:ext cx="3835082" cy="5218649"/>
          </a:xfrm>
          <a:prstGeom prst="rect">
            <a:avLst/>
          </a:prstGeom>
          <a:noFill/>
          <a:ln w="127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p:cNvSpPr txBox="1"/>
          <p:nvPr/>
        </p:nvSpPr>
        <p:spPr>
          <a:xfrm>
            <a:off x="8259097" y="2895072"/>
            <a:ext cx="3510116" cy="3293209"/>
          </a:xfrm>
          <a:prstGeom prst="rect">
            <a:avLst/>
          </a:prstGeom>
          <a:noFill/>
        </p:spPr>
        <p:txBody>
          <a:bodyPr wrap="square" rtlCol="0">
            <a:spAutoFit/>
          </a:bodyPr>
          <a:lstStyle/>
          <a:p>
            <a:pPr marL="342900" indent="-342900" algn="just" rtl="1">
              <a:spcBef>
                <a:spcPts val="1500"/>
              </a:spcBef>
              <a:spcAft>
                <a:spcPts val="1500"/>
              </a:spcAft>
              <a:buFont typeface="Wingdings" panose="05000000000000000000" pitchFamily="2" charset="2"/>
              <a:buChar char="q"/>
            </a:pPr>
            <a:r>
              <a:rPr lang="fa-IR" sz="1900" dirty="0">
                <a:cs typeface="B Zar" panose="00000400000000000000" pitchFamily="50" charset="-78"/>
              </a:rPr>
              <a:t>نسبت پیش‌بینی‌های </a:t>
            </a:r>
            <a:r>
              <a:rPr lang="fa-IR" sz="1900" dirty="0" smtClean="0">
                <a:cs typeface="B Zar" panose="00000400000000000000" pitchFamily="50" charset="-78"/>
              </a:rPr>
              <a:t>مثبت </a:t>
            </a:r>
            <a:r>
              <a:rPr lang="fa-IR" sz="1900" dirty="0">
                <a:cs typeface="B Zar" panose="00000400000000000000" pitchFamily="50" charset="-78"/>
              </a:rPr>
              <a:t>صحیح به کل پیش‌بینی‌های مثبت </a:t>
            </a:r>
            <a:endParaRPr lang="en-US" sz="1900" dirty="0">
              <a:cs typeface="B Zar" panose="00000400000000000000" pitchFamily="50" charset="-78"/>
            </a:endParaRPr>
          </a:p>
          <a:p>
            <a:pPr marL="342900" indent="-342900" algn="just" rtl="1">
              <a:spcBef>
                <a:spcPts val="1500"/>
              </a:spcBef>
              <a:spcAft>
                <a:spcPts val="1500"/>
              </a:spcAft>
              <a:buFont typeface="Wingdings" panose="05000000000000000000" pitchFamily="2" charset="2"/>
              <a:buChar char="q"/>
            </a:pPr>
            <a:r>
              <a:rPr lang="fa-IR" sz="1900" dirty="0" smtClean="0">
                <a:cs typeface="B Zar" panose="00000400000000000000" pitchFamily="50" charset="-78"/>
              </a:rPr>
              <a:t>نشان می‌دهد وقتی </a:t>
            </a:r>
            <a:r>
              <a:rPr lang="fa-IR" sz="1900" dirty="0">
                <a:cs typeface="B Zar" panose="00000400000000000000" pitchFamily="50" charset="-78"/>
              </a:rPr>
              <a:t>مدل یک شیء را تشخیص می‌دهد، چقدر قابل اعتماد </a:t>
            </a:r>
            <a:r>
              <a:rPr lang="fa-IR" sz="1900" dirty="0" smtClean="0">
                <a:cs typeface="B Zar" panose="00000400000000000000" pitchFamily="50" charset="-78"/>
              </a:rPr>
              <a:t>است</a:t>
            </a:r>
            <a:endParaRPr lang="en-US" sz="1900" dirty="0" smtClean="0">
              <a:cs typeface="B Zar" panose="00000400000000000000" pitchFamily="50" charset="-78"/>
            </a:endParaRPr>
          </a:p>
          <a:p>
            <a:pPr marL="342900" indent="-342900" algn="just" rtl="1">
              <a:spcBef>
                <a:spcPts val="1500"/>
              </a:spcBef>
              <a:spcAft>
                <a:spcPts val="1500"/>
              </a:spcAft>
              <a:buFont typeface="Wingdings" panose="05000000000000000000" pitchFamily="2" charset="2"/>
              <a:buChar char="q"/>
            </a:pPr>
            <a:r>
              <a:rPr lang="fa-IR" sz="1900" dirty="0" smtClean="0"/>
              <a:t>افزایش </a:t>
            </a:r>
            <a:r>
              <a:rPr lang="en-US" dirty="0" smtClean="0">
                <a:latin typeface="Times New Roman" panose="02020603050405020304" pitchFamily="18" charset="0"/>
                <a:cs typeface="Times New Roman" panose="02020603050405020304" pitchFamily="18" charset="0"/>
              </a:rPr>
              <a:t>FP</a:t>
            </a:r>
            <a:r>
              <a:rPr lang="fa-IR" sz="1900" dirty="0" smtClean="0"/>
              <a:t> باعث </a:t>
            </a:r>
            <a:r>
              <a:rPr lang="fa-IR" sz="1900" dirty="0"/>
              <a:t>کاهش دقت می‌شود</a:t>
            </a:r>
            <a:r>
              <a:rPr lang="fa-IR" sz="1900" dirty="0" smtClean="0">
                <a:cs typeface="B Zar" panose="00000400000000000000" pitchFamily="50" charset="-78"/>
              </a:rPr>
              <a:t>  </a:t>
            </a:r>
            <a:endParaRPr lang="en-US" sz="1900" dirty="0" smtClean="0">
              <a:cs typeface="B Zar" panose="00000400000000000000" pitchFamily="50" charset="-78"/>
            </a:endParaRPr>
          </a:p>
          <a:p>
            <a:pPr marL="342900" indent="-342900" algn="just" rtl="1">
              <a:spcBef>
                <a:spcPts val="1500"/>
              </a:spcBef>
              <a:spcAft>
                <a:spcPts val="1500"/>
              </a:spcAft>
              <a:buFont typeface="Wingdings" panose="05000000000000000000" pitchFamily="2" charset="2"/>
              <a:buChar char="q"/>
            </a:pPr>
            <a:r>
              <a:rPr lang="fa-IR" sz="1900" dirty="0" smtClean="0">
                <a:cs typeface="B Zar" panose="00000400000000000000" pitchFamily="50" charset="-78"/>
              </a:rPr>
              <a:t>دقت </a:t>
            </a:r>
            <a:r>
              <a:rPr lang="fa-IR" sz="1900" dirty="0">
                <a:cs typeface="B Zar" panose="00000400000000000000" pitchFamily="50" charset="-78"/>
              </a:rPr>
              <a:t>بالا یعنی خطاهای مثبت کاذب کمتر است</a:t>
            </a:r>
            <a:endParaRPr lang="en-US" sz="1900" dirty="0">
              <a:cs typeface="B Zar" panose="00000400000000000000" pitchFamily="50" charset="-78"/>
            </a:endParaRPr>
          </a:p>
        </p:txBody>
      </p:sp>
      <p:sp>
        <p:nvSpPr>
          <p:cNvPr id="53" name="TextBox 52"/>
          <p:cNvSpPr txBox="1"/>
          <p:nvPr/>
        </p:nvSpPr>
        <p:spPr>
          <a:xfrm>
            <a:off x="4300692" y="2874125"/>
            <a:ext cx="3584780" cy="3354765"/>
          </a:xfrm>
          <a:prstGeom prst="rect">
            <a:avLst/>
          </a:prstGeom>
          <a:noFill/>
        </p:spPr>
        <p:txBody>
          <a:bodyPr wrap="square" rtlCol="0">
            <a:spAutoFit/>
          </a:bodyPr>
          <a:lstStyle/>
          <a:p>
            <a:pPr marL="342900" indent="-342900" algn="just" rtl="1">
              <a:spcBef>
                <a:spcPts val="1200"/>
              </a:spcBef>
              <a:spcAft>
                <a:spcPts val="1200"/>
              </a:spcAft>
              <a:buFont typeface="Wingdings" panose="05000000000000000000" pitchFamily="2" charset="2"/>
              <a:buChar char="q"/>
            </a:pPr>
            <a:r>
              <a:rPr lang="fa-IR" sz="1900" dirty="0">
                <a:cs typeface="B Zar" panose="00000400000000000000" pitchFamily="50" charset="-78"/>
              </a:rPr>
              <a:t>نسبت اشیای درست شناسایی‌شده به کل اشیای </a:t>
            </a:r>
            <a:r>
              <a:rPr lang="fa-IR" sz="1900" dirty="0" smtClean="0">
                <a:cs typeface="B Zar" panose="00000400000000000000" pitchFamily="50" charset="-78"/>
              </a:rPr>
              <a:t>واقعی</a:t>
            </a:r>
            <a:endParaRPr lang="en-US" sz="1900" dirty="0" smtClean="0">
              <a:cs typeface="B Zar" panose="00000400000000000000" pitchFamily="50" charset="-78"/>
            </a:endParaRPr>
          </a:p>
          <a:p>
            <a:pPr marL="342900" indent="-342900" algn="just" rtl="1">
              <a:spcBef>
                <a:spcPts val="1200"/>
              </a:spcBef>
              <a:spcAft>
                <a:spcPts val="1200"/>
              </a:spcAft>
              <a:buFont typeface="Wingdings" panose="05000000000000000000" pitchFamily="2" charset="2"/>
              <a:buChar char="q"/>
            </a:pPr>
            <a:r>
              <a:rPr lang="fa-IR" sz="1900" dirty="0" smtClean="0">
                <a:cs typeface="B Zar" panose="00000400000000000000" pitchFamily="50" charset="-78"/>
              </a:rPr>
              <a:t>  </a:t>
            </a:r>
            <a:r>
              <a:rPr lang="fa-IR" sz="1900" dirty="0">
                <a:cs typeface="B Zar" panose="00000400000000000000" pitchFamily="50" charset="-78"/>
              </a:rPr>
              <a:t>نشان می‌دهد مدل چه مقدار از اشیای موجود را پیدا کرده </a:t>
            </a:r>
            <a:r>
              <a:rPr lang="fa-IR" sz="1900" dirty="0" smtClean="0">
                <a:cs typeface="B Zar" panose="00000400000000000000" pitchFamily="50" charset="-78"/>
              </a:rPr>
              <a:t>است</a:t>
            </a:r>
            <a:endParaRPr lang="en-US" sz="1900" dirty="0" smtClean="0">
              <a:cs typeface="B Zar" panose="00000400000000000000" pitchFamily="50" charset="-78"/>
            </a:endParaRPr>
          </a:p>
          <a:p>
            <a:pPr marL="342900" indent="-342900" algn="just" rtl="1">
              <a:spcBef>
                <a:spcPts val="1200"/>
              </a:spcBef>
              <a:spcAft>
                <a:spcPts val="1200"/>
              </a:spcAft>
              <a:buFont typeface="Wingdings" panose="05000000000000000000" pitchFamily="2" charset="2"/>
              <a:buChar char="q"/>
            </a:pPr>
            <a:r>
              <a:rPr lang="fa-IR" sz="1900" dirty="0" smtClean="0">
                <a:cs typeface="B Zar" panose="00000400000000000000" pitchFamily="50" charset="-78"/>
              </a:rPr>
              <a:t>  افزایش </a:t>
            </a:r>
            <a:r>
              <a:rPr lang="en-US" dirty="0" smtClean="0">
                <a:latin typeface="Times New Roman" panose="02020603050405020304" pitchFamily="18" charset="0"/>
                <a:cs typeface="Times New Roman" panose="02020603050405020304" pitchFamily="18" charset="0"/>
              </a:rPr>
              <a:t>FN</a:t>
            </a:r>
            <a:r>
              <a:rPr lang="fa-IR" sz="1900" dirty="0" smtClean="0">
                <a:cs typeface="B Zar" panose="00000400000000000000" pitchFamily="50" charset="-78"/>
              </a:rPr>
              <a:t> باعث </a:t>
            </a:r>
            <a:r>
              <a:rPr lang="fa-IR" sz="1900" dirty="0">
                <a:cs typeface="B Zar" panose="00000400000000000000" pitchFamily="50" charset="-78"/>
              </a:rPr>
              <a:t>کاهش فراخوانی </a:t>
            </a:r>
            <a:r>
              <a:rPr lang="fa-IR" sz="1900" dirty="0" smtClean="0">
                <a:cs typeface="B Zar" panose="00000400000000000000" pitchFamily="50" charset="-78"/>
              </a:rPr>
              <a:t>می‌شود</a:t>
            </a:r>
            <a:endParaRPr lang="en-US" sz="1900" dirty="0" smtClean="0">
              <a:cs typeface="B Zar" panose="00000400000000000000" pitchFamily="50" charset="-78"/>
            </a:endParaRPr>
          </a:p>
          <a:p>
            <a:pPr marL="342900" indent="-342900" algn="just" rtl="1">
              <a:spcBef>
                <a:spcPts val="1200"/>
              </a:spcBef>
              <a:spcAft>
                <a:spcPts val="1200"/>
              </a:spcAft>
              <a:buFont typeface="Wingdings" panose="05000000000000000000" pitchFamily="2" charset="2"/>
              <a:buChar char="q"/>
            </a:pPr>
            <a:r>
              <a:rPr lang="fa-IR" sz="1900" dirty="0" smtClean="0">
                <a:cs typeface="B Zar" panose="00000400000000000000" pitchFamily="50" charset="-78"/>
              </a:rPr>
              <a:t>  </a:t>
            </a:r>
            <a:r>
              <a:rPr lang="fa-IR" sz="1900" dirty="0">
                <a:cs typeface="B Zar" panose="00000400000000000000" pitchFamily="50" charset="-78"/>
              </a:rPr>
              <a:t>فراخوانی بالا یعنی اشیای کمتری از دست می‌روند</a:t>
            </a:r>
            <a:endParaRPr lang="en-US" sz="1900" dirty="0">
              <a:cs typeface="B Zar" panose="00000400000000000000" pitchFamily="50" charset="-78"/>
            </a:endParaRPr>
          </a:p>
        </p:txBody>
      </p:sp>
      <p:sp>
        <p:nvSpPr>
          <p:cNvPr id="58" name="TextBox 57"/>
          <p:cNvSpPr txBox="1"/>
          <p:nvPr/>
        </p:nvSpPr>
        <p:spPr>
          <a:xfrm>
            <a:off x="373357" y="2895072"/>
            <a:ext cx="3561987" cy="2862322"/>
          </a:xfrm>
          <a:prstGeom prst="rect">
            <a:avLst/>
          </a:prstGeom>
          <a:noFill/>
        </p:spPr>
        <p:txBody>
          <a:bodyPr wrap="square" rtlCol="0">
            <a:spAutoFit/>
          </a:bodyPr>
          <a:lstStyle/>
          <a:p>
            <a:pPr marL="342900" indent="-342900" algn="just" rtl="1">
              <a:spcBef>
                <a:spcPts val="1200"/>
              </a:spcBef>
              <a:spcAft>
                <a:spcPts val="1200"/>
              </a:spcAft>
              <a:buFont typeface="Wingdings" panose="05000000000000000000" pitchFamily="2" charset="2"/>
              <a:buChar char="q"/>
            </a:pPr>
            <a:r>
              <a:rPr lang="fa-IR" sz="1900" dirty="0">
                <a:cs typeface="B Zar" panose="00000400000000000000" pitchFamily="50" charset="-78"/>
              </a:rPr>
              <a:t>میانگین هماهنگ دقت و فراخوانی است</a:t>
            </a:r>
            <a:endParaRPr lang="en-US" sz="1900" dirty="0">
              <a:cs typeface="B Zar" panose="00000400000000000000" pitchFamily="50" charset="-78"/>
            </a:endParaRPr>
          </a:p>
          <a:p>
            <a:pPr marL="342900" indent="-342900" algn="just" rtl="1">
              <a:spcBef>
                <a:spcPts val="1200"/>
              </a:spcBef>
              <a:spcAft>
                <a:spcPts val="1200"/>
              </a:spcAft>
              <a:buFont typeface="Wingdings" panose="05000000000000000000" pitchFamily="2" charset="2"/>
              <a:buChar char="q"/>
            </a:pPr>
            <a:r>
              <a:rPr lang="fa-IR" sz="1900" dirty="0">
                <a:cs typeface="B Zar" panose="00000400000000000000" pitchFamily="50" charset="-78"/>
              </a:rPr>
              <a:t>فقط وقتی مقدار بالایی می‌گیرد که هر دو معیار مناسب باشند  </a:t>
            </a:r>
            <a:endParaRPr lang="en-US" sz="1900" dirty="0">
              <a:cs typeface="B Zar" panose="00000400000000000000" pitchFamily="50" charset="-78"/>
            </a:endParaRPr>
          </a:p>
          <a:p>
            <a:pPr marL="342900" indent="-342900" algn="just" rtl="1">
              <a:spcBef>
                <a:spcPts val="1200"/>
              </a:spcBef>
              <a:spcAft>
                <a:spcPts val="1200"/>
              </a:spcAft>
              <a:buFont typeface="Wingdings" panose="05000000000000000000" pitchFamily="2" charset="2"/>
              <a:buChar char="q"/>
            </a:pPr>
            <a:r>
              <a:rPr lang="fa-IR" sz="1900" dirty="0">
                <a:cs typeface="B Zar" panose="00000400000000000000" pitchFamily="50" charset="-78"/>
              </a:rPr>
              <a:t>برای ارزیابی متعادل مدل استفاده می‌شود  </a:t>
            </a:r>
            <a:endParaRPr lang="en-US" sz="1900" dirty="0">
              <a:cs typeface="B Zar" panose="00000400000000000000" pitchFamily="50" charset="-78"/>
            </a:endParaRPr>
          </a:p>
          <a:p>
            <a:pPr marL="342900" indent="-342900" algn="just" rtl="1">
              <a:spcBef>
                <a:spcPts val="1200"/>
              </a:spcBef>
              <a:spcAft>
                <a:spcPts val="1200"/>
              </a:spcAft>
              <a:buFont typeface="Wingdings" panose="05000000000000000000" pitchFamily="2" charset="2"/>
              <a:buChar char="q"/>
            </a:pPr>
            <a:r>
              <a:rPr lang="fa-IR" sz="1900" dirty="0">
                <a:cs typeface="B Zar" panose="00000400000000000000" pitchFamily="50" charset="-78"/>
              </a:rPr>
              <a:t>اگر یکی از دو معیار ضعیف باشد، </a:t>
            </a:r>
            <a:r>
              <a:rPr lang="en-US" dirty="0">
                <a:latin typeface="Times New Roman" panose="02020603050405020304" pitchFamily="18" charset="0"/>
                <a:cs typeface="Times New Roman" panose="02020603050405020304" pitchFamily="18" charset="0"/>
              </a:rPr>
              <a:t>F1</a:t>
            </a:r>
            <a:r>
              <a:rPr lang="fa-IR" sz="1900" dirty="0">
                <a:cs typeface="B Zar" panose="00000400000000000000" pitchFamily="50" charset="-78"/>
              </a:rPr>
              <a:t> نیز کاهش می‌یابد</a:t>
            </a:r>
            <a:endParaRPr lang="en-US" sz="1900" dirty="0">
              <a:cs typeface="B Zar" panose="00000400000000000000" pitchFamily="50" charset="-78"/>
            </a:endParaRPr>
          </a:p>
        </p:txBody>
      </p:sp>
      <p:sp>
        <p:nvSpPr>
          <p:cNvPr id="59" name="ارجاع فرمول‌ها"/>
          <p:cNvSpPr txBox="1"/>
          <p:nvPr/>
        </p:nvSpPr>
        <p:spPr>
          <a:xfrm>
            <a:off x="8367252" y="6366574"/>
            <a:ext cx="3161841" cy="553998"/>
          </a:xfrm>
          <a:prstGeom prst="rect">
            <a:avLst/>
          </a:prstGeom>
          <a:noFill/>
        </p:spPr>
        <p:txBody>
          <a:bodyPr wrap="square" lIns="0" tIns="0" rIns="0" bIns="0">
            <a:spAutoFit/>
          </a:bodyPr>
          <a:lstStyle/>
          <a:p>
            <a:pPr algn="r" rtl="1"/>
            <a:r>
              <a:rPr lang="fa-IR" dirty="0">
                <a:solidFill>
                  <a:srgbClr val="263D4F"/>
                </a:solidFill>
                <a:latin typeface="B Zar"/>
                <a:ea typeface="B Zar"/>
                <a:cs typeface="B Zar"/>
              </a:rPr>
              <a:t>مرجع [۵]: </a:t>
            </a:r>
            <a:r>
              <a:rPr lang="fa-IR" dirty="0" smtClean="0">
                <a:solidFill>
                  <a:srgbClr val="263D4F"/>
                </a:solidFill>
                <a:latin typeface="B Zar"/>
                <a:ea typeface="B Zar"/>
                <a:cs typeface="B Zar"/>
              </a:rPr>
              <a:t>روابط دقت، فراخوانی و امتیاز </a:t>
            </a:r>
            <a:r>
              <a:rPr lang="en-US" sz="1700" dirty="0" smtClean="0">
                <a:solidFill>
                  <a:srgbClr val="263D4F"/>
                </a:solidFill>
                <a:latin typeface="Times New Roman" panose="02020603050405020304" pitchFamily="18" charset="0"/>
                <a:ea typeface="B Zar"/>
                <a:cs typeface="Times New Roman" panose="02020603050405020304" pitchFamily="18" charset="0"/>
              </a:rPr>
              <a:t>F1</a:t>
            </a:r>
            <a:endParaRPr lang="fa-IR" sz="1700" dirty="0">
              <a:solidFill>
                <a:srgbClr val="263D4F"/>
              </a:solidFill>
              <a:latin typeface="Times New Roman" panose="02020603050405020304" pitchFamily="18" charset="0"/>
              <a:ea typeface="B Zar"/>
              <a:cs typeface="Times New Roman" panose="02020603050405020304" pitchFamily="18" charset="0"/>
            </a:endParaRPr>
          </a:p>
          <a:p>
            <a:pPr algn="r" rtl="1"/>
            <a:endParaRPr lang="fa-IR" dirty="0">
              <a:solidFill>
                <a:srgbClr val="263D4F"/>
              </a:solidFill>
              <a:latin typeface="B Zar"/>
              <a:ea typeface="B Zar"/>
              <a:cs typeface="B Zar"/>
            </a:endParaRPr>
          </a:p>
        </p:txBody>
      </p:sp>
    </p:spTree>
    <p:extLst>
      <p:ext uri="{BB962C8B-B14F-4D97-AF65-F5344CB8AC3E}">
        <p14:creationId xmlns:p14="http://schemas.microsoft.com/office/powerpoint/2010/main" val="3319958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fade">
                                      <p:cBhvr>
                                        <p:cTn id="13" dur="500"/>
                                        <p:tgtEl>
                                          <p:spTgt spid="4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fade">
                                      <p:cBhvr>
                                        <p:cTn id="16" dur="500"/>
                                        <p:tgtEl>
                                          <p:spTgt spid="4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500"/>
                                        <p:tgtEl>
                                          <p:spTgt spid="5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4"/>
                                        </p:tgtEl>
                                        <p:attrNameLst>
                                          <p:attrName>style.visibility</p:attrName>
                                        </p:attrNameLst>
                                      </p:cBhvr>
                                      <p:to>
                                        <p:strVal val="visible"/>
                                      </p:to>
                                    </p:set>
                                    <p:animEffect transition="in" filter="fade">
                                      <p:cBhvr>
                                        <p:cTn id="30" dur="500"/>
                                        <p:tgtEl>
                                          <p:spTgt spid="4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1"/>
                                        </p:tgtEl>
                                        <p:attrNameLst>
                                          <p:attrName>style.visibility</p:attrName>
                                        </p:attrNameLst>
                                      </p:cBhvr>
                                      <p:to>
                                        <p:strVal val="visible"/>
                                      </p:to>
                                    </p:set>
                                    <p:animEffect transition="in" filter="fade">
                                      <p:cBhvr>
                                        <p:cTn id="33" dur="500"/>
                                        <p:tgtEl>
                                          <p:spTgt spid="4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3"/>
                                        </p:tgtEl>
                                        <p:attrNameLst>
                                          <p:attrName>style.visibility</p:attrName>
                                        </p:attrNameLst>
                                      </p:cBhvr>
                                      <p:to>
                                        <p:strVal val="visible"/>
                                      </p:to>
                                    </p:set>
                                    <p:animEffect transition="in" filter="fade">
                                      <p:cBhvr>
                                        <p:cTn id="36" dur="500"/>
                                        <p:tgtEl>
                                          <p:spTgt spid="5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40"/>
                                        </p:tgtEl>
                                        <p:attrNameLst>
                                          <p:attrName>style.visibility</p:attrName>
                                        </p:attrNameLst>
                                      </p:cBhvr>
                                      <p:to>
                                        <p:strVal val="visible"/>
                                      </p:to>
                                    </p:set>
                                    <p:animEffect transition="in" filter="fade">
                                      <p:cBhvr>
                                        <p:cTn id="41" dur="500"/>
                                        <p:tgtEl>
                                          <p:spTgt spid="4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5"/>
                                        </p:tgtEl>
                                        <p:attrNameLst>
                                          <p:attrName>style.visibility</p:attrName>
                                        </p:attrNameLst>
                                      </p:cBhvr>
                                      <p:to>
                                        <p:strVal val="visible"/>
                                      </p:to>
                                    </p:set>
                                    <p:animEffect transition="in" filter="fade">
                                      <p:cBhvr>
                                        <p:cTn id="44" dur="500"/>
                                        <p:tgtEl>
                                          <p:spTgt spid="4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58"/>
                                        </p:tgtEl>
                                        <p:attrNameLst>
                                          <p:attrName>style.visibility</p:attrName>
                                        </p:attrNameLst>
                                      </p:cBhvr>
                                      <p:to>
                                        <p:strVal val="visible"/>
                                      </p:to>
                                    </p:set>
                                    <p:animEffect transition="in" filter="fade">
                                      <p:cBhvr>
                                        <p:cTn id="47" dur="500"/>
                                        <p:tgtEl>
                                          <p:spTgt spid="5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fade">
                                      <p:cBhvr>
                                        <p:cTn id="50" dur="500"/>
                                        <p:tgtEl>
                                          <p:spTgt spid="32"/>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8" grpId="0"/>
      <p:bldP spid="16" grpId="0"/>
      <p:bldP spid="32" grpId="0"/>
      <p:bldP spid="33" grpId="0"/>
      <p:bldP spid="43" grpId="0" animBg="1"/>
      <p:bldP spid="42" grpId="0" animBg="1"/>
      <p:bldP spid="44" grpId="0" animBg="1"/>
      <p:bldP spid="45" grpId="0" animBg="1"/>
      <p:bldP spid="41" grpId="0" animBg="1"/>
      <p:bldP spid="40" grpId="0" animBg="1"/>
      <p:bldP spid="50" grpId="0"/>
      <p:bldP spid="53" grpId="0"/>
      <p:bldP spid="58"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B59D151-27E6-4178-A5B2-8754E020B817}"/>
              </a:ext>
            </a:extLst>
          </p:cNvPr>
          <p:cNvSpPr>
            <a:spLocks noGrp="1"/>
          </p:cNvSpPr>
          <p:nvPr/>
        </p:nvSpPr>
        <p:spPr>
          <a:xfrm>
            <a:off x="380004" y="6323708"/>
            <a:ext cx="1087269" cy="428017"/>
          </a:xfrm>
          <a:prstGeom prst="rect">
            <a:avLst/>
          </a:prstGeom>
          <a:noFill/>
          <a:ln w="0">
            <a:noFill/>
          </a:ln>
        </p:spPr>
        <p:txBody>
          <a:bodyPr lIns="57150" tIns="38100" rIns="57150" bIns="38100" anchor="ctr">
            <a:noAutofit/>
          </a:bodyPr>
          <a:lstStyle/>
          <a:p>
            <a:pPr algn="r" rtl="1">
              <a:defRPr sz="1600" b="0">
                <a:solidFill>
                  <a:srgbClr val="52626E"/>
                </a:solidFill>
                <a:latin typeface="B Zar"/>
                <a:ea typeface="B Zar"/>
                <a:cs typeface="B Zar"/>
              </a:defRPr>
            </a:pPr>
            <a:r>
              <a:rPr lang="fa-IR" altLang="fa-IR" sz="1600" b="0" smtClean="0">
                <a:solidFill>
                  <a:srgbClr val="52626E"/>
                </a:solidFill>
                <a:latin typeface="B Zar"/>
                <a:ea typeface="B Zar"/>
                <a:cs typeface="B Zar"/>
              </a:rPr>
              <a:t>صفحه ۸ از ۳۱</a:t>
            </a:r>
            <a:endParaRPr lang="fa-IR" altLang="fa-IR" sz="1600" b="0" dirty="0">
              <a:solidFill>
                <a:srgbClr val="52626E"/>
              </a:solidFill>
              <a:latin typeface="B Zar"/>
              <a:ea typeface="B Zar"/>
              <a:cs typeface="B Zar"/>
            </a:endParaRPr>
          </a:p>
        </p:txBody>
      </p:sp>
      <p:sp>
        <p:nvSpPr>
          <p:cNvPr id="26" name="Rectangle 25">
            <a:extLst>
              <a:ext uri="{FF2B5EF4-FFF2-40B4-BE49-F238E27FC236}">
                <a16:creationId xmlns:a16="http://schemas.microsoft.com/office/drawing/2014/main" id="{C4452ECC-0329-42FD-A992-5D81CCFFD581}"/>
              </a:ext>
            </a:extLst>
          </p:cNvPr>
          <p:cNvSpPr>
            <a:spLocks noGrp="1"/>
          </p:cNvSpPr>
          <p:nvPr/>
        </p:nvSpPr>
        <p:spPr>
          <a:xfrm>
            <a:off x="1744797" y="216287"/>
            <a:ext cx="10096500" cy="485775"/>
          </a:xfrm>
          <a:prstGeom prst="rect">
            <a:avLst/>
          </a:prstGeom>
          <a:noFill/>
          <a:ln w="0">
            <a:noFill/>
          </a:ln>
        </p:spPr>
        <p:txBody>
          <a:bodyPr lIns="57150" tIns="38100" rIns="57150" bIns="38100" anchor="ctr">
            <a:noAutofit/>
          </a:bodyPr>
          <a:lstStyle/>
          <a:p>
            <a:pPr algn="r" rtl="1">
              <a:defRPr sz="3100" b="1">
                <a:solidFill>
                  <a:srgbClr val="173E5A"/>
                </a:solidFill>
                <a:latin typeface="B Zar"/>
                <a:ea typeface="B Zar"/>
                <a:cs typeface="B Zar"/>
              </a:defRPr>
            </a:pPr>
            <a:r>
              <a:rPr lang="fa-IR" altLang="fa-IR" sz="3000" b="1" dirty="0" smtClean="0">
                <a:solidFill>
                  <a:srgbClr val="173E5A"/>
                </a:solidFill>
                <a:latin typeface="Times New Roman" panose="02020603050405020304" pitchFamily="18" charset="0"/>
                <a:ea typeface="B Zar"/>
                <a:cs typeface="Times New Roman" panose="02020603050405020304" pitchFamily="18" charset="0"/>
              </a:rPr>
              <a:t>دقت متوسط و میانگین دقت متوسط</a:t>
            </a:r>
            <a:endParaRPr lang="fa-IR" altLang="fa-IR" sz="3000" b="1" dirty="0">
              <a:solidFill>
                <a:srgbClr val="173E5A"/>
              </a:solidFill>
              <a:latin typeface="Times New Roman" panose="02020603050405020304" pitchFamily="18" charset="0"/>
              <a:ea typeface="B Zar"/>
              <a:cs typeface="Times New Roman" panose="02020603050405020304" pitchFamily="18" charset="0"/>
            </a:endParaRPr>
          </a:p>
        </p:txBody>
      </p:sp>
      <p:sp>
        <p:nvSpPr>
          <p:cNvPr id="3" name="TextBox 2"/>
          <p:cNvSpPr txBox="1"/>
          <p:nvPr/>
        </p:nvSpPr>
        <p:spPr>
          <a:xfrm>
            <a:off x="8192433" y="1202283"/>
            <a:ext cx="3639452" cy="403504"/>
          </a:xfrm>
          <a:prstGeom prst="rect">
            <a:avLst/>
          </a:prstGeom>
          <a:noFill/>
        </p:spPr>
        <p:txBody>
          <a:bodyPr vert="horz" wrap="square" lIns="0" tIns="0" rIns="0" bIns="0" rtlCol="0">
            <a:noAutofit/>
          </a:bodyPr>
          <a:lstStyle/>
          <a:p>
            <a:pPr algn="ctr" rtl="1"/>
            <a:r>
              <a:rPr lang="fa-IR" sz="2700" b="1" dirty="0" smtClean="0">
                <a:solidFill>
                  <a:srgbClr val="197EA3"/>
                </a:solidFill>
                <a:cs typeface="B Zar" panose="00000400000000000000" pitchFamily="50" charset="-78"/>
              </a:rPr>
              <a:t>‏</a:t>
            </a:r>
            <a:r>
              <a:rPr lang="fa-IR" sz="2800" b="1" dirty="0">
                <a:solidFill>
                  <a:srgbClr val="197EA3"/>
                </a:solidFill>
                <a:cs typeface="B Zar" panose="00000400000000000000" pitchFamily="50" charset="-78"/>
              </a:rPr>
              <a:t>دقت متوسط برای هر رده</a:t>
            </a:r>
            <a:endParaRPr lang="en-US" sz="2800" b="1" dirty="0">
              <a:solidFill>
                <a:srgbClr val="197EA3"/>
              </a:solidFill>
              <a:cs typeface="B Zar" panose="00000400000000000000" pitchFamily="50" charset="-78"/>
            </a:endParaRPr>
          </a:p>
          <a:p>
            <a:pPr algn="ctr" rtl="1"/>
            <a:endParaRPr lang="en-US" sz="2700" b="1" dirty="0">
              <a:solidFill>
                <a:srgbClr val="197EA3"/>
              </a:solidFill>
              <a:cs typeface="B Zar" panose="00000400000000000000" pitchFamily="50" charset="-78"/>
            </a:endParaRPr>
          </a:p>
        </p:txBody>
      </p:sp>
      <mc:AlternateContent xmlns:mc="http://schemas.openxmlformats.org/markup-compatibility/2006" xmlns:a14="http://schemas.microsoft.com/office/drawing/2010/main">
        <mc:Choice Requires="a14">
          <p:sp>
            <p:nvSpPr>
              <p:cNvPr id="5" name="TextBox 4"/>
              <p:cNvSpPr txBox="1"/>
              <p:nvPr/>
            </p:nvSpPr>
            <p:spPr>
              <a:xfrm>
                <a:off x="8495227" y="1617234"/>
                <a:ext cx="3033865" cy="914169"/>
              </a:xfrm>
              <a:prstGeom prst="rect">
                <a:avLst/>
              </a:prstGeom>
              <a:noFill/>
            </p:spPr>
            <p:txBody>
              <a:bodyPr vert="horz" wrap="square" lIns="0" tIns="0" rIns="0" bIns="0" rtlCol="0">
                <a:noAutofit/>
              </a:bodyPr>
              <a:lstStyle/>
              <a:p>
                <a:pPr algn="ctr">
                  <a:lnSpc>
                    <a:spcPct val="150000"/>
                  </a:lnSpc>
                </a:pP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rPr>
                        <m:t>𝐴𝑃</m:t>
                      </m:r>
                      <m:r>
                        <a:rPr lang="en-US">
                          <a:latin typeface="Cambria Math" panose="02040503050406030204" pitchFamily="18" charset="0"/>
                        </a:rPr>
                        <m:t> = </m:t>
                      </m:r>
                      <m:nary>
                        <m:naryPr>
                          <m:limLoc m:val="subSup"/>
                          <m:ctrlPr>
                            <a:rPr lang="en-US" i="1">
                              <a:latin typeface="Cambria Math" panose="02040503050406030204" pitchFamily="18" charset="0"/>
                            </a:rPr>
                          </m:ctrlPr>
                        </m:naryPr>
                        <m:sub>
                          <m:r>
                            <a:rPr lang="en-US">
                              <a:latin typeface="Cambria Math" panose="02040503050406030204" pitchFamily="18" charset="0"/>
                            </a:rPr>
                            <m:t>0</m:t>
                          </m:r>
                        </m:sub>
                        <m:sup>
                          <m:r>
                            <a:rPr lang="en-US">
                              <a:latin typeface="Cambria Math" panose="02040503050406030204" pitchFamily="18" charset="0"/>
                            </a:rPr>
                            <m:t>1</m:t>
                          </m:r>
                        </m:sup>
                        <m:e>
                          <m:r>
                            <a:rPr lang="en-US">
                              <a:latin typeface="Cambria Math" panose="02040503050406030204" pitchFamily="18" charset="0"/>
                            </a:rPr>
                            <m:t>𝑃</m:t>
                          </m:r>
                          <m:r>
                            <a:rPr lang="en-US">
                              <a:latin typeface="Cambria Math" panose="02040503050406030204" pitchFamily="18" charset="0"/>
                            </a:rPr>
                            <m:t>(</m:t>
                          </m:r>
                          <m:r>
                            <a:rPr lang="en-US">
                              <a:latin typeface="Cambria Math" panose="02040503050406030204" pitchFamily="18" charset="0"/>
                            </a:rPr>
                            <m:t>𝑟</m:t>
                          </m:r>
                          <m:r>
                            <a:rPr lang="en-US">
                              <a:latin typeface="Cambria Math" panose="02040503050406030204" pitchFamily="18" charset="0"/>
                            </a:rPr>
                            <m:t>) </m:t>
                          </m:r>
                          <m:r>
                            <a:rPr lang="en-US">
                              <a:latin typeface="Cambria Math" panose="02040503050406030204" pitchFamily="18" charset="0"/>
                            </a:rPr>
                            <m:t>𝑑𝑟</m:t>
                          </m:r>
                        </m:e>
                      </m:nary>
                    </m:oMath>
                  </m:oMathPara>
                </a14:m>
                <a:endParaRPr lang="en-US" dirty="0">
                  <a:latin typeface="B Zar" panose="00000400000000000000" pitchFamily="50" charset="-78"/>
                  <a:ea typeface="MS Mincho" panose="02020609040205080304" pitchFamily="49" charset="-128"/>
                  <a:cs typeface="B Zar" panose="00000400000000000000" pitchFamily="50" charset="-78"/>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8495227" y="1617234"/>
                <a:ext cx="3033865" cy="914169"/>
              </a:xfrm>
              <a:prstGeom prst="rect">
                <a:avLst/>
              </a:prstGeom>
              <a:blipFill>
                <a:blip r:embed="rId3"/>
                <a:stretch>
                  <a:fillRect/>
                </a:stretch>
              </a:blipFill>
            </p:spPr>
            <p:txBody>
              <a:bodyPr/>
              <a:lstStyle/>
              <a:p>
                <a:r>
                  <a:rPr lang="en-US">
                    <a:noFill/>
                  </a:rPr>
                  <a:t> </a:t>
                </a:r>
              </a:p>
            </p:txBody>
          </p:sp>
        </mc:Fallback>
      </mc:AlternateContent>
      <p:sp>
        <p:nvSpPr>
          <p:cNvPr id="8" name="TextBox 7"/>
          <p:cNvSpPr txBox="1"/>
          <p:nvPr/>
        </p:nvSpPr>
        <p:spPr>
          <a:xfrm>
            <a:off x="5040045" y="1199989"/>
            <a:ext cx="2129094" cy="505187"/>
          </a:xfrm>
          <a:prstGeom prst="rect">
            <a:avLst/>
          </a:prstGeom>
          <a:noFill/>
        </p:spPr>
        <p:txBody>
          <a:bodyPr vert="horz" wrap="square" lIns="0" tIns="0" rIns="0" bIns="0" rtlCol="0">
            <a:noAutofit/>
          </a:bodyPr>
          <a:lstStyle/>
          <a:p>
            <a:pPr algn="ctr" rtl="1"/>
            <a:r>
              <a:rPr lang="fa-IR" sz="2700" b="1" dirty="0" smtClean="0">
                <a:solidFill>
                  <a:srgbClr val="219653"/>
                </a:solidFill>
                <a:cs typeface="B Zar" panose="00000400000000000000" pitchFamily="50" charset="-78"/>
              </a:rPr>
              <a:t>‏</a:t>
            </a:r>
            <a:r>
              <a:rPr lang="en-US" sz="2700" b="1" dirty="0" smtClean="0">
                <a:solidFill>
                  <a:srgbClr val="219653"/>
                </a:solidFill>
                <a:cs typeface="B Zar" panose="00000400000000000000" pitchFamily="50" charset="-78"/>
              </a:rPr>
              <a:t>mAP@0.5</a:t>
            </a:r>
            <a:endParaRPr lang="en-US" sz="2700" b="1" dirty="0">
              <a:solidFill>
                <a:srgbClr val="219653"/>
              </a:solidFill>
              <a:cs typeface="B Zar" panose="00000400000000000000" pitchFamily="50" charset="-78"/>
            </a:endParaRPr>
          </a:p>
        </p:txBody>
      </p:sp>
      <p:pic>
        <p:nvPicPr>
          <p:cNvPr id="15" name="Picture 14"/>
          <p:cNvPicPr>
            <a:picLocks/>
          </p:cNvPicPr>
          <p:nvPr/>
        </p:nvPicPr>
        <p:blipFill>
          <a:blip r:embed="rId4" cstate="hqprint">
            <a:extLst>
              <a:ext uri="{28A0092B-C50C-407E-A947-70E740481C1C}">
                <a14:useLocalDpi xmlns:a14="http://schemas.microsoft.com/office/drawing/2010/main" val="0"/>
              </a:ext>
            </a:extLst>
          </a:blip>
          <a:stretch>
            <a:fillRect/>
          </a:stretch>
        </p:blipFill>
        <p:spPr>
          <a:xfrm>
            <a:off x="429768" y="192024"/>
            <a:ext cx="539496" cy="630936"/>
          </a:xfrm>
          <a:prstGeom prst="rect">
            <a:avLst/>
          </a:prstGeom>
        </p:spPr>
      </p:pic>
      <mc:AlternateContent xmlns:mc="http://schemas.openxmlformats.org/markup-compatibility/2006" xmlns:a14="http://schemas.microsoft.com/office/drawing/2010/main">
        <mc:Choice Requires="a14">
          <p:sp>
            <p:nvSpPr>
              <p:cNvPr id="32" name="Rectangle 31"/>
              <p:cNvSpPr/>
              <p:nvPr/>
            </p:nvSpPr>
            <p:spPr>
              <a:xfrm>
                <a:off x="252580" y="1753583"/>
                <a:ext cx="3862532" cy="90242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𝑚𝐴𝑃</m:t>
                      </m:r>
                      <m:r>
                        <a:rPr lang="en-US" i="1" smtClean="0">
                          <a:latin typeface="Cambria Math" panose="02040503050406030204" pitchFamily="18" charset="0"/>
                        </a:rPr>
                        <m:t>@</m:t>
                      </m:r>
                      <m:r>
                        <a:rPr lang="en-US" i="1" smtClean="0">
                          <a:latin typeface="Cambria Math" panose="02040503050406030204" pitchFamily="18" charset="0"/>
                        </a:rPr>
                        <m:t>0</m:t>
                      </m:r>
                      <m:r>
                        <a:rPr lang="en-US" i="1" smtClean="0">
                          <a:latin typeface="Cambria Math" panose="02040503050406030204" pitchFamily="18" charset="0"/>
                        </a:rPr>
                        <m:t>.</m:t>
                      </m:r>
                      <m:r>
                        <a:rPr lang="en-US" i="1" smtClean="0">
                          <a:latin typeface="Cambria Math" panose="02040503050406030204" pitchFamily="18" charset="0"/>
                        </a:rPr>
                        <m:t>5</m:t>
                      </m:r>
                      <m:r>
                        <a:rPr lang="en-US" i="1" smtClean="0">
                          <a:latin typeface="Cambria Math" panose="02040503050406030204" pitchFamily="18" charset="0"/>
                        </a:rPr>
                        <m:t>:</m:t>
                      </m:r>
                      <m:r>
                        <a:rPr lang="en-US" i="1" smtClean="0">
                          <a:latin typeface="Cambria Math" panose="02040503050406030204" pitchFamily="18" charset="0"/>
                        </a:rPr>
                        <m:t>0</m:t>
                      </m:r>
                      <m:r>
                        <a:rPr lang="en-US" i="1" smtClean="0">
                          <a:latin typeface="Cambria Math" panose="02040503050406030204" pitchFamily="18" charset="0"/>
                        </a:rPr>
                        <m:t>.</m:t>
                      </m:r>
                      <m:r>
                        <a:rPr lang="en-US" i="1" smtClean="0">
                          <a:latin typeface="Cambria Math" panose="02040503050406030204" pitchFamily="18" charset="0"/>
                        </a:rPr>
                        <m:t>95</m:t>
                      </m:r>
                      <m:r>
                        <a:rPr lang="en-US"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10</m:t>
                          </m:r>
                        </m:den>
                      </m:f>
                      <m:nary>
                        <m:naryPr>
                          <m:chr m:val="∑"/>
                          <m:limLoc m:val="undOvr"/>
                          <m:ctrlPr>
                            <a:rPr lang="en-US" i="1">
                              <a:latin typeface="Cambria Math" panose="02040503050406030204" pitchFamily="18" charset="0"/>
                            </a:rPr>
                          </m:ctrlPr>
                        </m:naryPr>
                        <m:sub>
                          <m: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1</m:t>
                          </m:r>
                        </m:sub>
                        <m:sup>
                          <m:r>
                            <a:rPr lang="en-US" i="1">
                              <a:latin typeface="Cambria Math" panose="02040503050406030204" pitchFamily="18" charset="0"/>
                            </a:rPr>
                            <m:t>10</m:t>
                          </m:r>
                        </m:sup>
                        <m:e>
                          <m:r>
                            <a:rPr lang="en-US" b="0" i="1" smtClean="0">
                              <a:latin typeface="Cambria Math" panose="02040503050406030204" pitchFamily="18" charset="0"/>
                            </a:rPr>
                            <m:t>𝑚𝐴𝑃</m:t>
                          </m:r>
                          <m:r>
                            <a:rPr lang="en-US"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𝐼𝑜𝑈</m:t>
                              </m:r>
                            </m:e>
                            <m:sub>
                              <m:r>
                                <a:rPr lang="en-US" i="1">
                                  <a:latin typeface="Cambria Math" panose="02040503050406030204" pitchFamily="18" charset="0"/>
                                </a:rPr>
                                <m:t>𝑗</m:t>
                              </m:r>
                            </m:sub>
                          </m:sSub>
                          <m:r>
                            <a:rPr lang="en-US" i="1">
                              <a:latin typeface="Cambria Math" panose="02040503050406030204" pitchFamily="18" charset="0"/>
                            </a:rPr>
                            <m:t>)</m:t>
                          </m:r>
                        </m:e>
                      </m:nary>
                    </m:oMath>
                  </m:oMathPara>
                </a14:m>
                <a:endParaRPr lang="en-US" dirty="0"/>
              </a:p>
            </p:txBody>
          </p:sp>
        </mc:Choice>
        <mc:Fallback xmlns="">
          <p:sp>
            <p:nvSpPr>
              <p:cNvPr id="32" name="Rectangle 31"/>
              <p:cNvSpPr>
                <a:spLocks noRot="1" noChangeAspect="1" noMove="1" noResize="1" noEditPoints="1" noAdjustHandles="1" noChangeArrowheads="1" noChangeShapeType="1" noTextEdit="1"/>
              </p:cNvSpPr>
              <p:nvPr/>
            </p:nvSpPr>
            <p:spPr>
              <a:xfrm>
                <a:off x="252580" y="1753583"/>
                <a:ext cx="3862532" cy="902427"/>
              </a:xfrm>
              <a:prstGeom prst="rect">
                <a:avLst/>
              </a:prstGeom>
              <a:blipFill>
                <a:blip r:embed="rId5"/>
                <a:stretch>
                  <a:fillRect/>
                </a:stretch>
              </a:blipFill>
            </p:spPr>
            <p:txBody>
              <a:bodyPr/>
              <a:lstStyle/>
              <a:p>
                <a:r>
                  <a:rPr lang="en-US">
                    <a:noFill/>
                  </a:rPr>
                  <a:t> </a:t>
                </a:r>
              </a:p>
            </p:txBody>
          </p:sp>
        </mc:Fallback>
      </mc:AlternateContent>
      <p:sp>
        <p:nvSpPr>
          <p:cNvPr id="33" name="TextBox 32"/>
          <p:cNvSpPr txBox="1"/>
          <p:nvPr/>
        </p:nvSpPr>
        <p:spPr>
          <a:xfrm>
            <a:off x="1119003" y="1197921"/>
            <a:ext cx="2129094" cy="505187"/>
          </a:xfrm>
          <a:prstGeom prst="rect">
            <a:avLst/>
          </a:prstGeom>
          <a:noFill/>
        </p:spPr>
        <p:txBody>
          <a:bodyPr vert="horz" wrap="square" lIns="0" tIns="0" rIns="0" bIns="0" rtlCol="0">
            <a:noAutofit/>
          </a:bodyPr>
          <a:lstStyle/>
          <a:p>
            <a:pPr algn="ctr" rtl="1"/>
            <a:r>
              <a:rPr lang="en-US" sz="2700" b="1" dirty="0" smtClean="0">
                <a:solidFill>
                  <a:schemeClr val="accent2">
                    <a:lumMod val="75000"/>
                  </a:schemeClr>
                </a:solidFill>
                <a:cs typeface="B Zar" panose="00000400000000000000" pitchFamily="50" charset="-78"/>
              </a:rPr>
              <a:t>mAP@0.5:0.95</a:t>
            </a:r>
            <a:endParaRPr lang="en-US" sz="2700" b="1" dirty="0">
              <a:solidFill>
                <a:schemeClr val="accent2">
                  <a:lumMod val="75000"/>
                </a:schemeClr>
              </a:solidFill>
              <a:cs typeface="B Zar" panose="00000400000000000000" pitchFamily="50" charset="-78"/>
            </a:endParaRPr>
          </a:p>
        </p:txBody>
      </p:sp>
      <p:sp>
        <p:nvSpPr>
          <p:cNvPr id="43" name="Rectangle 42"/>
          <p:cNvSpPr/>
          <p:nvPr/>
        </p:nvSpPr>
        <p:spPr>
          <a:xfrm>
            <a:off x="8094619" y="2792361"/>
            <a:ext cx="3835082" cy="3462523"/>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p:cNvSpPr/>
          <p:nvPr/>
        </p:nvSpPr>
        <p:spPr>
          <a:xfrm>
            <a:off x="8094619" y="1036235"/>
            <a:ext cx="3835082" cy="5218649"/>
          </a:xfrm>
          <a:prstGeom prst="rect">
            <a:avLst/>
          </a:prstGeom>
          <a:noFill/>
          <a:ln w="127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4187051" y="2792361"/>
            <a:ext cx="3835082" cy="3462523"/>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271634" y="2792360"/>
            <a:ext cx="3823833" cy="3462523"/>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just" rtl="1">
              <a:spcBef>
                <a:spcPts val="1200"/>
              </a:spcBef>
              <a:spcAft>
                <a:spcPts val="1200"/>
              </a:spcAft>
              <a:buFont typeface="Wingdings" panose="05000000000000000000" pitchFamily="2" charset="2"/>
              <a:buChar char="q"/>
            </a:pPr>
            <a:endParaRPr lang="en-US" dirty="0">
              <a:solidFill>
                <a:schemeClr val="tx1"/>
              </a:solidFill>
              <a:cs typeface="B Zar" panose="00000400000000000000" pitchFamily="50" charset="-78"/>
            </a:endParaRPr>
          </a:p>
        </p:txBody>
      </p:sp>
      <p:sp>
        <p:nvSpPr>
          <p:cNvPr id="41" name="Rectangle 40"/>
          <p:cNvSpPr/>
          <p:nvPr/>
        </p:nvSpPr>
        <p:spPr>
          <a:xfrm>
            <a:off x="4187051" y="1036235"/>
            <a:ext cx="3835082" cy="5218649"/>
          </a:xfrm>
          <a:prstGeom prst="rect">
            <a:avLst/>
          </a:prstGeom>
          <a:noFill/>
          <a:ln w="127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271635" y="1036235"/>
            <a:ext cx="3835082" cy="5218649"/>
          </a:xfrm>
          <a:prstGeom prst="rect">
            <a:avLst/>
          </a:prstGeom>
          <a:noFill/>
          <a:ln w="127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p:cNvSpPr txBox="1"/>
          <p:nvPr/>
        </p:nvSpPr>
        <p:spPr>
          <a:xfrm>
            <a:off x="8135774" y="2977044"/>
            <a:ext cx="3633439" cy="3093154"/>
          </a:xfrm>
          <a:prstGeom prst="rect">
            <a:avLst/>
          </a:prstGeom>
          <a:noFill/>
        </p:spPr>
        <p:txBody>
          <a:bodyPr wrap="square" rtlCol="0">
            <a:spAutoFit/>
          </a:bodyPr>
          <a:lstStyle/>
          <a:p>
            <a:pPr marL="342900" indent="-342900" algn="just" rtl="1">
              <a:spcBef>
                <a:spcPts val="1500"/>
              </a:spcBef>
              <a:spcAft>
                <a:spcPts val="1500"/>
              </a:spcAft>
              <a:buFont typeface="Wingdings" panose="05000000000000000000" pitchFamily="2" charset="2"/>
              <a:buChar char="q"/>
            </a:pPr>
            <a:r>
              <a:rPr lang="fa-IR" sz="1900" dirty="0" smtClean="0">
                <a:cs typeface="B Zar" panose="00000400000000000000" pitchFamily="50" charset="-78"/>
              </a:rPr>
              <a:t>محاسبه </a:t>
            </a:r>
            <a:r>
              <a:rPr lang="fa-IR" sz="1900" dirty="0">
                <a:cs typeface="B Zar" panose="00000400000000000000" pitchFamily="50" charset="-78"/>
              </a:rPr>
              <a:t>جداگانه برای هر </a:t>
            </a:r>
            <a:r>
              <a:rPr lang="fa-IR" sz="1900" dirty="0" smtClean="0">
                <a:cs typeface="B Zar" panose="00000400000000000000" pitchFamily="50" charset="-78"/>
              </a:rPr>
              <a:t>رده</a:t>
            </a:r>
          </a:p>
          <a:p>
            <a:pPr marL="342900" indent="-342900" algn="just" rtl="1">
              <a:spcBef>
                <a:spcPts val="1500"/>
              </a:spcBef>
              <a:spcAft>
                <a:spcPts val="1500"/>
              </a:spcAft>
              <a:buFont typeface="Wingdings" panose="05000000000000000000" pitchFamily="2" charset="2"/>
              <a:buChar char="q"/>
            </a:pPr>
            <a:r>
              <a:rPr lang="fa-IR" sz="1900" dirty="0" smtClean="0">
                <a:cs typeface="B Zar" panose="00000400000000000000" pitchFamily="50" charset="-78"/>
              </a:rPr>
              <a:t>بر </a:t>
            </a:r>
            <a:r>
              <a:rPr lang="fa-IR" sz="1900" dirty="0">
                <a:cs typeface="B Zar" panose="00000400000000000000" pitchFamily="50" charset="-78"/>
              </a:rPr>
              <a:t>پایه منحنی </a:t>
            </a:r>
            <a:r>
              <a:rPr lang="fa-IR" sz="1900" dirty="0" smtClean="0">
                <a:cs typeface="B Zar" panose="00000400000000000000" pitchFamily="50" charset="-78"/>
              </a:rPr>
              <a:t>دقت-فراخوانی</a:t>
            </a:r>
          </a:p>
          <a:p>
            <a:pPr marL="342900" indent="-342900" algn="just" rtl="1">
              <a:spcBef>
                <a:spcPts val="1500"/>
              </a:spcBef>
              <a:spcAft>
                <a:spcPts val="1500"/>
              </a:spcAft>
              <a:buFont typeface="Wingdings" panose="05000000000000000000" pitchFamily="2" charset="2"/>
              <a:buChar char="q"/>
            </a:pPr>
            <a:r>
              <a:rPr lang="fa-IR" dirty="0" smtClean="0">
                <a:cs typeface="B Zar" panose="00000400000000000000" pitchFamily="50" charset="-78"/>
              </a:rPr>
              <a:t>تعریف:</a:t>
            </a:r>
            <a:r>
              <a:rPr lang="fa-IR" sz="1900" dirty="0" smtClean="0">
                <a:cs typeface="B Zar" panose="00000400000000000000" pitchFamily="50" charset="-78"/>
              </a:rPr>
              <a:t> مساحت زیر منحنی دقت-فراخوانی</a:t>
            </a:r>
            <a:endParaRPr lang="en-US" sz="1900" dirty="0" smtClean="0">
              <a:cs typeface="B Zar" panose="00000400000000000000" pitchFamily="50" charset="-78"/>
            </a:endParaRPr>
          </a:p>
          <a:p>
            <a:pPr marL="342900" indent="-342900" algn="just" rtl="1">
              <a:spcBef>
                <a:spcPts val="1500"/>
              </a:spcBef>
              <a:spcAft>
                <a:spcPts val="1500"/>
              </a:spcAft>
              <a:buFont typeface="Wingdings" panose="05000000000000000000" pitchFamily="2" charset="2"/>
              <a:buChar char="q"/>
            </a:pPr>
            <a:r>
              <a:rPr lang="en-US" dirty="0" smtClean="0">
                <a:latin typeface="Times New Roman" panose="02020603050405020304" pitchFamily="18" charset="0"/>
                <a:cs typeface="Times New Roman" panose="02020603050405020304" pitchFamily="18" charset="0"/>
              </a:rPr>
              <a:t>AP</a:t>
            </a:r>
            <a:r>
              <a:rPr lang="fa-IR" sz="1900" dirty="0" smtClean="0">
                <a:cs typeface="B Zar" panose="00000400000000000000" pitchFamily="50" charset="-78"/>
              </a:rPr>
              <a:t> بیشتر = عملکرد بهتر</a:t>
            </a:r>
            <a:endParaRPr lang="en-US" sz="1900" dirty="0" smtClean="0">
              <a:cs typeface="B Zar" panose="00000400000000000000" pitchFamily="50" charset="-78"/>
            </a:endParaRPr>
          </a:p>
          <a:p>
            <a:pPr marL="342900" indent="-342900" algn="just" rtl="1">
              <a:spcBef>
                <a:spcPts val="1500"/>
              </a:spcBef>
              <a:spcAft>
                <a:spcPts val="1500"/>
              </a:spcAft>
              <a:buFont typeface="Wingdings" panose="05000000000000000000" pitchFamily="2" charset="2"/>
              <a:buChar char="q"/>
            </a:pPr>
            <a:endParaRPr lang="en-US" sz="1900" dirty="0">
              <a:cs typeface="B Zar" panose="00000400000000000000" pitchFamily="50" charset="-78"/>
            </a:endParaRPr>
          </a:p>
        </p:txBody>
      </p:sp>
      <mc:AlternateContent xmlns:mc="http://schemas.openxmlformats.org/markup-compatibility/2006" xmlns:a14="http://schemas.microsoft.com/office/drawing/2010/main">
        <mc:Choice Requires="a14">
          <p:sp>
            <p:nvSpPr>
              <p:cNvPr id="53" name="TextBox 52"/>
              <p:cNvSpPr txBox="1"/>
              <p:nvPr/>
            </p:nvSpPr>
            <p:spPr>
              <a:xfrm>
                <a:off x="4312202" y="2977044"/>
                <a:ext cx="3584780" cy="2769989"/>
              </a:xfrm>
              <a:prstGeom prst="rect">
                <a:avLst/>
              </a:prstGeom>
              <a:noFill/>
            </p:spPr>
            <p:txBody>
              <a:bodyPr wrap="square" rtlCol="0">
                <a:spAutoFit/>
              </a:bodyPr>
              <a:lstStyle/>
              <a:p>
                <a:pPr marL="342900" indent="-342900" algn="just" rtl="1">
                  <a:spcBef>
                    <a:spcPts val="1200"/>
                  </a:spcBef>
                  <a:spcAft>
                    <a:spcPts val="1200"/>
                  </a:spcAft>
                  <a:buFont typeface="Wingdings" panose="05000000000000000000" pitchFamily="2" charset="2"/>
                  <a:buChar char="q"/>
                </a:pPr>
                <a:r>
                  <a:rPr lang="fa-IR" sz="1900" dirty="0" smtClean="0">
                    <a:cs typeface="B Zar" panose="00000400000000000000" pitchFamily="50" charset="-78"/>
                  </a:rPr>
                  <a:t>میانگین </a:t>
                </a:r>
                <a:r>
                  <a:rPr lang="en-US" dirty="0" smtClean="0">
                    <a:latin typeface="Times New Roman" panose="02020603050405020304" pitchFamily="18" charset="0"/>
                    <a:cs typeface="Times New Roman" panose="02020603050405020304" pitchFamily="18" charset="0"/>
                  </a:rPr>
                  <a:t>AP</a:t>
                </a:r>
                <a:r>
                  <a:rPr lang="fa-IR" sz="1900" dirty="0" smtClean="0">
                    <a:cs typeface="B Zar" panose="00000400000000000000" pitchFamily="50" charset="-78"/>
                  </a:rPr>
                  <a:t> همه رده‌ها در آستانه هم‌پوشانی 0.5</a:t>
                </a:r>
              </a:p>
              <a:p>
                <a:pPr marL="342900" indent="-342900" algn="just" rtl="1">
                  <a:spcBef>
                    <a:spcPts val="1200"/>
                  </a:spcBef>
                  <a:spcAft>
                    <a:spcPts val="1200"/>
                  </a:spcAft>
                  <a:buFont typeface="Wingdings" panose="05000000000000000000" pitchFamily="2" charset="2"/>
                  <a:buChar char="q"/>
                </a:pPr>
                <a:r>
                  <a:rPr lang="fa-IR" sz="1900" dirty="0" smtClean="0">
                    <a:cs typeface="B Zar" panose="00000400000000000000" pitchFamily="50" charset="-78"/>
                  </a:rPr>
                  <a:t>پیش‌بینی صحیح: رده درست و آستانه هم‌پوشانی بیشتر از 0.5</a:t>
                </a:r>
              </a:p>
              <a:p>
                <a:pPr marL="342900" indent="-342900" algn="just" rtl="1">
                  <a:spcBef>
                    <a:spcPts val="1200"/>
                  </a:spcBef>
                  <a:spcAft>
                    <a:spcPts val="1200"/>
                  </a:spcAft>
                  <a:buFont typeface="Wingdings" panose="05000000000000000000" pitchFamily="2" charset="2"/>
                  <a:buChar char="q"/>
                </a:pPr>
                <a14:m>
                  <m:oMath xmlns:m="http://schemas.openxmlformats.org/officeDocument/2006/math">
                    <m:r>
                      <m:rPr>
                        <m:sty m:val="p"/>
                      </m:rPr>
                      <a:rPr lang="en-US">
                        <a:latin typeface="Cambria Math" panose="02040503050406030204" pitchFamily="18" charset="0"/>
                      </a:rPr>
                      <m:t>mAP</m:t>
                    </m:r>
                    <m:r>
                      <a:rPr lang="en-US">
                        <a:latin typeface="Cambria Math" panose="02040503050406030204" pitchFamily="18" charset="0"/>
                      </a:rPr>
                      <m:t>@</m:t>
                    </m:r>
                    <m:r>
                      <a:rPr lang="en-US">
                        <a:latin typeface="Cambria Math" panose="02040503050406030204" pitchFamily="18" charset="0"/>
                      </a:rPr>
                      <m:t>0</m:t>
                    </m:r>
                    <m:r>
                      <a:rPr lang="en-US">
                        <a:latin typeface="Cambria Math" panose="02040503050406030204" pitchFamily="18" charset="0"/>
                      </a:rPr>
                      <m:t>.</m:t>
                    </m:r>
                    <m:r>
                      <a:rPr lang="en-US">
                        <a:latin typeface="Cambria Math" panose="02040503050406030204" pitchFamily="18" charset="0"/>
                      </a:rPr>
                      <m:t>5</m:t>
                    </m:r>
                  </m:oMath>
                </a14:m>
                <a:r>
                  <a:rPr lang="fa-IR" sz="1900" dirty="0" smtClean="0">
                    <a:cs typeface="B Zar" panose="00000400000000000000" pitchFamily="50" charset="-78"/>
                  </a:rPr>
                  <a:t> بالاتر = عملکرد بهتر مدل</a:t>
                </a:r>
              </a:p>
              <a:p>
                <a:pPr marL="342900" indent="-342900" algn="just" rtl="1">
                  <a:spcBef>
                    <a:spcPts val="1200"/>
                  </a:spcBef>
                  <a:spcAft>
                    <a:spcPts val="1200"/>
                  </a:spcAft>
                  <a:buFont typeface="Wingdings" panose="05000000000000000000" pitchFamily="2" charset="2"/>
                  <a:buChar char="q"/>
                </a:pPr>
                <a:endParaRPr lang="en-US" sz="1900" dirty="0">
                  <a:cs typeface="B Zar" panose="00000400000000000000" pitchFamily="50" charset="-78"/>
                </a:endParaRPr>
              </a:p>
            </p:txBody>
          </p:sp>
        </mc:Choice>
        <mc:Fallback xmlns="">
          <p:sp>
            <p:nvSpPr>
              <p:cNvPr id="53" name="TextBox 52"/>
              <p:cNvSpPr txBox="1">
                <a:spLocks noRot="1" noChangeAspect="1" noMove="1" noResize="1" noEditPoints="1" noAdjustHandles="1" noChangeArrowheads="1" noChangeShapeType="1" noTextEdit="1"/>
              </p:cNvSpPr>
              <p:nvPr/>
            </p:nvSpPr>
            <p:spPr>
              <a:xfrm>
                <a:off x="4312202" y="2977044"/>
                <a:ext cx="3584780" cy="2769989"/>
              </a:xfrm>
              <a:prstGeom prst="rect">
                <a:avLst/>
              </a:prstGeom>
              <a:blipFill>
                <a:blip r:embed="rId6"/>
                <a:stretch>
                  <a:fillRect l="-2721" t="-2198" r="-15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p:cNvSpPr txBox="1"/>
              <p:nvPr/>
            </p:nvSpPr>
            <p:spPr>
              <a:xfrm>
                <a:off x="402556" y="2977044"/>
                <a:ext cx="3561987" cy="3393750"/>
              </a:xfrm>
              <a:prstGeom prst="rect">
                <a:avLst/>
              </a:prstGeom>
              <a:noFill/>
            </p:spPr>
            <p:txBody>
              <a:bodyPr wrap="square" rtlCol="0">
                <a:spAutoFit/>
              </a:bodyPr>
              <a:lstStyle/>
              <a:p>
                <a:pPr marL="342900" indent="-342900" algn="just" rtl="1">
                  <a:spcBef>
                    <a:spcPts val="1200"/>
                  </a:spcBef>
                  <a:spcAft>
                    <a:spcPts val="1200"/>
                  </a:spcAft>
                  <a:buFont typeface="Wingdings" panose="05000000000000000000" pitchFamily="2" charset="2"/>
                  <a:buChar char="q"/>
                </a:pPr>
                <a:r>
                  <a:rPr lang="fa-IR" sz="1900" dirty="0">
                    <a:cs typeface="B Zar" panose="00000400000000000000" pitchFamily="50" charset="-78"/>
                  </a:rPr>
                  <a:t>معیار سخت‌گیرانه‌تر برای کیفیت مکان‌یابی </a:t>
                </a:r>
                <a:r>
                  <a:rPr lang="fa-IR" sz="1900" dirty="0" smtClean="0">
                    <a:cs typeface="B Zar" panose="00000400000000000000" pitchFamily="50" charset="-78"/>
                  </a:rPr>
                  <a:t>کادرها</a:t>
                </a:r>
              </a:p>
              <a:p>
                <a:pPr marL="342900" indent="-342900" algn="just" rtl="1">
                  <a:spcBef>
                    <a:spcPts val="1200"/>
                  </a:spcBef>
                  <a:spcAft>
                    <a:spcPts val="1200"/>
                  </a:spcAft>
                  <a:buFont typeface="Wingdings" panose="05000000000000000000" pitchFamily="2" charset="2"/>
                  <a:buChar char="q"/>
                </a:pPr>
                <a:r>
                  <a:rPr lang="fa-IR" sz="1900" dirty="0">
                    <a:cs typeface="B Zar" panose="00000400000000000000" pitchFamily="50" charset="-78"/>
                  </a:rPr>
                  <a:t>میانگین </a:t>
                </a:r>
                <a:r>
                  <a:rPr lang="en-US" dirty="0" err="1" smtClean="0">
                    <a:latin typeface="Times New Roman" panose="02020603050405020304" pitchFamily="18" charset="0"/>
                    <a:cs typeface="Times New Roman" panose="02020603050405020304" pitchFamily="18" charset="0"/>
                  </a:rPr>
                  <a:t>mAP</a:t>
                </a:r>
                <a:r>
                  <a:rPr lang="fa-IR" sz="1900" dirty="0">
                    <a:cs typeface="B Zar" panose="00000400000000000000" pitchFamily="50" charset="-78"/>
                  </a:rPr>
                  <a:t> </a:t>
                </a:r>
                <a:r>
                  <a:rPr lang="fa-IR" sz="1900" dirty="0" smtClean="0">
                    <a:cs typeface="B Zar" panose="00000400000000000000" pitchFamily="50" charset="-78"/>
                  </a:rPr>
                  <a:t>در </a:t>
                </a:r>
                <a:r>
                  <a:rPr lang="fa-IR" sz="1900" dirty="0">
                    <a:cs typeface="B Zar" panose="00000400000000000000" pitchFamily="50" charset="-78"/>
                  </a:rPr>
                  <a:t>۱۰ آستانه </a:t>
                </a:r>
                <a:r>
                  <a:rPr lang="en-US" dirty="0" err="1" smtClean="0">
                    <a:latin typeface="Times New Roman" panose="02020603050405020304" pitchFamily="18" charset="0"/>
                    <a:cs typeface="Times New Roman" panose="02020603050405020304" pitchFamily="18" charset="0"/>
                  </a:rPr>
                  <a:t>IoU</a:t>
                </a:r>
                <a:endParaRPr lang="fa-IR" dirty="0" smtClean="0">
                  <a:latin typeface="Times New Roman" panose="02020603050405020304" pitchFamily="18" charset="0"/>
                  <a:cs typeface="Times New Roman" panose="02020603050405020304" pitchFamily="18" charset="0"/>
                </a:endParaRPr>
              </a:p>
              <a:p>
                <a:pPr marL="342900" indent="-342900" algn="just" rtl="1">
                  <a:spcBef>
                    <a:spcPts val="1200"/>
                  </a:spcBef>
                  <a:spcAft>
                    <a:spcPts val="1200"/>
                  </a:spcAft>
                  <a:buFont typeface="Wingdings" panose="05000000000000000000" pitchFamily="2" charset="2"/>
                  <a:buChar char="q"/>
                </a:pPr>
                <a:r>
                  <a:rPr lang="fa-IR" sz="1900" dirty="0">
                    <a:cs typeface="B Zar" panose="00000400000000000000" pitchFamily="50" charset="-78"/>
                  </a:rPr>
                  <a:t>آستانه‌ها از 0.50 تا 0.95 با گام </a:t>
                </a:r>
                <a:r>
                  <a:rPr lang="fa-IR" sz="1900" dirty="0" smtClean="0">
                    <a:cs typeface="B Zar" panose="00000400000000000000" pitchFamily="50" charset="-78"/>
                  </a:rPr>
                  <a:t>0.05</a:t>
                </a:r>
              </a:p>
              <a:p>
                <a:pPr marL="342900" indent="-342900" algn="just" rtl="1">
                  <a:spcBef>
                    <a:spcPts val="1200"/>
                  </a:spcBef>
                  <a:spcAft>
                    <a:spcPts val="1200"/>
                  </a:spcAft>
                  <a:buFont typeface="Wingdings" panose="05000000000000000000" pitchFamily="2" charset="2"/>
                  <a:buChar char="q"/>
                </a:pPr>
                <a14:m>
                  <m:oMath xmlns:m="http://schemas.openxmlformats.org/officeDocument/2006/math">
                    <m:r>
                      <m:rPr>
                        <m:sty m:val="p"/>
                      </m:rPr>
                      <a:rPr lang="en-US" b="0" i="0">
                        <a:latin typeface="Cambria Math" panose="02040503050406030204" pitchFamily="18" charset="0"/>
                      </a:rPr>
                      <m:t>mAP</m:t>
                    </m:r>
                    <m:r>
                      <a:rPr lang="en-US" b="0" i="0">
                        <a:latin typeface="Cambria Math" panose="02040503050406030204" pitchFamily="18" charset="0"/>
                      </a:rPr>
                      <m:t> (</m:t>
                    </m:r>
                    <m:sSub>
                      <m:sSubPr>
                        <m:ctrlPr>
                          <a:rPr lang="en-US" i="1">
                            <a:latin typeface="Cambria Math" panose="02040503050406030204" pitchFamily="18" charset="0"/>
                          </a:rPr>
                        </m:ctrlPr>
                      </m:sSubPr>
                      <m:e>
                        <m:r>
                          <m:rPr>
                            <m:sty m:val="p"/>
                          </m:rPr>
                          <a:rPr lang="en-US" b="0" i="0">
                            <a:latin typeface="Cambria Math" panose="02040503050406030204" pitchFamily="18" charset="0"/>
                          </a:rPr>
                          <m:t>IoU</m:t>
                        </m:r>
                      </m:e>
                      <m:sub>
                        <m:r>
                          <m:rPr>
                            <m:sty m:val="p"/>
                          </m:rPr>
                          <a:rPr lang="en-US" b="0" i="0">
                            <a:latin typeface="Cambria Math" panose="02040503050406030204" pitchFamily="18" charset="0"/>
                          </a:rPr>
                          <m:t>j</m:t>
                        </m:r>
                      </m:sub>
                    </m:sSub>
                    <m:r>
                      <a:rPr lang="en-US" b="0" i="0">
                        <a:latin typeface="Cambria Math" panose="02040503050406030204" pitchFamily="18" charset="0"/>
                      </a:rPr>
                      <m:t>)</m:t>
                    </m:r>
                  </m:oMath>
                </a14:m>
                <a:r>
                  <a:rPr lang="fa-IR" sz="1900" dirty="0" smtClean="0">
                    <a:cs typeface="B Zar" panose="00000400000000000000" pitchFamily="50" charset="-78"/>
                  </a:rPr>
                  <a:t>: </a:t>
                </a:r>
                <a:r>
                  <a:rPr lang="fa-IR" sz="1900" dirty="0">
                    <a:cs typeface="B Zar" panose="00000400000000000000" pitchFamily="50" charset="-78"/>
                  </a:rPr>
                  <a:t>عملکرد مدل در آستانه </a:t>
                </a:r>
                <a:r>
                  <a:rPr lang="en-US" dirty="0" err="1" smtClean="0">
                    <a:latin typeface="Times New Roman" panose="02020603050405020304" pitchFamily="18" charset="0"/>
                    <a:cs typeface="Times New Roman" panose="02020603050405020304" pitchFamily="18" charset="0"/>
                  </a:rPr>
                  <a:t>IoU</a:t>
                </a:r>
                <a:r>
                  <a:rPr lang="fa-IR" sz="1900" dirty="0" smtClean="0">
                    <a:cs typeface="B Zar" panose="00000400000000000000" pitchFamily="50" charset="-78"/>
                  </a:rPr>
                  <a:t> شماره </a:t>
                </a:r>
                <a:r>
                  <a:rPr lang="en-US" dirty="0">
                    <a:latin typeface="Times New Roman" panose="02020603050405020304" pitchFamily="18" charset="0"/>
                    <a:cs typeface="Times New Roman" panose="02020603050405020304" pitchFamily="18" charset="0"/>
                  </a:rPr>
                  <a:t>j</a:t>
                </a:r>
                <a:endParaRPr lang="fa-IR" dirty="0" smtClean="0">
                  <a:latin typeface="Times New Roman" panose="02020603050405020304" pitchFamily="18" charset="0"/>
                  <a:cs typeface="Times New Roman" panose="02020603050405020304" pitchFamily="18" charset="0"/>
                </a:endParaRPr>
              </a:p>
              <a:p>
                <a:pPr marL="342900" indent="-342900" algn="just" rtl="1">
                  <a:spcBef>
                    <a:spcPts val="1200"/>
                  </a:spcBef>
                  <a:spcAft>
                    <a:spcPts val="1200"/>
                  </a:spcAft>
                  <a:buFont typeface="Wingdings" panose="05000000000000000000" pitchFamily="2" charset="2"/>
                  <a:buChar char="q"/>
                </a:pPr>
                <a:endParaRPr lang="en-US" sz="1900" dirty="0">
                  <a:cs typeface="B Zar" panose="00000400000000000000" pitchFamily="50" charset="-78"/>
                </a:endParaRPr>
              </a:p>
            </p:txBody>
          </p:sp>
        </mc:Choice>
        <mc:Fallback xmlns="">
          <p:sp>
            <p:nvSpPr>
              <p:cNvPr id="58" name="TextBox 57"/>
              <p:cNvSpPr txBox="1">
                <a:spLocks noRot="1" noChangeAspect="1" noMove="1" noResize="1" noEditPoints="1" noAdjustHandles="1" noChangeArrowheads="1" noChangeShapeType="1" noTextEdit="1"/>
              </p:cNvSpPr>
              <p:nvPr/>
            </p:nvSpPr>
            <p:spPr>
              <a:xfrm>
                <a:off x="402556" y="2977044"/>
                <a:ext cx="3561987" cy="3393750"/>
              </a:xfrm>
              <a:prstGeom prst="rect">
                <a:avLst/>
              </a:prstGeom>
              <a:blipFill>
                <a:blip r:embed="rId7"/>
                <a:stretch>
                  <a:fillRect l="-2740" t="-2154" r="-15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4682119" y="1753583"/>
                <a:ext cx="2821926" cy="87536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rPr>
                        <m:t>m</m:t>
                      </m:r>
                      <m:r>
                        <m:rPr>
                          <m:sty m:val="p"/>
                        </m:rPr>
                        <a:rPr lang="en-US" i="0">
                          <a:latin typeface="Cambria Math" panose="02040503050406030204" pitchFamily="18" charset="0"/>
                        </a:rPr>
                        <m:t>AP</m:t>
                      </m:r>
                      <m:r>
                        <a:rPr lang="en-US" i="0">
                          <a:latin typeface="Cambria Math" panose="02040503050406030204" pitchFamily="18" charset="0"/>
                        </a:rPr>
                        <m:t>@</m:t>
                      </m:r>
                      <m:r>
                        <a:rPr lang="en-US" i="0">
                          <a:latin typeface="Cambria Math" panose="02040503050406030204" pitchFamily="18" charset="0"/>
                        </a:rPr>
                        <m:t>0</m:t>
                      </m:r>
                      <m:r>
                        <a:rPr lang="en-US" i="0">
                          <a:latin typeface="Cambria Math" panose="02040503050406030204" pitchFamily="18" charset="0"/>
                        </a:rPr>
                        <m:t>.</m:t>
                      </m:r>
                      <m:r>
                        <a:rPr lang="en-US" i="0">
                          <a:latin typeface="Cambria Math" panose="02040503050406030204" pitchFamily="18" charset="0"/>
                        </a:rPr>
                        <m:t>5</m:t>
                      </m:r>
                      <m:r>
                        <a:rPr lang="en-US" i="0">
                          <a:latin typeface="Cambria Math" panose="02040503050406030204" pitchFamily="18" charset="0"/>
                        </a:rPr>
                        <m:t>=</m:t>
                      </m:r>
                      <m:f>
                        <m:fPr>
                          <m:ctrlPr>
                            <a:rPr lang="en-US" i="1">
                              <a:latin typeface="Cambria Math" panose="02040503050406030204" pitchFamily="18" charset="0"/>
                            </a:rPr>
                          </m:ctrlPr>
                        </m:fPr>
                        <m:num>
                          <m:r>
                            <a:rPr lang="en-US" i="0">
                              <a:latin typeface="Cambria Math" panose="02040503050406030204" pitchFamily="18" charset="0"/>
                            </a:rPr>
                            <m:t>1</m:t>
                          </m:r>
                        </m:num>
                        <m:den>
                          <m:r>
                            <m:rPr>
                              <m:sty m:val="p"/>
                            </m:rPr>
                            <a:rPr lang="en-US" i="0">
                              <a:latin typeface="Cambria Math" panose="02040503050406030204" pitchFamily="18" charset="0"/>
                            </a:rPr>
                            <m:t>N</m:t>
                          </m:r>
                        </m:den>
                      </m:f>
                      <m:nary>
                        <m:naryPr>
                          <m:chr m:val="∑"/>
                          <m:limLoc m:val="undOvr"/>
                          <m:ctrlPr>
                            <a:rPr lang="en-US" i="1">
                              <a:latin typeface="Cambria Math" panose="02040503050406030204" pitchFamily="18" charset="0"/>
                            </a:rPr>
                          </m:ctrlPr>
                        </m:naryPr>
                        <m:sub>
                          <m:r>
                            <m:rPr>
                              <m:sty m:val="p"/>
                            </m:rPr>
                            <a:rPr lang="en-US" i="0">
                              <a:latin typeface="Cambria Math" panose="02040503050406030204" pitchFamily="18" charset="0"/>
                            </a:rPr>
                            <m:t>i</m:t>
                          </m:r>
                          <m:r>
                            <a:rPr lang="en-US" i="0">
                              <a:latin typeface="Cambria Math" panose="02040503050406030204" pitchFamily="18" charset="0"/>
                            </a:rPr>
                            <m:t>=</m:t>
                          </m:r>
                          <m:r>
                            <a:rPr lang="en-US" i="0">
                              <a:latin typeface="Cambria Math" panose="02040503050406030204" pitchFamily="18" charset="0"/>
                            </a:rPr>
                            <m:t>1</m:t>
                          </m:r>
                        </m:sub>
                        <m:sup>
                          <m:r>
                            <m:rPr>
                              <m:sty m:val="p"/>
                            </m:rPr>
                            <a:rPr lang="en-US" i="0">
                              <a:latin typeface="Cambria Math" panose="02040503050406030204" pitchFamily="18" charset="0"/>
                            </a:rPr>
                            <m:t>N</m:t>
                          </m:r>
                        </m:sup>
                        <m:e>
                          <m:d>
                            <m:dPr>
                              <m:begChr m:val=""/>
                              <m:ctrlPr>
                                <a:rPr lang="en-US" i="1">
                                  <a:latin typeface="Cambria Math" panose="02040503050406030204" pitchFamily="18" charset="0"/>
                                </a:rPr>
                              </m:ctrlPr>
                            </m:dPr>
                            <m:e>
                              <m:r>
                                <m:rPr>
                                  <m:sty m:val="p"/>
                                </m:rPr>
                                <a:rPr lang="en-US" i="0">
                                  <a:latin typeface="Cambria Math" panose="02040503050406030204" pitchFamily="18" charset="0"/>
                                </a:rPr>
                                <m:t>A</m:t>
                              </m:r>
                              <m:sSub>
                                <m:sSubPr>
                                  <m:ctrlPr>
                                    <a:rPr lang="en-US" i="1">
                                      <a:latin typeface="Cambria Math" panose="02040503050406030204" pitchFamily="18" charset="0"/>
                                    </a:rPr>
                                  </m:ctrlPr>
                                </m:sSubPr>
                                <m:e>
                                  <m:r>
                                    <m:rPr>
                                      <m:sty m:val="p"/>
                                    </m:rPr>
                                    <a:rPr lang="en-US" i="0">
                                      <a:latin typeface="Cambria Math" panose="02040503050406030204" pitchFamily="18" charset="0"/>
                                    </a:rPr>
                                    <m:t>P</m:t>
                                  </m:r>
                                </m:e>
                                <m:sub>
                                  <m:r>
                                    <m:rPr>
                                      <m:sty m:val="p"/>
                                    </m:rPr>
                                    <a:rPr lang="en-US" i="0">
                                      <a:latin typeface="Cambria Math" panose="02040503050406030204" pitchFamily="18" charset="0"/>
                                    </a:rPr>
                                    <m:t>i</m:t>
                                  </m:r>
                                </m:sub>
                              </m:sSub>
                              <m:r>
                                <a:rPr lang="en-US" i="0">
                                  <a:latin typeface="Cambria Math" panose="02040503050406030204" pitchFamily="18" charset="0"/>
                                </a:rPr>
                                <m:t>(</m:t>
                              </m:r>
                              <m:r>
                                <a:rPr lang="en-US" i="0">
                                  <a:latin typeface="Cambria Math" panose="02040503050406030204" pitchFamily="18" charset="0"/>
                                </a:rPr>
                                <m:t>0</m:t>
                              </m:r>
                              <m:r>
                                <a:rPr lang="en-US" i="0">
                                  <a:latin typeface="Cambria Math" panose="02040503050406030204" pitchFamily="18" charset="0"/>
                                </a:rPr>
                                <m:t>.</m:t>
                              </m:r>
                              <m:r>
                                <a:rPr lang="en-US" i="0">
                                  <a:latin typeface="Cambria Math" panose="02040503050406030204" pitchFamily="18" charset="0"/>
                                </a:rPr>
                                <m:t>5</m:t>
                              </m:r>
                            </m:e>
                          </m:d>
                        </m:e>
                      </m:nary>
                    </m:oMath>
                  </m:oMathPara>
                </a14:m>
                <a:endParaRPr lang="en-US" dirty="0"/>
              </a:p>
            </p:txBody>
          </p:sp>
        </mc:Choice>
        <mc:Fallback xmlns="">
          <p:sp>
            <p:nvSpPr>
              <p:cNvPr id="11" name="Rectangle 10"/>
              <p:cNvSpPr>
                <a:spLocks noRot="1" noChangeAspect="1" noMove="1" noResize="1" noEditPoints="1" noAdjustHandles="1" noChangeArrowheads="1" noChangeShapeType="1" noTextEdit="1"/>
              </p:cNvSpPr>
              <p:nvPr/>
            </p:nvSpPr>
            <p:spPr>
              <a:xfrm>
                <a:off x="4682119" y="1753583"/>
                <a:ext cx="2821926" cy="875368"/>
              </a:xfrm>
              <a:prstGeom prst="rect">
                <a:avLst/>
              </a:prstGeom>
              <a:blipFill>
                <a:blip r:embed="rId8"/>
                <a:stretch>
                  <a:fillRect/>
                </a:stretch>
              </a:blipFill>
            </p:spPr>
            <p:txBody>
              <a:bodyPr/>
              <a:lstStyle/>
              <a:p>
                <a:r>
                  <a:rPr lang="en-US">
                    <a:noFill/>
                  </a:rPr>
                  <a:t> </a:t>
                </a:r>
              </a:p>
            </p:txBody>
          </p:sp>
        </mc:Fallback>
      </mc:AlternateContent>
      <p:sp>
        <p:nvSpPr>
          <p:cNvPr id="59" name="ارجاع فرمول‌ها"/>
          <p:cNvSpPr txBox="1"/>
          <p:nvPr/>
        </p:nvSpPr>
        <p:spPr>
          <a:xfrm>
            <a:off x="7937014" y="6388216"/>
            <a:ext cx="3592394" cy="553998"/>
          </a:xfrm>
          <a:prstGeom prst="rect">
            <a:avLst/>
          </a:prstGeom>
          <a:noFill/>
        </p:spPr>
        <p:txBody>
          <a:bodyPr wrap="none" lIns="0" tIns="0" rIns="0" bIns="0">
            <a:spAutoFit/>
          </a:bodyPr>
          <a:lstStyle/>
          <a:p>
            <a:pPr algn="r" rtl="1"/>
            <a:r>
              <a:rPr lang="fa-IR" dirty="0" smtClean="0">
                <a:solidFill>
                  <a:srgbClr val="263D4F"/>
                </a:solidFill>
                <a:latin typeface="B Zar"/>
                <a:ea typeface="B Zar"/>
                <a:cs typeface="B Zar" panose="00000400000000000000" pitchFamily="50" charset="-78"/>
              </a:rPr>
              <a:t>مرجع [9]: روابط دقت متوسط و میانگین دقت متوسط</a:t>
            </a:r>
            <a:endParaRPr lang="fa-IR" dirty="0" smtClean="0">
              <a:solidFill>
                <a:srgbClr val="263D4F"/>
              </a:solidFill>
              <a:latin typeface="Times New Roman" panose="02020603050405020304" pitchFamily="18" charset="0"/>
              <a:ea typeface="B Zar"/>
              <a:cs typeface="B Zar" panose="00000400000000000000" pitchFamily="50" charset="-78"/>
            </a:endParaRPr>
          </a:p>
          <a:p>
            <a:pPr algn="r" rtl="1"/>
            <a:endParaRPr lang="fa-IR" dirty="0">
              <a:solidFill>
                <a:srgbClr val="263D4F"/>
              </a:solidFill>
              <a:latin typeface="B Zar"/>
              <a:ea typeface="B Zar"/>
              <a:cs typeface="B Zar" panose="00000400000000000000" pitchFamily="50" charset="-78"/>
            </a:endParaRPr>
          </a:p>
        </p:txBody>
      </p:sp>
    </p:spTree>
    <p:extLst>
      <p:ext uri="{BB962C8B-B14F-4D97-AF65-F5344CB8AC3E}">
        <p14:creationId xmlns:p14="http://schemas.microsoft.com/office/powerpoint/2010/main" val="3174775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fade">
                                      <p:cBhvr>
                                        <p:cTn id="13" dur="500"/>
                                        <p:tgtEl>
                                          <p:spTgt spid="4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fade">
                                      <p:cBhvr>
                                        <p:cTn id="16" dur="500"/>
                                        <p:tgtEl>
                                          <p:spTgt spid="4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500"/>
                                        <p:tgtEl>
                                          <p:spTgt spid="5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fade">
                                      <p:cBhvr>
                                        <p:cTn id="27" dur="500"/>
                                        <p:tgtEl>
                                          <p:spTgt spid="4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fade">
                                      <p:cBhvr>
                                        <p:cTn id="30" dur="500"/>
                                        <p:tgtEl>
                                          <p:spTgt spid="4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3"/>
                                        </p:tgtEl>
                                        <p:attrNameLst>
                                          <p:attrName>style.visibility</p:attrName>
                                        </p:attrNameLst>
                                      </p:cBhvr>
                                      <p:to>
                                        <p:strVal val="visible"/>
                                      </p:to>
                                    </p:set>
                                    <p:animEffect transition="in" filter="fade">
                                      <p:cBhvr>
                                        <p:cTn id="33" dur="500"/>
                                        <p:tgtEl>
                                          <p:spTgt spid="5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fade">
                                      <p:cBhvr>
                                        <p:cTn id="41" dur="500"/>
                                        <p:tgtEl>
                                          <p:spTgt spid="3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3"/>
                                        </p:tgtEl>
                                        <p:attrNameLst>
                                          <p:attrName>style.visibility</p:attrName>
                                        </p:attrNameLst>
                                      </p:cBhvr>
                                      <p:to>
                                        <p:strVal val="visible"/>
                                      </p:to>
                                    </p:set>
                                    <p:animEffect transition="in" filter="fade">
                                      <p:cBhvr>
                                        <p:cTn id="44" dur="500"/>
                                        <p:tgtEl>
                                          <p:spTgt spid="3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5"/>
                                        </p:tgtEl>
                                        <p:attrNameLst>
                                          <p:attrName>style.visibility</p:attrName>
                                        </p:attrNameLst>
                                      </p:cBhvr>
                                      <p:to>
                                        <p:strVal val="visible"/>
                                      </p:to>
                                    </p:set>
                                    <p:animEffect transition="in" filter="fade">
                                      <p:cBhvr>
                                        <p:cTn id="47" dur="500"/>
                                        <p:tgtEl>
                                          <p:spTgt spid="4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fade">
                                      <p:cBhvr>
                                        <p:cTn id="50" dur="500"/>
                                        <p:tgtEl>
                                          <p:spTgt spid="4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8"/>
                                        </p:tgtEl>
                                        <p:attrNameLst>
                                          <p:attrName>style.visibility</p:attrName>
                                        </p:attrNameLst>
                                      </p:cBhvr>
                                      <p:to>
                                        <p:strVal val="visible"/>
                                      </p:to>
                                    </p:set>
                                    <p:animEffect transition="in" filter="fade">
                                      <p:cBhvr>
                                        <p:cTn id="53"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8" grpId="0"/>
      <p:bldP spid="32" grpId="0"/>
      <p:bldP spid="33" grpId="0"/>
      <p:bldP spid="43" grpId="0" animBg="1"/>
      <p:bldP spid="42" grpId="0" animBg="1"/>
      <p:bldP spid="44" grpId="0" animBg="1"/>
      <p:bldP spid="45" grpId="0" animBg="1"/>
      <p:bldP spid="41" grpId="0" animBg="1"/>
      <p:bldP spid="40" grpId="0" animBg="1"/>
      <p:bldP spid="50" grpId="0"/>
      <p:bldP spid="53" grpId="0"/>
      <p:bldP spid="58"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EEFCF81-541D-428E-824E-7B2B27AB9205}"/>
              </a:ext>
            </a:extLst>
          </p:cNvPr>
          <p:cNvSpPr>
            <a:spLocks noGrp="1"/>
          </p:cNvSpPr>
          <p:nvPr/>
        </p:nvSpPr>
        <p:spPr>
          <a:xfrm>
            <a:off x="171450" y="6496050"/>
            <a:ext cx="1762125" cy="238125"/>
          </a:xfrm>
          <a:prstGeom prst="rect">
            <a:avLst/>
          </a:prstGeom>
          <a:noFill/>
          <a:ln w="0">
            <a:noFill/>
          </a:ln>
        </p:spPr>
        <p:txBody>
          <a:bodyPr lIns="57150" tIns="38100" rIns="57150" bIns="38100" anchor="ctr">
            <a:noAutofit/>
          </a:bodyPr>
          <a:lstStyle/>
          <a:p>
            <a:pPr algn="r" rtl="1">
              <a:defRPr sz="1600" b="0">
                <a:solidFill>
                  <a:srgbClr val="52626E"/>
                </a:solidFill>
                <a:latin typeface="B Zar"/>
                <a:ea typeface="B Zar"/>
                <a:cs typeface="B Zar"/>
              </a:defRPr>
            </a:pPr>
            <a:r>
              <a:rPr lang="fa-IR" altLang="fa-IR" sz="1600" b="0" smtClean="0">
                <a:solidFill>
                  <a:srgbClr val="52626E"/>
                </a:solidFill>
                <a:latin typeface="B Zar"/>
                <a:ea typeface="B Zar"/>
                <a:cs typeface="B Zar"/>
              </a:rPr>
              <a:t>صفحه ۹ از ۳۱</a:t>
            </a:r>
            <a:endParaRPr lang="fa-IR" altLang="fa-IR" sz="1600" b="0">
              <a:solidFill>
                <a:srgbClr val="52626E"/>
              </a:solidFill>
              <a:latin typeface="B Zar"/>
              <a:ea typeface="B Zar"/>
              <a:cs typeface="B Zar"/>
            </a:endParaRPr>
          </a:p>
        </p:txBody>
      </p:sp>
      <p:pic>
        <p:nvPicPr>
          <p:cNvPr id="17" name="Picture 16"/>
          <p:cNvPicPr>
            <a:picLocks noChangeAspect="1"/>
          </p:cNvPicPr>
          <p:nvPr/>
        </p:nvPicPr>
        <p:blipFill>
          <a:blip r:embed="rId3"/>
          <a:stretch/>
        </p:blipFill>
        <p:spPr>
          <a:xfrm>
            <a:off x="1960127" y="1092200"/>
            <a:ext cx="8271747" cy="4303643"/>
          </a:xfrm>
          <a:prstGeom prst="rect">
            <a:avLst/>
          </a:prstGeom>
        </p:spPr>
      </p:pic>
      <p:pic>
        <p:nvPicPr>
          <p:cNvPr id="11" name="Picture 10"/>
          <p:cNvPicPr>
            <a:picLocks noChangeAspect="1"/>
          </p:cNvPicPr>
          <p:nvPr/>
        </p:nvPicPr>
        <p:blipFill>
          <a:blip r:embed="rId4"/>
          <a:stretch/>
        </p:blipFill>
        <p:spPr>
          <a:xfrm>
            <a:off x="428984" y="187916"/>
            <a:ext cx="535979" cy="628650"/>
          </a:xfrm>
          <a:prstGeom prst="rect">
            <a:avLst/>
          </a:prstGeom>
        </p:spPr>
      </p:pic>
      <p:sp>
        <p:nvSpPr>
          <p:cNvPr id="12" name="Rectangle 11">
            <a:extLst>
              <a:ext uri="{FF2B5EF4-FFF2-40B4-BE49-F238E27FC236}">
                <a16:creationId xmlns:a16="http://schemas.microsoft.com/office/drawing/2014/main" id="{C4452ECC-0329-42FD-A992-5D81CCFFD581}"/>
              </a:ext>
            </a:extLst>
          </p:cNvPr>
          <p:cNvSpPr>
            <a:spLocks noGrp="1"/>
          </p:cNvSpPr>
          <p:nvPr/>
        </p:nvSpPr>
        <p:spPr>
          <a:xfrm>
            <a:off x="1754630" y="279232"/>
            <a:ext cx="10096500" cy="485775"/>
          </a:xfrm>
          <a:prstGeom prst="rect">
            <a:avLst/>
          </a:prstGeom>
          <a:noFill/>
          <a:ln w="0">
            <a:noFill/>
          </a:ln>
        </p:spPr>
        <p:txBody>
          <a:bodyPr lIns="57150" tIns="38100" rIns="57150" bIns="38100" anchor="ctr">
            <a:noAutofit/>
          </a:bodyPr>
          <a:lstStyle/>
          <a:p>
            <a:pPr algn="r" rtl="1">
              <a:defRPr sz="3100" b="1">
                <a:solidFill>
                  <a:srgbClr val="173E5A"/>
                </a:solidFill>
                <a:latin typeface="B Zar"/>
                <a:ea typeface="B Zar"/>
                <a:cs typeface="B Zar"/>
              </a:defRPr>
            </a:pPr>
            <a:r>
              <a:rPr lang="fa-IR" altLang="fa-IR" sz="3100" b="1" dirty="0" smtClean="0">
                <a:solidFill>
                  <a:srgbClr val="173E5A"/>
                </a:solidFill>
                <a:latin typeface="B Zar"/>
                <a:ea typeface="B Zar"/>
                <a:cs typeface="B Zar"/>
              </a:rPr>
              <a:t>معماری </a:t>
            </a:r>
            <a:r>
              <a:rPr lang="en-US" altLang="fa-IR" sz="3000" b="1" dirty="0" smtClean="0">
                <a:solidFill>
                  <a:srgbClr val="173E5A"/>
                </a:solidFill>
                <a:latin typeface="Times New Roman" panose="02020603050405020304" pitchFamily="18" charset="0"/>
                <a:ea typeface="B Zar"/>
                <a:cs typeface="Times New Roman" panose="02020603050405020304" pitchFamily="18" charset="0"/>
              </a:rPr>
              <a:t>YOLOv11</a:t>
            </a:r>
            <a:endParaRPr lang="fa-IR" altLang="fa-IR" sz="3000" b="1" dirty="0">
              <a:solidFill>
                <a:srgbClr val="173E5A"/>
              </a:solidFill>
              <a:latin typeface="Times New Roman" panose="02020603050405020304" pitchFamily="18" charset="0"/>
              <a:ea typeface="B Zar"/>
              <a:cs typeface="Times New Roman" panose="02020603050405020304" pitchFamily="18" charset="0"/>
            </a:endParaRPr>
          </a:p>
        </p:txBody>
      </p:sp>
      <p:sp>
        <p:nvSpPr>
          <p:cNvPr id="14" name="TextBox 13"/>
          <p:cNvSpPr txBox="1"/>
          <p:nvPr/>
        </p:nvSpPr>
        <p:spPr>
          <a:xfrm>
            <a:off x="2153222" y="5733196"/>
            <a:ext cx="7885557" cy="369332"/>
          </a:xfrm>
          <a:prstGeom prst="rect">
            <a:avLst/>
          </a:prstGeom>
          <a:noFill/>
        </p:spPr>
        <p:txBody>
          <a:bodyPr wrap="none" rtlCol="0">
            <a:spAutoFit/>
          </a:bodyPr>
          <a:lstStyle/>
          <a:p>
            <a:pPr algn="r" rtl="1"/>
            <a:r>
              <a:rPr lang="fa-IR" b="1" dirty="0" smtClean="0">
                <a:solidFill>
                  <a:schemeClr val="bg2">
                    <a:lumMod val="25000"/>
                  </a:schemeClr>
                </a:solidFill>
                <a:cs typeface="B Zar" panose="00000400000000000000" pitchFamily="50" charset="-78"/>
              </a:rPr>
              <a:t>شکل 1-2: </a:t>
            </a:r>
            <a:r>
              <a:rPr lang="ar-SA" b="1" dirty="0" smtClean="0">
                <a:solidFill>
                  <a:schemeClr val="bg2">
                    <a:lumMod val="25000"/>
                  </a:schemeClr>
                </a:solidFill>
                <a:cs typeface="B Zar" panose="00000400000000000000" pitchFamily="50" charset="-78"/>
              </a:rPr>
              <a:t>ساختار </a:t>
            </a:r>
            <a:r>
              <a:rPr lang="ar-SA" b="1" dirty="0">
                <a:solidFill>
                  <a:schemeClr val="bg2">
                    <a:lumMod val="25000"/>
                  </a:schemeClr>
                </a:solidFill>
                <a:cs typeface="B Zar" panose="00000400000000000000" pitchFamily="50" charset="-78"/>
              </a:rPr>
              <a:t>کلی </a:t>
            </a:r>
            <a:r>
              <a:rPr lang="ar-SA" b="1" dirty="0" smtClean="0">
                <a:solidFill>
                  <a:schemeClr val="bg2">
                    <a:lumMod val="25000"/>
                  </a:schemeClr>
                </a:solidFill>
                <a:cs typeface="B Zar" panose="00000400000000000000" pitchFamily="50" charset="-78"/>
              </a:rPr>
              <a:t>معماری</a:t>
            </a:r>
            <a:r>
              <a:rPr lang="fa-IR" b="1" dirty="0">
                <a:solidFill>
                  <a:schemeClr val="bg2">
                    <a:lumMod val="25000"/>
                  </a:schemeClr>
                </a:solidFill>
                <a:cs typeface="B Zar" panose="00000400000000000000" pitchFamily="50" charset="-78"/>
              </a:rPr>
              <a:t> </a:t>
            </a:r>
            <a:r>
              <a:rPr lang="en-US" sz="1700" b="1" dirty="0" smtClean="0">
                <a:solidFill>
                  <a:schemeClr val="bg2">
                    <a:lumMod val="25000"/>
                  </a:schemeClr>
                </a:solidFill>
                <a:latin typeface="Times New Roman" panose="02020603050405020304" pitchFamily="18" charset="0"/>
                <a:cs typeface="Times New Roman" panose="02020603050405020304" pitchFamily="18" charset="0"/>
              </a:rPr>
              <a:t>YOLOv11</a:t>
            </a:r>
            <a:r>
              <a:rPr lang="fa-IR" b="1" dirty="0" smtClean="0">
                <a:solidFill>
                  <a:schemeClr val="bg2">
                    <a:lumMod val="25000"/>
                  </a:schemeClr>
                </a:solidFill>
                <a:cs typeface="B Zar" panose="00000400000000000000" pitchFamily="50" charset="-78"/>
              </a:rPr>
              <a:t> و </a:t>
            </a:r>
            <a:r>
              <a:rPr lang="fa-IR" b="1" dirty="0">
                <a:solidFill>
                  <a:schemeClr val="bg2">
                    <a:lumMod val="25000"/>
                  </a:schemeClr>
                </a:solidFill>
                <a:cs typeface="B Zar" panose="00000400000000000000" pitchFamily="50" charset="-78"/>
              </a:rPr>
              <a:t>جایگاه بلوک‌ها در ستون فقرات، گردن و </a:t>
            </a:r>
            <a:r>
              <a:rPr lang="fa-IR" b="1" dirty="0" smtClean="0">
                <a:solidFill>
                  <a:schemeClr val="bg2">
                    <a:lumMod val="25000"/>
                  </a:schemeClr>
                </a:solidFill>
                <a:cs typeface="B Zar" panose="00000400000000000000" pitchFamily="50" charset="-78"/>
              </a:rPr>
              <a:t>سر </a:t>
            </a:r>
            <a:r>
              <a:rPr lang="ar-SA" dirty="0">
                <a:solidFill>
                  <a:schemeClr val="bg2">
                    <a:lumMod val="25000"/>
                  </a:schemeClr>
                </a:solidFill>
                <a:cs typeface="B Zar" panose="00000400000000000000" pitchFamily="50" charset="-78"/>
              </a:rPr>
              <a:t>[</a:t>
            </a:r>
            <a:r>
              <a:rPr lang="ar-SA" dirty="0" smtClean="0">
                <a:solidFill>
                  <a:schemeClr val="bg2">
                    <a:lumMod val="25000"/>
                  </a:schemeClr>
                </a:solidFill>
                <a:cs typeface="B Zar" panose="00000400000000000000" pitchFamily="50" charset="-78"/>
              </a:rPr>
              <a:t>۵]</a:t>
            </a:r>
            <a:r>
              <a:rPr lang="fa-IR" b="1" dirty="0" smtClean="0">
                <a:solidFill>
                  <a:schemeClr val="bg2">
                    <a:lumMod val="25000"/>
                  </a:schemeClr>
                </a:solidFill>
                <a:cs typeface="B Zar" panose="00000400000000000000" pitchFamily="50" charset="-78"/>
              </a:rPr>
              <a:t> </a:t>
            </a:r>
            <a:endParaRPr lang="en-US" dirty="0">
              <a:solidFill>
                <a:schemeClr val="bg2">
                  <a:lumMod val="25000"/>
                </a:schemeClr>
              </a:solidFill>
              <a:cs typeface="B Zar" panose="00000400000000000000" pitchFamily="50" charset="-78"/>
            </a:endParaRPr>
          </a:p>
        </p:txBody>
      </p:sp>
    </p:spTree>
    <p:extLst>
      <p:ext uri="{BB962C8B-B14F-4D97-AF65-F5344CB8AC3E}">
        <p14:creationId xmlns:p14="http://schemas.microsoft.com/office/powerpoint/2010/main" val="142379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7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331720"/>
            <a:ext cx="11057839" cy="1903085"/>
          </a:xfrm>
          <a:prstGeom prst="rect">
            <a:avLst/>
          </a:prstGeom>
          <a:noFill/>
        </p:spPr>
        <p:txBody>
          <a:bodyPr wrap="square" anchor="t">
            <a:spAutoFit/>
          </a:bodyPr>
          <a:lstStyle/>
          <a:p>
            <a:pPr algn="ctr" rtl="1">
              <a:spcAft>
                <a:spcPts val="1400"/>
              </a:spcAft>
            </a:pPr>
            <a:r>
              <a:rPr lang="fa-IR" sz="2600" b="1" dirty="0">
                <a:solidFill>
                  <a:srgbClr val="216BA5"/>
                </a:solidFill>
                <a:cs typeface="B Zar"/>
              </a:rPr>
              <a:t>بخش </a:t>
            </a:r>
            <a:r>
              <a:rPr lang="fa-IR" sz="2600" b="1" dirty="0" smtClean="0">
                <a:solidFill>
                  <a:srgbClr val="216BA5"/>
                </a:solidFill>
                <a:cs typeface="B Zar"/>
              </a:rPr>
              <a:t>2</a:t>
            </a:r>
            <a:endParaRPr lang="fa-IR" sz="2600" b="1" dirty="0">
              <a:solidFill>
                <a:srgbClr val="216BA5"/>
              </a:solidFill>
              <a:cs typeface="B Zar"/>
            </a:endParaRPr>
          </a:p>
          <a:p>
            <a:pPr algn="ctr" rtl="1">
              <a:spcAft>
                <a:spcPts val="1200"/>
              </a:spcAft>
            </a:pPr>
            <a:r>
              <a:rPr lang="fa-IR" sz="4600" b="1" dirty="0" smtClean="0">
                <a:solidFill>
                  <a:srgbClr val="1B4F72"/>
                </a:solidFill>
                <a:cs typeface="B Zar"/>
              </a:rPr>
              <a:t>رفع چالش‌های مجموعه داده</a:t>
            </a:r>
          </a:p>
          <a:p>
            <a:pPr algn="ctr" rtl="1">
              <a:spcAft>
                <a:spcPts val="1200"/>
              </a:spcAft>
            </a:pPr>
            <a:r>
              <a:rPr lang="fa-IR" sz="2400" dirty="0" smtClean="0">
                <a:solidFill>
                  <a:srgbClr val="4A5A66"/>
                </a:solidFill>
                <a:cs typeface="B Zar"/>
              </a:rPr>
              <a:t>حذف تصاویر معیوب، حل مشکل نشت اطلاعات و توزیع مجدد داده</a:t>
            </a:r>
            <a:endParaRPr lang="fa-IR" sz="2400" b="0" dirty="0">
              <a:solidFill>
                <a:srgbClr val="4A5A66"/>
              </a:solidFill>
              <a:cs typeface="B Zar"/>
            </a:endParaRPr>
          </a:p>
        </p:txBody>
      </p:sp>
    </p:spTree>
    <p:extLst>
      <p:ext uri="{BB962C8B-B14F-4D97-AF65-F5344CB8AC3E}">
        <p14:creationId xmlns:p14="http://schemas.microsoft.com/office/powerpoint/2010/main" val="1955960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 name="Rounded Rectangle 76">
            <a:extLst>
              <a:ext uri="{FF2B5EF4-FFF2-40B4-BE49-F238E27FC236}">
                <a16:creationId xmlns:a16="http://schemas.microsoft.com/office/drawing/2014/main" id="{8110BF90-2EC4-4F78-9888-36D4FC58C7F4}"/>
              </a:ext>
            </a:extLst>
          </p:cNvPr>
          <p:cNvSpPr>
            <a:spLocks noGrp="1"/>
          </p:cNvSpPr>
          <p:nvPr/>
        </p:nvSpPr>
        <p:spPr>
          <a:xfrm>
            <a:off x="3360017" y="3393781"/>
            <a:ext cx="1071742" cy="981795"/>
          </a:xfrm>
          <a:prstGeom prst="roundRect">
            <a:avLst>
              <a:gd name="adj" fmla="val 10000"/>
            </a:avLst>
          </a:prstGeom>
          <a:solidFill>
            <a:schemeClr val="accent4">
              <a:lumMod val="40000"/>
              <a:lumOff val="60000"/>
            </a:schemeClr>
          </a:solidFill>
          <a:ln w="11430">
            <a:noFill/>
          </a:ln>
        </p:spPr>
        <p:txBody>
          <a:bodyPr/>
          <a:lstStyle/>
          <a:p>
            <a:endParaRPr/>
          </a:p>
        </p:txBody>
      </p:sp>
      <p:sp>
        <p:nvSpPr>
          <p:cNvPr id="76" name="Rounded Rectangle 75">
            <a:extLst>
              <a:ext uri="{FF2B5EF4-FFF2-40B4-BE49-F238E27FC236}">
                <a16:creationId xmlns:a16="http://schemas.microsoft.com/office/drawing/2014/main" id="{8110BF90-2EC4-4F78-9888-36D4FC58C7F4}"/>
              </a:ext>
            </a:extLst>
          </p:cNvPr>
          <p:cNvSpPr>
            <a:spLocks noGrp="1"/>
          </p:cNvSpPr>
          <p:nvPr/>
        </p:nvSpPr>
        <p:spPr>
          <a:xfrm>
            <a:off x="2162214" y="3393781"/>
            <a:ext cx="1071742" cy="981795"/>
          </a:xfrm>
          <a:prstGeom prst="roundRect">
            <a:avLst>
              <a:gd name="adj" fmla="val 10000"/>
            </a:avLst>
          </a:prstGeom>
          <a:solidFill>
            <a:schemeClr val="accent4">
              <a:lumMod val="40000"/>
              <a:lumOff val="60000"/>
            </a:schemeClr>
          </a:solidFill>
          <a:ln w="11430">
            <a:noFill/>
          </a:ln>
        </p:spPr>
        <p:txBody>
          <a:bodyPr/>
          <a:lstStyle/>
          <a:p>
            <a:endParaRPr/>
          </a:p>
        </p:txBody>
      </p:sp>
      <p:sp>
        <p:nvSpPr>
          <p:cNvPr id="7" name="Rectangle 6">
            <a:extLst>
              <a:ext uri="{FF2B5EF4-FFF2-40B4-BE49-F238E27FC236}">
                <a16:creationId xmlns:a16="http://schemas.microsoft.com/office/drawing/2014/main" id="{476E79D1-1928-43EA-8A78-EF64D0831943}"/>
              </a:ext>
            </a:extLst>
          </p:cNvPr>
          <p:cNvSpPr>
            <a:spLocks noGrp="1"/>
          </p:cNvSpPr>
          <p:nvPr/>
        </p:nvSpPr>
        <p:spPr>
          <a:xfrm>
            <a:off x="171450" y="6496050"/>
            <a:ext cx="1762125" cy="238125"/>
          </a:xfrm>
          <a:prstGeom prst="rect">
            <a:avLst/>
          </a:prstGeom>
          <a:noFill/>
          <a:ln w="0">
            <a:noFill/>
          </a:ln>
        </p:spPr>
        <p:txBody>
          <a:bodyPr lIns="57150" tIns="38100" rIns="57150" bIns="38100" anchor="ctr">
            <a:noAutofit/>
          </a:bodyPr>
          <a:lstStyle/>
          <a:p>
            <a:pPr algn="r" rtl="1">
              <a:defRPr sz="1600" b="0">
                <a:solidFill>
                  <a:srgbClr val="52626E"/>
                </a:solidFill>
                <a:latin typeface="B Zar"/>
                <a:ea typeface="B Zar"/>
                <a:cs typeface="B Zar"/>
              </a:defRPr>
            </a:pPr>
            <a:r>
              <a:rPr lang="fa-IR" altLang="fa-IR" sz="1600" b="0" smtClean="0">
                <a:solidFill>
                  <a:srgbClr val="52626E"/>
                </a:solidFill>
                <a:latin typeface="B Zar"/>
                <a:ea typeface="B Zar"/>
                <a:cs typeface="B Zar"/>
              </a:rPr>
              <a:t>صفحه ۱۱ از ۳۱</a:t>
            </a:r>
            <a:endParaRPr lang="fa-IR" altLang="fa-IR" sz="1600" b="0">
              <a:solidFill>
                <a:srgbClr val="52626E"/>
              </a:solidFill>
              <a:latin typeface="B Zar"/>
              <a:ea typeface="B Zar"/>
              <a:cs typeface="B Zar"/>
            </a:endParaRPr>
          </a:p>
        </p:txBody>
      </p:sp>
      <p:sp>
        <p:nvSpPr>
          <p:cNvPr id="17" name="Rounded Rectangle 16">
            <a:extLst>
              <a:ext uri="{FF2B5EF4-FFF2-40B4-BE49-F238E27FC236}">
                <a16:creationId xmlns:a16="http://schemas.microsoft.com/office/drawing/2014/main" id="{8110BF90-2EC4-4F78-9888-36D4FC58C7F4}"/>
              </a:ext>
            </a:extLst>
          </p:cNvPr>
          <p:cNvSpPr>
            <a:spLocks noGrp="1"/>
          </p:cNvSpPr>
          <p:nvPr/>
        </p:nvSpPr>
        <p:spPr>
          <a:xfrm>
            <a:off x="968883" y="1197949"/>
            <a:ext cx="1071742" cy="981795"/>
          </a:xfrm>
          <a:prstGeom prst="roundRect">
            <a:avLst>
              <a:gd name="adj" fmla="val 10000"/>
            </a:avLst>
          </a:prstGeom>
          <a:solidFill>
            <a:schemeClr val="accent4">
              <a:lumMod val="40000"/>
              <a:lumOff val="60000"/>
            </a:schemeClr>
          </a:solidFill>
          <a:ln w="11430">
            <a:noFill/>
          </a:ln>
        </p:spPr>
        <p:txBody>
          <a:bodyPr/>
          <a:lstStyle/>
          <a:p>
            <a:endParaRPr/>
          </a:p>
        </p:txBody>
      </p:sp>
      <p:sp>
        <p:nvSpPr>
          <p:cNvPr id="18" name="Rectangle 17">
            <a:extLst>
              <a:ext uri="{FF2B5EF4-FFF2-40B4-BE49-F238E27FC236}">
                <a16:creationId xmlns:a16="http://schemas.microsoft.com/office/drawing/2014/main" id="{717ED14A-D093-439D-80A3-AD7084803ED8}"/>
              </a:ext>
            </a:extLst>
          </p:cNvPr>
          <p:cNvSpPr>
            <a:spLocks noGrp="1"/>
          </p:cNvSpPr>
          <p:nvPr/>
        </p:nvSpPr>
        <p:spPr>
          <a:xfrm>
            <a:off x="997458" y="1245575"/>
            <a:ext cx="704850" cy="266700"/>
          </a:xfrm>
          <a:prstGeom prst="rect">
            <a:avLst/>
          </a:prstGeom>
          <a:noFill/>
          <a:ln w="0">
            <a:noFill/>
          </a:ln>
        </p:spPr>
        <p:txBody>
          <a:bodyPr lIns="57150" tIns="38100" rIns="57150" bIns="38100" anchor="ctr">
            <a:noAutofit/>
          </a:bodyPr>
          <a:lstStyle/>
          <a:p>
            <a:pPr algn="ctr" rtl="1">
              <a:defRPr sz="1700" b="1">
                <a:solidFill>
                  <a:srgbClr val="173E5A"/>
                </a:solidFill>
                <a:latin typeface="B Zar"/>
                <a:ea typeface="B Zar"/>
                <a:cs typeface="B Zar"/>
              </a:defRPr>
            </a:pPr>
            <a:endParaRPr lang="fa-IR" altLang="fa-IR" sz="2000" b="1" dirty="0">
              <a:solidFill>
                <a:srgbClr val="173E5A"/>
              </a:solidFill>
              <a:latin typeface="B Zar"/>
              <a:ea typeface="B Zar"/>
              <a:cs typeface="B Zar"/>
            </a:endParaRPr>
          </a:p>
        </p:txBody>
      </p:sp>
      <p:sp>
        <p:nvSpPr>
          <p:cNvPr id="19" name="Rectangle 18">
            <a:extLst>
              <a:ext uri="{FF2B5EF4-FFF2-40B4-BE49-F238E27FC236}">
                <a16:creationId xmlns:a16="http://schemas.microsoft.com/office/drawing/2014/main" id="{8DC2F371-B87F-4093-873C-748D9D134A64}"/>
              </a:ext>
            </a:extLst>
          </p:cNvPr>
          <p:cNvSpPr>
            <a:spLocks noGrp="1"/>
          </p:cNvSpPr>
          <p:nvPr/>
        </p:nvSpPr>
        <p:spPr>
          <a:xfrm>
            <a:off x="997458" y="1559900"/>
            <a:ext cx="704850" cy="333375"/>
          </a:xfrm>
          <a:prstGeom prst="rect">
            <a:avLst/>
          </a:prstGeom>
          <a:noFill/>
          <a:ln w="0">
            <a:noFill/>
          </a:ln>
        </p:spPr>
        <p:txBody>
          <a:bodyPr lIns="57150" tIns="38100" rIns="57150" bIns="38100" anchor="ctr">
            <a:noAutofit/>
          </a:bodyPr>
          <a:lstStyle/>
          <a:p>
            <a:pPr algn="ctr" rtl="1">
              <a:defRPr sz="1600" b="1">
                <a:solidFill>
                  <a:srgbClr val="17232C"/>
                </a:solidFill>
                <a:latin typeface="B Zar"/>
                <a:ea typeface="B Zar"/>
                <a:cs typeface="B Zar"/>
              </a:defRPr>
            </a:pPr>
            <a:endParaRPr lang="fa-IR" altLang="fa-IR" sz="2000" b="1" dirty="0">
              <a:solidFill>
                <a:srgbClr val="17232C"/>
              </a:solidFill>
              <a:latin typeface="B Zar"/>
              <a:ea typeface="B Zar"/>
              <a:cs typeface="B Zar"/>
            </a:endParaRPr>
          </a:p>
        </p:txBody>
      </p:sp>
      <p:sp>
        <p:nvSpPr>
          <p:cNvPr id="21" name="Rectangle 20">
            <a:extLst>
              <a:ext uri="{FF2B5EF4-FFF2-40B4-BE49-F238E27FC236}">
                <a16:creationId xmlns:a16="http://schemas.microsoft.com/office/drawing/2014/main" id="{6AA6DA3F-E5A5-4B5E-82D4-7A1F6513A29E}"/>
              </a:ext>
            </a:extLst>
          </p:cNvPr>
          <p:cNvSpPr>
            <a:spLocks noGrp="1"/>
          </p:cNvSpPr>
          <p:nvPr/>
        </p:nvSpPr>
        <p:spPr>
          <a:xfrm>
            <a:off x="1826133" y="1245575"/>
            <a:ext cx="704850" cy="266700"/>
          </a:xfrm>
          <a:prstGeom prst="rect">
            <a:avLst/>
          </a:prstGeom>
          <a:noFill/>
          <a:ln w="0">
            <a:noFill/>
          </a:ln>
        </p:spPr>
        <p:txBody>
          <a:bodyPr lIns="57150" tIns="38100" rIns="57150" bIns="38100" anchor="ctr">
            <a:noAutofit/>
          </a:bodyPr>
          <a:lstStyle/>
          <a:p>
            <a:pPr algn="ctr" rtl="1">
              <a:defRPr sz="1700" b="1">
                <a:solidFill>
                  <a:srgbClr val="173E5A"/>
                </a:solidFill>
                <a:latin typeface="B Zar"/>
                <a:ea typeface="B Zar"/>
                <a:cs typeface="B Zar"/>
              </a:defRPr>
            </a:pPr>
            <a:endParaRPr lang="fa-IR" altLang="fa-IR" sz="2000" b="1" dirty="0">
              <a:solidFill>
                <a:srgbClr val="173E5A"/>
              </a:solidFill>
              <a:latin typeface="B Zar"/>
              <a:ea typeface="B Zar"/>
              <a:cs typeface="B Zar"/>
            </a:endParaRPr>
          </a:p>
        </p:txBody>
      </p:sp>
      <p:sp>
        <p:nvSpPr>
          <p:cNvPr id="56" name="Rectangle 55">
            <a:extLst>
              <a:ext uri="{FF2B5EF4-FFF2-40B4-BE49-F238E27FC236}">
                <a16:creationId xmlns:a16="http://schemas.microsoft.com/office/drawing/2014/main" id="{5BFA218A-C286-4FE6-A673-BB926047EB1A}"/>
              </a:ext>
            </a:extLst>
          </p:cNvPr>
          <p:cNvSpPr>
            <a:spLocks noGrp="1"/>
          </p:cNvSpPr>
          <p:nvPr/>
        </p:nvSpPr>
        <p:spPr>
          <a:xfrm>
            <a:off x="7655435" y="4429953"/>
            <a:ext cx="3489450" cy="1105278"/>
          </a:xfrm>
          <a:prstGeom prst="rect">
            <a:avLst/>
          </a:prstGeom>
          <a:noFill/>
          <a:ln w="0">
            <a:noFill/>
          </a:ln>
        </p:spPr>
        <p:txBody>
          <a:bodyPr lIns="57150" tIns="38100" rIns="57150" bIns="38100" anchor="ctr">
            <a:noAutofit/>
          </a:bodyPr>
          <a:lstStyle/>
          <a:p>
            <a:pPr algn="just" rtl="1">
              <a:lnSpc>
                <a:spcPct val="150000"/>
              </a:lnSpc>
              <a:defRPr sz="2100" b="1">
                <a:solidFill>
                  <a:srgbClr val="8B3A32"/>
                </a:solidFill>
                <a:latin typeface="B Zar"/>
                <a:ea typeface="B Zar"/>
                <a:cs typeface="B Zar"/>
              </a:defRPr>
            </a:pPr>
            <a:r>
              <a:rPr lang="fa-IR" altLang="fa-IR" sz="2100" b="1" dirty="0">
                <a:solidFill>
                  <a:schemeClr val="accent2">
                    <a:lumMod val="75000"/>
                  </a:schemeClr>
                </a:solidFill>
                <a:latin typeface="B Zar"/>
                <a:ea typeface="B Zar"/>
                <a:cs typeface="B Zar"/>
              </a:rPr>
              <a:t>این ترتیب فقط یک نمونه است؛ الگوی تقسیم در ویدیوهای مختلف </a:t>
            </a:r>
            <a:r>
              <a:rPr lang="fa-IR" altLang="fa-IR" sz="2100" b="1" dirty="0" smtClean="0">
                <a:solidFill>
                  <a:schemeClr val="accent2">
                    <a:lumMod val="75000"/>
                  </a:schemeClr>
                </a:solidFill>
                <a:latin typeface="B Zar"/>
                <a:ea typeface="B Zar"/>
                <a:cs typeface="B Zar"/>
              </a:rPr>
              <a:t>یکسان نیست.</a:t>
            </a:r>
            <a:endParaRPr lang="fa-IR" altLang="fa-IR" sz="2100" b="1" dirty="0">
              <a:solidFill>
                <a:schemeClr val="accent2">
                  <a:lumMod val="75000"/>
                </a:schemeClr>
              </a:solidFill>
              <a:latin typeface="B Zar"/>
              <a:ea typeface="B Zar"/>
              <a:cs typeface="B Zar"/>
            </a:endParaRPr>
          </a:p>
        </p:txBody>
      </p:sp>
      <p:sp>
        <p:nvSpPr>
          <p:cNvPr id="57" name="Rectangle 56">
            <a:extLst>
              <a:ext uri="{FF2B5EF4-FFF2-40B4-BE49-F238E27FC236}">
                <a16:creationId xmlns:a16="http://schemas.microsoft.com/office/drawing/2014/main" id="{825D88DE-CC15-4413-AC0B-3DF6BF5BA3C4}"/>
              </a:ext>
            </a:extLst>
          </p:cNvPr>
          <p:cNvSpPr>
            <a:spLocks noGrp="1"/>
          </p:cNvSpPr>
          <p:nvPr/>
        </p:nvSpPr>
        <p:spPr>
          <a:xfrm>
            <a:off x="10334625" y="5810250"/>
            <a:ext cx="952500" cy="266700"/>
          </a:xfrm>
          <a:prstGeom prst="rect">
            <a:avLst/>
          </a:prstGeom>
          <a:noFill/>
          <a:ln w="0">
            <a:noFill/>
          </a:ln>
        </p:spPr>
        <p:txBody>
          <a:bodyPr lIns="38100" tIns="28575" rIns="38100" bIns="28575" anchor="ctr">
            <a:noAutofit/>
          </a:bodyPr>
          <a:lstStyle/>
          <a:p>
            <a:pPr algn="r">
              <a:defRPr sz="1900" b="0">
                <a:solidFill>
                  <a:srgbClr val="52626E"/>
                </a:solidFill>
                <a:latin typeface="Times New Roman"/>
                <a:ea typeface="Times New Roman"/>
                <a:cs typeface="Times New Roman"/>
              </a:defRPr>
            </a:pPr>
            <a:endParaRPr lang="en-US" altLang="fa-IR" sz="1900" b="0" dirty="0">
              <a:solidFill>
                <a:srgbClr val="52626E"/>
              </a:solidFill>
              <a:latin typeface="Times New Roman"/>
              <a:ea typeface="Times New Roman"/>
              <a:cs typeface="Times New Roman"/>
            </a:endParaRPr>
          </a:p>
        </p:txBody>
      </p:sp>
      <p:pic>
        <p:nvPicPr>
          <p:cNvPr id="59" name="Picture 58"/>
          <p:cNvPicPr>
            <a:picLocks noChangeAspect="1"/>
          </p:cNvPicPr>
          <p:nvPr/>
        </p:nvPicPr>
        <p:blipFill>
          <a:blip r:embed="rId3"/>
          <a:stretch/>
        </p:blipFill>
        <p:spPr>
          <a:xfrm>
            <a:off x="428984" y="187916"/>
            <a:ext cx="535979" cy="628650"/>
          </a:xfrm>
          <a:prstGeom prst="rect">
            <a:avLst/>
          </a:prstGeom>
        </p:spPr>
      </p:pic>
      <p:sp>
        <p:nvSpPr>
          <p:cNvPr id="60" name="Rectangle 59">
            <a:extLst>
              <a:ext uri="{FF2B5EF4-FFF2-40B4-BE49-F238E27FC236}">
                <a16:creationId xmlns:a16="http://schemas.microsoft.com/office/drawing/2014/main" id="{C4452ECC-0329-42FD-A992-5D81CCFFD581}"/>
              </a:ext>
            </a:extLst>
          </p:cNvPr>
          <p:cNvSpPr>
            <a:spLocks noGrp="1"/>
          </p:cNvSpPr>
          <p:nvPr/>
        </p:nvSpPr>
        <p:spPr>
          <a:xfrm>
            <a:off x="1754630" y="279232"/>
            <a:ext cx="10096500" cy="485775"/>
          </a:xfrm>
          <a:prstGeom prst="rect">
            <a:avLst/>
          </a:prstGeom>
          <a:noFill/>
          <a:ln w="0">
            <a:noFill/>
          </a:ln>
        </p:spPr>
        <p:txBody>
          <a:bodyPr lIns="57150" tIns="38100" rIns="57150" bIns="38100" anchor="ctr">
            <a:noAutofit/>
          </a:bodyPr>
          <a:lstStyle/>
          <a:p>
            <a:pPr algn="r" rtl="1">
              <a:defRPr sz="3100" b="1">
                <a:solidFill>
                  <a:srgbClr val="173E5A"/>
                </a:solidFill>
                <a:latin typeface="B Zar"/>
                <a:ea typeface="B Zar"/>
                <a:cs typeface="B Zar"/>
              </a:defRPr>
            </a:pPr>
            <a:r>
              <a:rPr lang="fa-IR" altLang="fa-IR" sz="3100" b="1" dirty="0" smtClean="0">
                <a:solidFill>
                  <a:srgbClr val="173E5A"/>
                </a:solidFill>
                <a:latin typeface="B Zar"/>
                <a:ea typeface="B Zar"/>
                <a:cs typeface="B Zar"/>
              </a:rPr>
              <a:t>چالش‌ها و مشکلات مجموعه‌داده </a:t>
            </a:r>
            <a:r>
              <a:rPr lang="en-US" altLang="fa-IR" sz="3000" b="1" dirty="0" smtClean="0">
                <a:solidFill>
                  <a:srgbClr val="173E5A"/>
                </a:solidFill>
                <a:latin typeface="Times New Roman" panose="02020603050405020304" pitchFamily="18" charset="0"/>
                <a:ea typeface="B Zar"/>
                <a:cs typeface="Times New Roman" panose="02020603050405020304" pitchFamily="18" charset="0"/>
              </a:rPr>
              <a:t>IADD</a:t>
            </a:r>
            <a:endParaRPr lang="fa-IR" altLang="fa-IR" sz="3000" b="1" dirty="0">
              <a:solidFill>
                <a:srgbClr val="173E5A"/>
              </a:solidFill>
              <a:latin typeface="Times New Roman" panose="02020603050405020304" pitchFamily="18" charset="0"/>
              <a:ea typeface="B Zar"/>
              <a:cs typeface="Times New Roman" panose="02020603050405020304" pitchFamily="18" charset="0"/>
            </a:endParaRPr>
          </a:p>
        </p:txBody>
      </p:sp>
      <p:sp>
        <p:nvSpPr>
          <p:cNvPr id="68" name="Rectangle 67"/>
          <p:cNvSpPr/>
          <p:nvPr/>
        </p:nvSpPr>
        <p:spPr>
          <a:xfrm>
            <a:off x="4910328" y="1563623"/>
            <a:ext cx="6373368" cy="2788920"/>
          </a:xfrm>
          <a:prstGeom prst="rect">
            <a:avLst/>
          </a:prstGeom>
        </p:spPr>
        <p:txBody>
          <a:bodyPr wrap="square" lIns="0" tIns="0" rIns="0" bIns="0">
            <a:noAutofit/>
          </a:bodyPr>
          <a:lstStyle/>
          <a:p>
            <a:pPr algn="r" rtl="1">
              <a:lnSpc>
                <a:spcPct val="150000"/>
              </a:lnSpc>
              <a:spcAft>
                <a:spcPts val="200"/>
              </a:spcAft>
            </a:pPr>
            <a:r>
              <a:rPr lang="fa-IR" sz="2000" b="1" dirty="0" smtClean="0">
                <a:solidFill>
                  <a:srgbClr val="222222"/>
                </a:solidFill>
                <a:cs typeface="B Zar" panose="00000400000000000000" pitchFamily="50" charset="-78"/>
              </a:rPr>
              <a:t>۱. نشت داده:</a:t>
            </a:r>
            <a:r>
              <a:rPr lang="fa-IR" sz="2000" dirty="0" smtClean="0">
                <a:solidFill>
                  <a:srgbClr val="222222"/>
                </a:solidFill>
                <a:cs typeface="B Zar" panose="00000400000000000000" pitchFamily="50" charset="-78"/>
              </a:rPr>
              <a:t> فریم‌های یک ویدیو در چند بخش [۲]</a:t>
            </a:r>
          </a:p>
          <a:p>
            <a:pPr algn="r" rtl="1">
              <a:lnSpc>
                <a:spcPct val="150000"/>
              </a:lnSpc>
              <a:spcAft>
                <a:spcPts val="200"/>
              </a:spcAft>
            </a:pPr>
            <a:r>
              <a:rPr lang="fa-IR" sz="2000" b="1" dirty="0" smtClean="0">
                <a:solidFill>
                  <a:srgbClr val="222222"/>
                </a:solidFill>
                <a:cs typeface="B Zar" panose="00000400000000000000" pitchFamily="50" charset="-78"/>
              </a:rPr>
              <a:t>۲. ویدیوهای تکراری:</a:t>
            </a:r>
            <a:r>
              <a:rPr lang="fa-IR" sz="2000" dirty="0" smtClean="0">
                <a:solidFill>
                  <a:srgbClr val="222222"/>
                </a:solidFill>
                <a:cs typeface="B Zar" panose="00000400000000000000" pitchFamily="50" charset="-78"/>
              </a:rPr>
              <a:t> محتوای یکسان با دو شناسه</a:t>
            </a:r>
          </a:p>
          <a:p>
            <a:pPr algn="r" rtl="1">
              <a:lnSpc>
                <a:spcPct val="150000"/>
              </a:lnSpc>
              <a:spcAft>
                <a:spcPts val="200"/>
              </a:spcAft>
            </a:pPr>
            <a:r>
              <a:rPr lang="fa-IR" sz="2000" b="1" dirty="0" smtClean="0">
                <a:solidFill>
                  <a:srgbClr val="222222"/>
                </a:solidFill>
                <a:cs typeface="B Zar" panose="00000400000000000000" pitchFamily="50" charset="-78"/>
              </a:rPr>
              <a:t>۳. برچسب معیوب:</a:t>
            </a:r>
            <a:r>
              <a:rPr lang="fa-IR" sz="2000" dirty="0" smtClean="0">
                <a:solidFill>
                  <a:srgbClr val="222222"/>
                </a:solidFill>
                <a:cs typeface="B Zar" panose="00000400000000000000" pitchFamily="50" charset="-78"/>
              </a:rPr>
              <a:t> کادر ناقص، جابه‌جا یا غایب</a:t>
            </a:r>
          </a:p>
          <a:p>
            <a:pPr algn="r" rtl="1">
              <a:lnSpc>
                <a:spcPct val="150000"/>
              </a:lnSpc>
              <a:spcAft>
                <a:spcPts val="200"/>
              </a:spcAft>
            </a:pPr>
            <a:r>
              <a:rPr lang="fa-IR" sz="2000" b="1" dirty="0" smtClean="0">
                <a:solidFill>
                  <a:srgbClr val="222222"/>
                </a:solidFill>
                <a:cs typeface="B Zar" panose="00000400000000000000" pitchFamily="50" charset="-78"/>
              </a:rPr>
              <a:t>۴. ناهم‌ترازی:</a:t>
            </a:r>
            <a:r>
              <a:rPr lang="fa-IR" sz="2000" dirty="0" smtClean="0">
                <a:solidFill>
                  <a:srgbClr val="222222"/>
                </a:solidFill>
                <a:cs typeface="B Zar" panose="00000400000000000000" pitchFamily="50" charset="-78"/>
              </a:rPr>
              <a:t> تفاوت دشواری دو بخش ارزیابی</a:t>
            </a:r>
          </a:p>
          <a:p>
            <a:pPr algn="r" rtl="1">
              <a:lnSpc>
                <a:spcPct val="150000"/>
              </a:lnSpc>
              <a:spcAft>
                <a:spcPts val="200"/>
              </a:spcAft>
            </a:pPr>
            <a:r>
              <a:rPr lang="fa-IR" sz="2000" b="1" dirty="0" smtClean="0">
                <a:solidFill>
                  <a:srgbClr val="222222"/>
                </a:solidFill>
                <a:cs typeface="B Zar" panose="00000400000000000000" pitchFamily="50" charset="-78"/>
              </a:rPr>
              <a:t>۵. آزمون بی‌برچسب:</a:t>
            </a:r>
            <a:r>
              <a:rPr lang="fa-IR" sz="2000" dirty="0" smtClean="0">
                <a:solidFill>
                  <a:srgbClr val="222222"/>
                </a:solidFill>
                <a:cs typeface="B Zar" panose="00000400000000000000" pitchFamily="50" charset="-78"/>
              </a:rPr>
              <a:t> ساخت آزمون برچسب‌دار</a:t>
            </a:r>
            <a:endParaRPr lang="fa-IR" sz="2000" dirty="0">
              <a:solidFill>
                <a:srgbClr val="222222"/>
              </a:solidFill>
              <a:cs typeface="B Zar" panose="00000400000000000000" pitchFamily="50" charset="-78"/>
            </a:endParaRPr>
          </a:p>
        </p:txBody>
      </p:sp>
      <p:sp>
        <p:nvSpPr>
          <p:cNvPr id="70" name="Rounded Rectangle 69">
            <a:extLst>
              <a:ext uri="{FF2B5EF4-FFF2-40B4-BE49-F238E27FC236}">
                <a16:creationId xmlns:a16="http://schemas.microsoft.com/office/drawing/2014/main" id="{8110BF90-2EC4-4F78-9888-36D4FC58C7F4}"/>
              </a:ext>
            </a:extLst>
          </p:cNvPr>
          <p:cNvSpPr>
            <a:spLocks noGrp="1"/>
          </p:cNvSpPr>
          <p:nvPr/>
        </p:nvSpPr>
        <p:spPr>
          <a:xfrm>
            <a:off x="2164450" y="1197949"/>
            <a:ext cx="1071742" cy="981795"/>
          </a:xfrm>
          <a:prstGeom prst="roundRect">
            <a:avLst>
              <a:gd name="adj" fmla="val 10000"/>
            </a:avLst>
          </a:prstGeom>
          <a:solidFill>
            <a:schemeClr val="accent4">
              <a:lumMod val="40000"/>
              <a:lumOff val="60000"/>
            </a:schemeClr>
          </a:solidFill>
          <a:ln w="11430">
            <a:noFill/>
          </a:ln>
        </p:spPr>
        <p:txBody>
          <a:bodyPr/>
          <a:lstStyle/>
          <a:p>
            <a:endParaRPr/>
          </a:p>
        </p:txBody>
      </p:sp>
      <p:sp>
        <p:nvSpPr>
          <p:cNvPr id="71" name="Rounded Rectangle 70">
            <a:extLst>
              <a:ext uri="{FF2B5EF4-FFF2-40B4-BE49-F238E27FC236}">
                <a16:creationId xmlns:a16="http://schemas.microsoft.com/office/drawing/2014/main" id="{8110BF90-2EC4-4F78-9888-36D4FC58C7F4}"/>
              </a:ext>
            </a:extLst>
          </p:cNvPr>
          <p:cNvSpPr>
            <a:spLocks noGrp="1"/>
          </p:cNvSpPr>
          <p:nvPr/>
        </p:nvSpPr>
        <p:spPr>
          <a:xfrm>
            <a:off x="3360017" y="1196478"/>
            <a:ext cx="1071742" cy="981795"/>
          </a:xfrm>
          <a:prstGeom prst="roundRect">
            <a:avLst>
              <a:gd name="adj" fmla="val 10000"/>
            </a:avLst>
          </a:prstGeom>
          <a:solidFill>
            <a:schemeClr val="accent2">
              <a:lumMod val="40000"/>
              <a:lumOff val="60000"/>
            </a:schemeClr>
          </a:solidFill>
          <a:ln w="11430">
            <a:noFill/>
          </a:ln>
        </p:spPr>
        <p:txBody>
          <a:bodyPr/>
          <a:lstStyle/>
          <a:p>
            <a:endParaRPr/>
          </a:p>
        </p:txBody>
      </p:sp>
      <p:sp>
        <p:nvSpPr>
          <p:cNvPr id="72" name="Rounded Rectangle 71">
            <a:extLst>
              <a:ext uri="{FF2B5EF4-FFF2-40B4-BE49-F238E27FC236}">
                <a16:creationId xmlns:a16="http://schemas.microsoft.com/office/drawing/2014/main" id="{8110BF90-2EC4-4F78-9888-36D4FC58C7F4}"/>
              </a:ext>
            </a:extLst>
          </p:cNvPr>
          <p:cNvSpPr>
            <a:spLocks noGrp="1"/>
          </p:cNvSpPr>
          <p:nvPr/>
        </p:nvSpPr>
        <p:spPr>
          <a:xfrm>
            <a:off x="968883" y="2295865"/>
            <a:ext cx="1071742" cy="981795"/>
          </a:xfrm>
          <a:prstGeom prst="roundRect">
            <a:avLst>
              <a:gd name="adj" fmla="val 10000"/>
            </a:avLst>
          </a:prstGeom>
          <a:solidFill>
            <a:schemeClr val="accent4">
              <a:lumMod val="40000"/>
              <a:lumOff val="60000"/>
            </a:schemeClr>
          </a:solidFill>
          <a:ln w="11430">
            <a:noFill/>
          </a:ln>
        </p:spPr>
        <p:txBody>
          <a:bodyPr/>
          <a:lstStyle/>
          <a:p>
            <a:endParaRPr/>
          </a:p>
        </p:txBody>
      </p:sp>
      <p:sp>
        <p:nvSpPr>
          <p:cNvPr id="73" name="Rounded Rectangle 72">
            <a:extLst>
              <a:ext uri="{FF2B5EF4-FFF2-40B4-BE49-F238E27FC236}">
                <a16:creationId xmlns:a16="http://schemas.microsoft.com/office/drawing/2014/main" id="{8110BF90-2EC4-4F78-9888-36D4FC58C7F4}"/>
              </a:ext>
            </a:extLst>
          </p:cNvPr>
          <p:cNvSpPr>
            <a:spLocks noGrp="1"/>
          </p:cNvSpPr>
          <p:nvPr/>
        </p:nvSpPr>
        <p:spPr>
          <a:xfrm>
            <a:off x="2164450" y="2295864"/>
            <a:ext cx="1071742" cy="981795"/>
          </a:xfrm>
          <a:prstGeom prst="roundRect">
            <a:avLst>
              <a:gd name="adj" fmla="val 10000"/>
            </a:avLst>
          </a:prstGeom>
          <a:solidFill>
            <a:schemeClr val="accent2">
              <a:lumMod val="40000"/>
              <a:lumOff val="60000"/>
            </a:schemeClr>
          </a:solidFill>
          <a:ln w="11430">
            <a:noFill/>
          </a:ln>
        </p:spPr>
        <p:txBody>
          <a:bodyPr/>
          <a:lstStyle/>
          <a:p>
            <a:endParaRPr/>
          </a:p>
        </p:txBody>
      </p:sp>
      <p:sp>
        <p:nvSpPr>
          <p:cNvPr id="74" name="Rounded Rectangle 73">
            <a:extLst>
              <a:ext uri="{FF2B5EF4-FFF2-40B4-BE49-F238E27FC236}">
                <a16:creationId xmlns:a16="http://schemas.microsoft.com/office/drawing/2014/main" id="{8110BF90-2EC4-4F78-9888-36D4FC58C7F4}"/>
              </a:ext>
            </a:extLst>
          </p:cNvPr>
          <p:cNvSpPr>
            <a:spLocks noGrp="1"/>
          </p:cNvSpPr>
          <p:nvPr/>
        </p:nvSpPr>
        <p:spPr>
          <a:xfrm>
            <a:off x="3360017" y="2294721"/>
            <a:ext cx="1071742" cy="981795"/>
          </a:xfrm>
          <a:prstGeom prst="roundRect">
            <a:avLst>
              <a:gd name="adj" fmla="val 10000"/>
            </a:avLst>
          </a:prstGeom>
          <a:solidFill>
            <a:schemeClr val="accent2">
              <a:lumMod val="40000"/>
              <a:lumOff val="60000"/>
            </a:schemeClr>
          </a:solidFill>
          <a:ln w="11430">
            <a:noFill/>
          </a:ln>
        </p:spPr>
        <p:txBody>
          <a:bodyPr/>
          <a:lstStyle/>
          <a:p>
            <a:endParaRPr/>
          </a:p>
        </p:txBody>
      </p:sp>
      <p:sp>
        <p:nvSpPr>
          <p:cNvPr id="75" name="Rounded Rectangle 74">
            <a:extLst>
              <a:ext uri="{FF2B5EF4-FFF2-40B4-BE49-F238E27FC236}">
                <a16:creationId xmlns:a16="http://schemas.microsoft.com/office/drawing/2014/main" id="{8110BF90-2EC4-4F78-9888-36D4FC58C7F4}"/>
              </a:ext>
            </a:extLst>
          </p:cNvPr>
          <p:cNvSpPr>
            <a:spLocks noGrp="1"/>
          </p:cNvSpPr>
          <p:nvPr/>
        </p:nvSpPr>
        <p:spPr>
          <a:xfrm>
            <a:off x="968883" y="3393781"/>
            <a:ext cx="1071742" cy="981795"/>
          </a:xfrm>
          <a:prstGeom prst="roundRect">
            <a:avLst>
              <a:gd name="adj" fmla="val 10000"/>
            </a:avLst>
          </a:prstGeom>
          <a:solidFill>
            <a:schemeClr val="accent4">
              <a:lumMod val="40000"/>
              <a:lumOff val="60000"/>
            </a:schemeClr>
          </a:solidFill>
          <a:ln w="11430">
            <a:noFill/>
          </a:ln>
        </p:spPr>
        <p:txBody>
          <a:bodyPr/>
          <a:lstStyle/>
          <a:p>
            <a:endParaRPr/>
          </a:p>
        </p:txBody>
      </p:sp>
      <p:sp>
        <p:nvSpPr>
          <p:cNvPr id="78" name="Rounded Rectangle 77">
            <a:extLst>
              <a:ext uri="{FF2B5EF4-FFF2-40B4-BE49-F238E27FC236}">
                <a16:creationId xmlns:a16="http://schemas.microsoft.com/office/drawing/2014/main" id="{8110BF90-2EC4-4F78-9888-36D4FC58C7F4}"/>
              </a:ext>
            </a:extLst>
          </p:cNvPr>
          <p:cNvSpPr>
            <a:spLocks noGrp="1"/>
          </p:cNvSpPr>
          <p:nvPr/>
        </p:nvSpPr>
        <p:spPr>
          <a:xfrm>
            <a:off x="964963" y="4491697"/>
            <a:ext cx="1071742" cy="981795"/>
          </a:xfrm>
          <a:prstGeom prst="roundRect">
            <a:avLst>
              <a:gd name="adj" fmla="val 10000"/>
            </a:avLst>
          </a:prstGeom>
          <a:solidFill>
            <a:schemeClr val="accent4">
              <a:lumMod val="40000"/>
              <a:lumOff val="60000"/>
            </a:schemeClr>
          </a:solidFill>
          <a:ln w="11430">
            <a:noFill/>
          </a:ln>
        </p:spPr>
        <p:txBody>
          <a:bodyPr/>
          <a:lstStyle/>
          <a:p>
            <a:endParaRPr/>
          </a:p>
        </p:txBody>
      </p:sp>
      <p:sp>
        <p:nvSpPr>
          <p:cNvPr id="79" name="Rounded Rectangle 78">
            <a:extLst>
              <a:ext uri="{FF2B5EF4-FFF2-40B4-BE49-F238E27FC236}">
                <a16:creationId xmlns:a16="http://schemas.microsoft.com/office/drawing/2014/main" id="{8110BF90-2EC4-4F78-9888-36D4FC58C7F4}"/>
              </a:ext>
            </a:extLst>
          </p:cNvPr>
          <p:cNvSpPr>
            <a:spLocks noGrp="1"/>
          </p:cNvSpPr>
          <p:nvPr/>
        </p:nvSpPr>
        <p:spPr>
          <a:xfrm>
            <a:off x="2162214" y="4491696"/>
            <a:ext cx="1071742" cy="981795"/>
          </a:xfrm>
          <a:prstGeom prst="roundRect">
            <a:avLst>
              <a:gd name="adj" fmla="val 10000"/>
            </a:avLst>
          </a:prstGeom>
          <a:solidFill>
            <a:schemeClr val="accent4">
              <a:lumMod val="40000"/>
              <a:lumOff val="60000"/>
            </a:schemeClr>
          </a:solidFill>
          <a:ln w="11430">
            <a:noFill/>
          </a:ln>
        </p:spPr>
        <p:txBody>
          <a:bodyPr/>
          <a:lstStyle/>
          <a:p>
            <a:endParaRPr/>
          </a:p>
        </p:txBody>
      </p:sp>
      <p:sp>
        <p:nvSpPr>
          <p:cNvPr id="80" name="Rounded Rectangle 79">
            <a:extLst>
              <a:ext uri="{FF2B5EF4-FFF2-40B4-BE49-F238E27FC236}">
                <a16:creationId xmlns:a16="http://schemas.microsoft.com/office/drawing/2014/main" id="{8110BF90-2EC4-4F78-9888-36D4FC58C7F4}"/>
              </a:ext>
            </a:extLst>
          </p:cNvPr>
          <p:cNvSpPr>
            <a:spLocks noGrp="1"/>
          </p:cNvSpPr>
          <p:nvPr/>
        </p:nvSpPr>
        <p:spPr>
          <a:xfrm>
            <a:off x="3360017" y="4491695"/>
            <a:ext cx="1071742" cy="981795"/>
          </a:xfrm>
          <a:prstGeom prst="roundRect">
            <a:avLst>
              <a:gd name="adj" fmla="val 10000"/>
            </a:avLst>
          </a:prstGeom>
          <a:solidFill>
            <a:schemeClr val="accent6">
              <a:lumMod val="40000"/>
              <a:lumOff val="60000"/>
            </a:schemeClr>
          </a:solidFill>
          <a:ln w="11430">
            <a:noFill/>
          </a:ln>
        </p:spPr>
        <p:txBody>
          <a:bodyPr/>
          <a:lstStyle/>
          <a:p>
            <a:endParaRPr/>
          </a:p>
        </p:txBody>
      </p:sp>
      <p:sp>
        <p:nvSpPr>
          <p:cNvPr id="81" name="TextBox 80"/>
          <p:cNvSpPr txBox="1"/>
          <p:nvPr/>
        </p:nvSpPr>
        <p:spPr>
          <a:xfrm>
            <a:off x="1145717" y="1379598"/>
            <a:ext cx="695704" cy="615553"/>
          </a:xfrm>
          <a:prstGeom prst="rect">
            <a:avLst/>
          </a:prstGeom>
          <a:noFill/>
        </p:spPr>
        <p:txBody>
          <a:bodyPr wrap="none" lIns="0" tIns="0" rIns="0" bIns="0" rtlCol="0">
            <a:spAutoFit/>
          </a:bodyPr>
          <a:lstStyle/>
          <a:p>
            <a:pPr algn="ctr" rtl="1"/>
            <a:r>
              <a:rPr lang="fa-IR" sz="2000" b="1" dirty="0" smtClean="0">
                <a:solidFill>
                  <a:schemeClr val="accent4">
                    <a:lumMod val="50000"/>
                  </a:schemeClr>
                </a:solidFill>
                <a:cs typeface="B Zar" panose="00000400000000000000" pitchFamily="50" charset="-78"/>
              </a:rPr>
              <a:t>فریم 0</a:t>
            </a:r>
          </a:p>
          <a:p>
            <a:pPr algn="ctr" rtl="1"/>
            <a:r>
              <a:rPr lang="fa-IR" sz="2000" b="1" dirty="0" smtClean="0">
                <a:solidFill>
                  <a:schemeClr val="accent4">
                    <a:lumMod val="50000"/>
                  </a:schemeClr>
                </a:solidFill>
                <a:cs typeface="B Zar" panose="00000400000000000000" pitchFamily="50" charset="-78"/>
              </a:rPr>
              <a:t>آموزش</a:t>
            </a:r>
            <a:endParaRPr lang="en-US" sz="2000" b="1" dirty="0">
              <a:solidFill>
                <a:schemeClr val="accent4">
                  <a:lumMod val="50000"/>
                </a:schemeClr>
              </a:solidFill>
              <a:cs typeface="B Zar" panose="00000400000000000000" pitchFamily="50" charset="-78"/>
            </a:endParaRPr>
          </a:p>
        </p:txBody>
      </p:sp>
      <p:sp>
        <p:nvSpPr>
          <p:cNvPr id="83" name="TextBox 82"/>
          <p:cNvSpPr txBox="1"/>
          <p:nvPr/>
        </p:nvSpPr>
        <p:spPr>
          <a:xfrm>
            <a:off x="2229046" y="1302311"/>
            <a:ext cx="938077" cy="1015663"/>
          </a:xfrm>
          <a:prstGeom prst="rect">
            <a:avLst/>
          </a:prstGeom>
          <a:noFill/>
        </p:spPr>
        <p:txBody>
          <a:bodyPr wrap="none" rtlCol="0">
            <a:spAutoFit/>
          </a:bodyPr>
          <a:lstStyle/>
          <a:p>
            <a:pPr algn="ctr" rtl="1"/>
            <a:r>
              <a:rPr lang="fa-IR" sz="2000" b="1" dirty="0">
                <a:solidFill>
                  <a:schemeClr val="accent4">
                    <a:lumMod val="50000"/>
                  </a:schemeClr>
                </a:solidFill>
                <a:cs typeface="B Zar" panose="00000400000000000000" pitchFamily="50" charset="-78"/>
              </a:rPr>
              <a:t>فریم </a:t>
            </a:r>
            <a:r>
              <a:rPr lang="fa-IR" sz="2000" b="1" dirty="0" smtClean="0">
                <a:solidFill>
                  <a:schemeClr val="accent4">
                    <a:lumMod val="50000"/>
                  </a:schemeClr>
                </a:solidFill>
                <a:cs typeface="B Zar" panose="00000400000000000000" pitchFamily="50" charset="-78"/>
              </a:rPr>
              <a:t>1</a:t>
            </a:r>
            <a:endParaRPr lang="fa-IR" sz="2000" b="1" dirty="0">
              <a:solidFill>
                <a:schemeClr val="accent4">
                  <a:lumMod val="50000"/>
                </a:schemeClr>
              </a:solidFill>
              <a:cs typeface="B Zar" panose="00000400000000000000" pitchFamily="50" charset="-78"/>
            </a:endParaRPr>
          </a:p>
          <a:p>
            <a:pPr algn="ctr" rtl="1"/>
            <a:r>
              <a:rPr lang="fa-IR" sz="2000" b="1" dirty="0">
                <a:solidFill>
                  <a:schemeClr val="accent4">
                    <a:lumMod val="50000"/>
                  </a:schemeClr>
                </a:solidFill>
                <a:cs typeface="B Zar" panose="00000400000000000000" pitchFamily="50" charset="-78"/>
              </a:rPr>
              <a:t>آموزش</a:t>
            </a:r>
            <a:endParaRPr lang="en-US" sz="2000" b="1" dirty="0">
              <a:solidFill>
                <a:schemeClr val="accent4">
                  <a:lumMod val="50000"/>
                </a:schemeClr>
              </a:solidFill>
              <a:cs typeface="B Zar" panose="00000400000000000000" pitchFamily="50" charset="-78"/>
            </a:endParaRPr>
          </a:p>
          <a:p>
            <a:endParaRPr lang="en-US" sz="2000" dirty="0"/>
          </a:p>
        </p:txBody>
      </p:sp>
      <p:sp>
        <p:nvSpPr>
          <p:cNvPr id="84" name="TextBox 83"/>
          <p:cNvSpPr txBox="1"/>
          <p:nvPr/>
        </p:nvSpPr>
        <p:spPr>
          <a:xfrm>
            <a:off x="3487644" y="1308476"/>
            <a:ext cx="853119" cy="1015663"/>
          </a:xfrm>
          <a:prstGeom prst="rect">
            <a:avLst/>
          </a:prstGeom>
          <a:noFill/>
        </p:spPr>
        <p:txBody>
          <a:bodyPr wrap="none" rtlCol="0">
            <a:spAutoFit/>
          </a:bodyPr>
          <a:lstStyle/>
          <a:p>
            <a:pPr algn="ctr" rtl="1"/>
            <a:r>
              <a:rPr lang="fa-IR" sz="2000" b="1" dirty="0">
                <a:solidFill>
                  <a:schemeClr val="accent2">
                    <a:lumMod val="50000"/>
                  </a:schemeClr>
                </a:solidFill>
                <a:cs typeface="B Zar" panose="00000400000000000000" pitchFamily="50" charset="-78"/>
              </a:rPr>
              <a:t>فریم </a:t>
            </a:r>
            <a:r>
              <a:rPr lang="fa-IR" sz="2000" b="1" dirty="0" smtClean="0">
                <a:solidFill>
                  <a:schemeClr val="accent2">
                    <a:lumMod val="50000"/>
                  </a:schemeClr>
                </a:solidFill>
                <a:cs typeface="B Zar" panose="00000400000000000000" pitchFamily="50" charset="-78"/>
              </a:rPr>
              <a:t>2</a:t>
            </a:r>
            <a:endParaRPr lang="fa-IR" sz="2000" b="1" dirty="0">
              <a:solidFill>
                <a:schemeClr val="accent2">
                  <a:lumMod val="50000"/>
                </a:schemeClr>
              </a:solidFill>
              <a:cs typeface="B Zar" panose="00000400000000000000" pitchFamily="50" charset="-78"/>
            </a:endParaRPr>
          </a:p>
          <a:p>
            <a:pPr algn="ctr" rtl="1"/>
            <a:r>
              <a:rPr lang="fa-IR" sz="2000" b="1" dirty="0" smtClean="0">
                <a:solidFill>
                  <a:schemeClr val="accent2">
                    <a:lumMod val="50000"/>
                  </a:schemeClr>
                </a:solidFill>
                <a:cs typeface="B Zar" panose="00000400000000000000" pitchFamily="50" charset="-78"/>
              </a:rPr>
              <a:t>آزمون</a:t>
            </a:r>
            <a:endParaRPr lang="en-US" sz="2000" b="1" dirty="0">
              <a:solidFill>
                <a:schemeClr val="accent2">
                  <a:lumMod val="50000"/>
                </a:schemeClr>
              </a:solidFill>
              <a:cs typeface="B Zar" panose="00000400000000000000" pitchFamily="50" charset="-78"/>
            </a:endParaRPr>
          </a:p>
          <a:p>
            <a:endParaRPr lang="en-US" sz="2000" dirty="0">
              <a:solidFill>
                <a:schemeClr val="accent2">
                  <a:lumMod val="50000"/>
                </a:schemeClr>
              </a:solidFill>
            </a:endParaRPr>
          </a:p>
        </p:txBody>
      </p:sp>
      <p:sp>
        <p:nvSpPr>
          <p:cNvPr id="88" name="TextBox 87"/>
          <p:cNvSpPr txBox="1"/>
          <p:nvPr/>
        </p:nvSpPr>
        <p:spPr>
          <a:xfrm>
            <a:off x="482574" y="5707737"/>
            <a:ext cx="4431020" cy="369332"/>
          </a:xfrm>
          <a:prstGeom prst="rect">
            <a:avLst/>
          </a:prstGeom>
          <a:noFill/>
        </p:spPr>
        <p:txBody>
          <a:bodyPr wrap="none" rtlCol="0">
            <a:spAutoFit/>
          </a:bodyPr>
          <a:lstStyle/>
          <a:p>
            <a:pPr algn="r" rtl="1"/>
            <a:r>
              <a:rPr lang="fa-IR" altLang="fa-IR" b="1" dirty="0">
                <a:solidFill>
                  <a:schemeClr val="bg2">
                    <a:lumMod val="25000"/>
                  </a:schemeClr>
                </a:solidFill>
                <a:latin typeface="B Zar"/>
                <a:ea typeface="B Zar"/>
                <a:cs typeface="B Zar"/>
              </a:rPr>
              <a:t>نمونه واقعی از پراکندگی فریم‌های </a:t>
            </a:r>
            <a:r>
              <a:rPr lang="en-US" altLang="fa-IR" b="1" dirty="0" smtClean="0">
                <a:solidFill>
                  <a:schemeClr val="bg2">
                    <a:lumMod val="25000"/>
                  </a:schemeClr>
                </a:solidFill>
                <a:latin typeface="Times New Roman"/>
                <a:ea typeface="Times New Roman"/>
                <a:cs typeface="Times New Roman"/>
              </a:rPr>
              <a:t>Record001_D</a:t>
            </a:r>
            <a:endParaRPr lang="en-US" altLang="fa-IR" b="1" dirty="0">
              <a:solidFill>
                <a:schemeClr val="bg2">
                  <a:lumMod val="25000"/>
                </a:schemeClr>
              </a:solidFill>
              <a:latin typeface="Times New Roman"/>
              <a:ea typeface="Times New Roman"/>
              <a:cs typeface="Times New Roman"/>
            </a:endParaRPr>
          </a:p>
        </p:txBody>
      </p:sp>
      <p:sp>
        <p:nvSpPr>
          <p:cNvPr id="89" name="TextBox 88"/>
          <p:cNvSpPr txBox="1"/>
          <p:nvPr/>
        </p:nvSpPr>
        <p:spPr>
          <a:xfrm>
            <a:off x="1018921" y="2409112"/>
            <a:ext cx="938077" cy="1015663"/>
          </a:xfrm>
          <a:prstGeom prst="rect">
            <a:avLst/>
          </a:prstGeom>
          <a:noFill/>
        </p:spPr>
        <p:txBody>
          <a:bodyPr wrap="none" rtlCol="0">
            <a:spAutoFit/>
          </a:bodyPr>
          <a:lstStyle/>
          <a:p>
            <a:pPr algn="ctr" rtl="1"/>
            <a:r>
              <a:rPr lang="fa-IR" sz="2000" b="1" dirty="0">
                <a:solidFill>
                  <a:schemeClr val="accent4">
                    <a:lumMod val="50000"/>
                  </a:schemeClr>
                </a:solidFill>
                <a:cs typeface="B Zar" panose="00000400000000000000" pitchFamily="50" charset="-78"/>
              </a:rPr>
              <a:t>فریم </a:t>
            </a:r>
            <a:r>
              <a:rPr lang="fa-IR" sz="2000" b="1" dirty="0" smtClean="0">
                <a:solidFill>
                  <a:schemeClr val="accent4">
                    <a:lumMod val="50000"/>
                  </a:schemeClr>
                </a:solidFill>
                <a:cs typeface="B Zar" panose="00000400000000000000" pitchFamily="50" charset="-78"/>
              </a:rPr>
              <a:t>3</a:t>
            </a:r>
            <a:endParaRPr lang="fa-IR" sz="2000" b="1" dirty="0">
              <a:solidFill>
                <a:schemeClr val="accent4">
                  <a:lumMod val="50000"/>
                </a:schemeClr>
              </a:solidFill>
              <a:cs typeface="B Zar" panose="00000400000000000000" pitchFamily="50" charset="-78"/>
            </a:endParaRPr>
          </a:p>
          <a:p>
            <a:pPr algn="ctr" rtl="1"/>
            <a:r>
              <a:rPr lang="fa-IR" sz="2000" b="1" dirty="0">
                <a:solidFill>
                  <a:schemeClr val="accent4">
                    <a:lumMod val="50000"/>
                  </a:schemeClr>
                </a:solidFill>
                <a:cs typeface="B Zar" panose="00000400000000000000" pitchFamily="50" charset="-78"/>
              </a:rPr>
              <a:t>آموزش</a:t>
            </a:r>
            <a:endParaRPr lang="en-US" sz="2000" b="1" dirty="0">
              <a:solidFill>
                <a:schemeClr val="accent4">
                  <a:lumMod val="50000"/>
                </a:schemeClr>
              </a:solidFill>
              <a:cs typeface="B Zar" panose="00000400000000000000" pitchFamily="50" charset="-78"/>
            </a:endParaRPr>
          </a:p>
          <a:p>
            <a:endParaRPr lang="en-US" sz="2000" dirty="0"/>
          </a:p>
        </p:txBody>
      </p:sp>
      <p:sp>
        <p:nvSpPr>
          <p:cNvPr id="90" name="TextBox 89"/>
          <p:cNvSpPr txBox="1"/>
          <p:nvPr/>
        </p:nvSpPr>
        <p:spPr>
          <a:xfrm>
            <a:off x="2260781" y="2359877"/>
            <a:ext cx="853119" cy="1015663"/>
          </a:xfrm>
          <a:prstGeom prst="rect">
            <a:avLst/>
          </a:prstGeom>
          <a:noFill/>
        </p:spPr>
        <p:txBody>
          <a:bodyPr wrap="none" rtlCol="0">
            <a:spAutoFit/>
          </a:bodyPr>
          <a:lstStyle/>
          <a:p>
            <a:pPr algn="ctr" rtl="1"/>
            <a:r>
              <a:rPr lang="fa-IR" sz="2000" b="1" dirty="0">
                <a:solidFill>
                  <a:schemeClr val="accent2">
                    <a:lumMod val="50000"/>
                  </a:schemeClr>
                </a:solidFill>
                <a:cs typeface="B Zar" panose="00000400000000000000" pitchFamily="50" charset="-78"/>
              </a:rPr>
              <a:t>فریم </a:t>
            </a:r>
            <a:r>
              <a:rPr lang="fa-IR" sz="2000" b="1" dirty="0" smtClean="0">
                <a:solidFill>
                  <a:schemeClr val="accent2">
                    <a:lumMod val="50000"/>
                  </a:schemeClr>
                </a:solidFill>
                <a:cs typeface="B Zar" panose="00000400000000000000" pitchFamily="50" charset="-78"/>
              </a:rPr>
              <a:t>4</a:t>
            </a:r>
            <a:endParaRPr lang="fa-IR" sz="2000" b="1" dirty="0">
              <a:solidFill>
                <a:schemeClr val="accent2">
                  <a:lumMod val="50000"/>
                </a:schemeClr>
              </a:solidFill>
              <a:cs typeface="B Zar" panose="00000400000000000000" pitchFamily="50" charset="-78"/>
            </a:endParaRPr>
          </a:p>
          <a:p>
            <a:pPr algn="ctr" rtl="1"/>
            <a:r>
              <a:rPr lang="fa-IR" sz="2000" b="1" dirty="0" smtClean="0">
                <a:solidFill>
                  <a:schemeClr val="accent2">
                    <a:lumMod val="50000"/>
                  </a:schemeClr>
                </a:solidFill>
                <a:cs typeface="B Zar" panose="00000400000000000000" pitchFamily="50" charset="-78"/>
              </a:rPr>
              <a:t>آزمون</a:t>
            </a:r>
            <a:endParaRPr lang="en-US" sz="2000" b="1" dirty="0">
              <a:solidFill>
                <a:schemeClr val="accent2">
                  <a:lumMod val="50000"/>
                </a:schemeClr>
              </a:solidFill>
              <a:cs typeface="B Zar" panose="00000400000000000000" pitchFamily="50" charset="-78"/>
            </a:endParaRPr>
          </a:p>
          <a:p>
            <a:endParaRPr lang="en-US" sz="2000" dirty="0"/>
          </a:p>
        </p:txBody>
      </p:sp>
      <p:sp>
        <p:nvSpPr>
          <p:cNvPr id="91" name="TextBox 90"/>
          <p:cNvSpPr txBox="1"/>
          <p:nvPr/>
        </p:nvSpPr>
        <p:spPr>
          <a:xfrm>
            <a:off x="3469328" y="2350643"/>
            <a:ext cx="853119" cy="1015663"/>
          </a:xfrm>
          <a:prstGeom prst="rect">
            <a:avLst/>
          </a:prstGeom>
          <a:noFill/>
        </p:spPr>
        <p:txBody>
          <a:bodyPr wrap="none" rtlCol="0">
            <a:spAutoFit/>
          </a:bodyPr>
          <a:lstStyle/>
          <a:p>
            <a:pPr algn="ctr" rtl="1"/>
            <a:r>
              <a:rPr lang="fa-IR" sz="2000" b="1" dirty="0">
                <a:solidFill>
                  <a:schemeClr val="accent2">
                    <a:lumMod val="50000"/>
                  </a:schemeClr>
                </a:solidFill>
                <a:cs typeface="B Zar" panose="00000400000000000000" pitchFamily="50" charset="-78"/>
              </a:rPr>
              <a:t>فریم </a:t>
            </a:r>
            <a:r>
              <a:rPr lang="fa-IR" sz="2000" b="1" dirty="0" smtClean="0">
                <a:solidFill>
                  <a:schemeClr val="accent2">
                    <a:lumMod val="50000"/>
                  </a:schemeClr>
                </a:solidFill>
                <a:cs typeface="B Zar" panose="00000400000000000000" pitchFamily="50" charset="-78"/>
              </a:rPr>
              <a:t>5</a:t>
            </a:r>
            <a:endParaRPr lang="fa-IR" sz="2000" b="1" dirty="0">
              <a:solidFill>
                <a:schemeClr val="accent2">
                  <a:lumMod val="50000"/>
                </a:schemeClr>
              </a:solidFill>
              <a:cs typeface="B Zar" panose="00000400000000000000" pitchFamily="50" charset="-78"/>
            </a:endParaRPr>
          </a:p>
          <a:p>
            <a:pPr algn="ctr" rtl="1"/>
            <a:r>
              <a:rPr lang="fa-IR" sz="2000" b="1" dirty="0" smtClean="0">
                <a:solidFill>
                  <a:schemeClr val="accent2">
                    <a:lumMod val="50000"/>
                  </a:schemeClr>
                </a:solidFill>
                <a:cs typeface="B Zar" panose="00000400000000000000" pitchFamily="50" charset="-78"/>
              </a:rPr>
              <a:t>آزمون</a:t>
            </a:r>
            <a:endParaRPr lang="en-US" sz="2000" b="1" dirty="0">
              <a:solidFill>
                <a:schemeClr val="accent2">
                  <a:lumMod val="50000"/>
                </a:schemeClr>
              </a:solidFill>
              <a:cs typeface="B Zar" panose="00000400000000000000" pitchFamily="50" charset="-78"/>
            </a:endParaRPr>
          </a:p>
          <a:p>
            <a:endParaRPr lang="en-US" sz="2000" dirty="0"/>
          </a:p>
        </p:txBody>
      </p:sp>
      <p:sp>
        <p:nvSpPr>
          <p:cNvPr id="92" name="TextBox 91"/>
          <p:cNvSpPr txBox="1"/>
          <p:nvPr/>
        </p:nvSpPr>
        <p:spPr>
          <a:xfrm>
            <a:off x="1038412" y="3490538"/>
            <a:ext cx="938077" cy="1015663"/>
          </a:xfrm>
          <a:prstGeom prst="rect">
            <a:avLst/>
          </a:prstGeom>
          <a:noFill/>
        </p:spPr>
        <p:txBody>
          <a:bodyPr wrap="none" rtlCol="0">
            <a:spAutoFit/>
          </a:bodyPr>
          <a:lstStyle/>
          <a:p>
            <a:pPr algn="ctr" rtl="1"/>
            <a:r>
              <a:rPr lang="fa-IR" sz="2000" b="1" dirty="0">
                <a:solidFill>
                  <a:schemeClr val="accent4">
                    <a:lumMod val="50000"/>
                  </a:schemeClr>
                </a:solidFill>
                <a:cs typeface="B Zar" panose="00000400000000000000" pitchFamily="50" charset="-78"/>
              </a:rPr>
              <a:t>فریم </a:t>
            </a:r>
            <a:r>
              <a:rPr lang="fa-IR" sz="2000" b="1" dirty="0" smtClean="0">
                <a:solidFill>
                  <a:schemeClr val="accent4">
                    <a:lumMod val="50000"/>
                  </a:schemeClr>
                </a:solidFill>
                <a:cs typeface="B Zar" panose="00000400000000000000" pitchFamily="50" charset="-78"/>
              </a:rPr>
              <a:t>6</a:t>
            </a:r>
            <a:endParaRPr lang="fa-IR" sz="2000" b="1" dirty="0">
              <a:solidFill>
                <a:schemeClr val="accent4">
                  <a:lumMod val="50000"/>
                </a:schemeClr>
              </a:solidFill>
              <a:cs typeface="B Zar" panose="00000400000000000000" pitchFamily="50" charset="-78"/>
            </a:endParaRPr>
          </a:p>
          <a:p>
            <a:pPr algn="ctr" rtl="1"/>
            <a:r>
              <a:rPr lang="fa-IR" sz="2000" b="1" dirty="0">
                <a:solidFill>
                  <a:schemeClr val="accent4">
                    <a:lumMod val="50000"/>
                  </a:schemeClr>
                </a:solidFill>
                <a:cs typeface="B Zar" panose="00000400000000000000" pitchFamily="50" charset="-78"/>
              </a:rPr>
              <a:t>آموزش</a:t>
            </a:r>
            <a:endParaRPr lang="en-US" sz="2000" b="1" dirty="0">
              <a:solidFill>
                <a:schemeClr val="accent4">
                  <a:lumMod val="50000"/>
                </a:schemeClr>
              </a:solidFill>
              <a:cs typeface="B Zar" panose="00000400000000000000" pitchFamily="50" charset="-78"/>
            </a:endParaRPr>
          </a:p>
          <a:p>
            <a:endParaRPr lang="en-US" sz="2000" dirty="0"/>
          </a:p>
        </p:txBody>
      </p:sp>
      <p:sp>
        <p:nvSpPr>
          <p:cNvPr id="93" name="TextBox 92"/>
          <p:cNvSpPr txBox="1"/>
          <p:nvPr/>
        </p:nvSpPr>
        <p:spPr>
          <a:xfrm>
            <a:off x="2206524" y="3458528"/>
            <a:ext cx="938077" cy="1015663"/>
          </a:xfrm>
          <a:prstGeom prst="rect">
            <a:avLst/>
          </a:prstGeom>
          <a:noFill/>
        </p:spPr>
        <p:txBody>
          <a:bodyPr wrap="none" rtlCol="0">
            <a:spAutoFit/>
          </a:bodyPr>
          <a:lstStyle/>
          <a:p>
            <a:pPr algn="ctr" rtl="1"/>
            <a:r>
              <a:rPr lang="fa-IR" sz="2000" b="1" dirty="0">
                <a:solidFill>
                  <a:schemeClr val="accent4">
                    <a:lumMod val="50000"/>
                  </a:schemeClr>
                </a:solidFill>
                <a:cs typeface="B Zar" panose="00000400000000000000" pitchFamily="50" charset="-78"/>
              </a:rPr>
              <a:t>فریم </a:t>
            </a:r>
            <a:r>
              <a:rPr lang="fa-IR" sz="2000" b="1" dirty="0" smtClean="0">
                <a:solidFill>
                  <a:schemeClr val="accent4">
                    <a:lumMod val="50000"/>
                  </a:schemeClr>
                </a:solidFill>
                <a:cs typeface="B Zar" panose="00000400000000000000" pitchFamily="50" charset="-78"/>
              </a:rPr>
              <a:t>7</a:t>
            </a:r>
            <a:endParaRPr lang="fa-IR" sz="2000" b="1" dirty="0">
              <a:solidFill>
                <a:schemeClr val="accent4">
                  <a:lumMod val="50000"/>
                </a:schemeClr>
              </a:solidFill>
              <a:cs typeface="B Zar" panose="00000400000000000000" pitchFamily="50" charset="-78"/>
            </a:endParaRPr>
          </a:p>
          <a:p>
            <a:pPr algn="ctr" rtl="1"/>
            <a:r>
              <a:rPr lang="fa-IR" sz="2000" b="1" dirty="0">
                <a:solidFill>
                  <a:schemeClr val="accent4">
                    <a:lumMod val="50000"/>
                  </a:schemeClr>
                </a:solidFill>
                <a:cs typeface="B Zar" panose="00000400000000000000" pitchFamily="50" charset="-78"/>
              </a:rPr>
              <a:t>آموزش</a:t>
            </a:r>
            <a:endParaRPr lang="en-US" sz="2000" b="1" dirty="0">
              <a:solidFill>
                <a:schemeClr val="accent4">
                  <a:lumMod val="50000"/>
                </a:schemeClr>
              </a:solidFill>
              <a:cs typeface="B Zar" panose="00000400000000000000" pitchFamily="50" charset="-78"/>
            </a:endParaRPr>
          </a:p>
          <a:p>
            <a:endParaRPr lang="en-US" sz="2000" dirty="0"/>
          </a:p>
        </p:txBody>
      </p:sp>
      <p:sp>
        <p:nvSpPr>
          <p:cNvPr id="94" name="TextBox 93"/>
          <p:cNvSpPr txBox="1"/>
          <p:nvPr/>
        </p:nvSpPr>
        <p:spPr>
          <a:xfrm>
            <a:off x="3426848" y="3484505"/>
            <a:ext cx="938077" cy="1015663"/>
          </a:xfrm>
          <a:prstGeom prst="rect">
            <a:avLst/>
          </a:prstGeom>
          <a:noFill/>
        </p:spPr>
        <p:txBody>
          <a:bodyPr wrap="none" rtlCol="0">
            <a:spAutoFit/>
          </a:bodyPr>
          <a:lstStyle/>
          <a:p>
            <a:pPr algn="ctr" rtl="1"/>
            <a:r>
              <a:rPr lang="fa-IR" sz="2000" b="1" dirty="0">
                <a:solidFill>
                  <a:schemeClr val="accent4">
                    <a:lumMod val="50000"/>
                  </a:schemeClr>
                </a:solidFill>
                <a:cs typeface="B Zar" panose="00000400000000000000" pitchFamily="50" charset="-78"/>
              </a:rPr>
              <a:t>فریم </a:t>
            </a:r>
            <a:r>
              <a:rPr lang="fa-IR" sz="2000" b="1" dirty="0" smtClean="0">
                <a:solidFill>
                  <a:schemeClr val="accent4">
                    <a:lumMod val="50000"/>
                  </a:schemeClr>
                </a:solidFill>
                <a:cs typeface="B Zar" panose="00000400000000000000" pitchFamily="50" charset="-78"/>
              </a:rPr>
              <a:t>8</a:t>
            </a:r>
            <a:endParaRPr lang="fa-IR" sz="2000" b="1" dirty="0">
              <a:solidFill>
                <a:schemeClr val="accent4">
                  <a:lumMod val="50000"/>
                </a:schemeClr>
              </a:solidFill>
              <a:cs typeface="B Zar" panose="00000400000000000000" pitchFamily="50" charset="-78"/>
            </a:endParaRPr>
          </a:p>
          <a:p>
            <a:pPr algn="ctr" rtl="1"/>
            <a:r>
              <a:rPr lang="fa-IR" sz="2000" b="1" dirty="0">
                <a:solidFill>
                  <a:schemeClr val="accent4">
                    <a:lumMod val="50000"/>
                  </a:schemeClr>
                </a:solidFill>
                <a:cs typeface="B Zar" panose="00000400000000000000" pitchFamily="50" charset="-78"/>
              </a:rPr>
              <a:t>آموزش</a:t>
            </a:r>
            <a:endParaRPr lang="en-US" sz="2000" b="1" dirty="0">
              <a:solidFill>
                <a:schemeClr val="accent4">
                  <a:lumMod val="50000"/>
                </a:schemeClr>
              </a:solidFill>
              <a:cs typeface="B Zar" panose="00000400000000000000" pitchFamily="50" charset="-78"/>
            </a:endParaRPr>
          </a:p>
          <a:p>
            <a:endParaRPr lang="en-US" sz="2000" dirty="0"/>
          </a:p>
        </p:txBody>
      </p:sp>
      <p:sp>
        <p:nvSpPr>
          <p:cNvPr id="95" name="TextBox 94"/>
          <p:cNvSpPr txBox="1"/>
          <p:nvPr/>
        </p:nvSpPr>
        <p:spPr>
          <a:xfrm>
            <a:off x="1031520" y="4571964"/>
            <a:ext cx="938077" cy="1015663"/>
          </a:xfrm>
          <a:prstGeom prst="rect">
            <a:avLst/>
          </a:prstGeom>
          <a:noFill/>
        </p:spPr>
        <p:txBody>
          <a:bodyPr wrap="none" rtlCol="0">
            <a:spAutoFit/>
          </a:bodyPr>
          <a:lstStyle/>
          <a:p>
            <a:pPr algn="ctr" rtl="1"/>
            <a:r>
              <a:rPr lang="fa-IR" sz="2000" b="1" dirty="0">
                <a:solidFill>
                  <a:schemeClr val="accent4">
                    <a:lumMod val="50000"/>
                  </a:schemeClr>
                </a:solidFill>
                <a:cs typeface="B Zar" panose="00000400000000000000" pitchFamily="50" charset="-78"/>
              </a:rPr>
              <a:t>فریم </a:t>
            </a:r>
            <a:r>
              <a:rPr lang="fa-IR" sz="2000" b="1" dirty="0" smtClean="0">
                <a:solidFill>
                  <a:schemeClr val="accent4">
                    <a:lumMod val="50000"/>
                  </a:schemeClr>
                </a:solidFill>
                <a:cs typeface="B Zar" panose="00000400000000000000" pitchFamily="50" charset="-78"/>
              </a:rPr>
              <a:t>9</a:t>
            </a:r>
            <a:endParaRPr lang="fa-IR" sz="2000" b="1" dirty="0">
              <a:solidFill>
                <a:schemeClr val="accent4">
                  <a:lumMod val="50000"/>
                </a:schemeClr>
              </a:solidFill>
              <a:cs typeface="B Zar" panose="00000400000000000000" pitchFamily="50" charset="-78"/>
            </a:endParaRPr>
          </a:p>
          <a:p>
            <a:pPr algn="ctr" rtl="1"/>
            <a:r>
              <a:rPr lang="fa-IR" sz="2000" b="1" dirty="0">
                <a:solidFill>
                  <a:schemeClr val="accent4">
                    <a:lumMod val="50000"/>
                  </a:schemeClr>
                </a:solidFill>
                <a:cs typeface="B Zar" panose="00000400000000000000" pitchFamily="50" charset="-78"/>
              </a:rPr>
              <a:t>آموزش</a:t>
            </a:r>
            <a:endParaRPr lang="en-US" sz="2000" b="1" dirty="0">
              <a:solidFill>
                <a:schemeClr val="accent4">
                  <a:lumMod val="50000"/>
                </a:schemeClr>
              </a:solidFill>
              <a:cs typeface="B Zar" panose="00000400000000000000" pitchFamily="50" charset="-78"/>
            </a:endParaRPr>
          </a:p>
          <a:p>
            <a:endParaRPr lang="en-US" sz="2000" dirty="0"/>
          </a:p>
        </p:txBody>
      </p:sp>
      <p:sp>
        <p:nvSpPr>
          <p:cNvPr id="96" name="TextBox 95"/>
          <p:cNvSpPr txBox="1"/>
          <p:nvPr/>
        </p:nvSpPr>
        <p:spPr>
          <a:xfrm>
            <a:off x="2201330" y="4570344"/>
            <a:ext cx="948466" cy="1015663"/>
          </a:xfrm>
          <a:prstGeom prst="rect">
            <a:avLst/>
          </a:prstGeom>
          <a:noFill/>
        </p:spPr>
        <p:txBody>
          <a:bodyPr wrap="none" rtlCol="0">
            <a:spAutoFit/>
          </a:bodyPr>
          <a:lstStyle/>
          <a:p>
            <a:pPr algn="ctr" rtl="1"/>
            <a:r>
              <a:rPr lang="fa-IR" sz="2000" b="1" dirty="0">
                <a:solidFill>
                  <a:schemeClr val="accent4">
                    <a:lumMod val="50000"/>
                  </a:schemeClr>
                </a:solidFill>
                <a:cs typeface="B Zar" panose="00000400000000000000" pitchFamily="50" charset="-78"/>
              </a:rPr>
              <a:t>فریم </a:t>
            </a:r>
            <a:r>
              <a:rPr lang="fa-IR" sz="2000" b="1" dirty="0" smtClean="0">
                <a:solidFill>
                  <a:schemeClr val="accent4">
                    <a:lumMod val="50000"/>
                  </a:schemeClr>
                </a:solidFill>
                <a:cs typeface="B Zar" panose="00000400000000000000" pitchFamily="50" charset="-78"/>
              </a:rPr>
              <a:t>10</a:t>
            </a:r>
            <a:endParaRPr lang="fa-IR" sz="2000" b="1" dirty="0">
              <a:solidFill>
                <a:schemeClr val="accent4">
                  <a:lumMod val="50000"/>
                </a:schemeClr>
              </a:solidFill>
              <a:cs typeface="B Zar" panose="00000400000000000000" pitchFamily="50" charset="-78"/>
            </a:endParaRPr>
          </a:p>
          <a:p>
            <a:pPr algn="ctr" rtl="1"/>
            <a:r>
              <a:rPr lang="fa-IR" sz="2000" b="1" dirty="0">
                <a:solidFill>
                  <a:schemeClr val="accent4">
                    <a:lumMod val="50000"/>
                  </a:schemeClr>
                </a:solidFill>
                <a:cs typeface="B Zar" panose="00000400000000000000" pitchFamily="50" charset="-78"/>
              </a:rPr>
              <a:t>آموزش</a:t>
            </a:r>
            <a:endParaRPr lang="en-US" sz="2000" b="1" dirty="0">
              <a:solidFill>
                <a:schemeClr val="accent4">
                  <a:lumMod val="50000"/>
                </a:schemeClr>
              </a:solidFill>
              <a:cs typeface="B Zar" panose="00000400000000000000" pitchFamily="50" charset="-78"/>
            </a:endParaRPr>
          </a:p>
          <a:p>
            <a:endParaRPr lang="en-US" sz="2000" dirty="0"/>
          </a:p>
        </p:txBody>
      </p:sp>
      <p:sp>
        <p:nvSpPr>
          <p:cNvPr id="97" name="TextBox 96"/>
          <p:cNvSpPr txBox="1"/>
          <p:nvPr/>
        </p:nvSpPr>
        <p:spPr>
          <a:xfrm>
            <a:off x="3289055" y="4570343"/>
            <a:ext cx="1213666" cy="984885"/>
          </a:xfrm>
          <a:prstGeom prst="rect">
            <a:avLst/>
          </a:prstGeom>
          <a:noFill/>
        </p:spPr>
        <p:txBody>
          <a:bodyPr wrap="none" rtlCol="0">
            <a:spAutoFit/>
          </a:bodyPr>
          <a:lstStyle/>
          <a:p>
            <a:pPr algn="ctr" rtl="1"/>
            <a:r>
              <a:rPr lang="fa-IR" sz="2000" b="1" dirty="0">
                <a:solidFill>
                  <a:schemeClr val="accent6">
                    <a:lumMod val="50000"/>
                  </a:schemeClr>
                </a:solidFill>
                <a:cs typeface="B Zar" panose="00000400000000000000" pitchFamily="50" charset="-78"/>
              </a:rPr>
              <a:t>فریم </a:t>
            </a:r>
            <a:r>
              <a:rPr lang="fa-IR" sz="2000" b="1" dirty="0" smtClean="0">
                <a:solidFill>
                  <a:schemeClr val="accent6">
                    <a:lumMod val="50000"/>
                  </a:schemeClr>
                </a:solidFill>
                <a:cs typeface="B Zar" panose="00000400000000000000" pitchFamily="50" charset="-78"/>
              </a:rPr>
              <a:t>11</a:t>
            </a:r>
            <a:endParaRPr lang="fa-IR" sz="2000" b="1" dirty="0">
              <a:solidFill>
                <a:schemeClr val="accent6">
                  <a:lumMod val="50000"/>
                </a:schemeClr>
              </a:solidFill>
              <a:cs typeface="B Zar" panose="00000400000000000000" pitchFamily="50" charset="-78"/>
            </a:endParaRPr>
          </a:p>
          <a:p>
            <a:pPr algn="ctr" rtl="1"/>
            <a:r>
              <a:rPr lang="fa-IR" b="1" dirty="0" smtClean="0">
                <a:solidFill>
                  <a:schemeClr val="accent6">
                    <a:lumMod val="50000"/>
                  </a:schemeClr>
                </a:solidFill>
                <a:cs typeface="B Zar" panose="00000400000000000000" pitchFamily="50" charset="-78"/>
              </a:rPr>
              <a:t>اعتبارسنجی</a:t>
            </a:r>
            <a:endParaRPr lang="en-US" b="1" dirty="0">
              <a:solidFill>
                <a:schemeClr val="accent6">
                  <a:lumMod val="50000"/>
                </a:schemeClr>
              </a:solidFill>
              <a:cs typeface="B Zar" panose="00000400000000000000" pitchFamily="50" charset="-78"/>
            </a:endParaRPr>
          </a:p>
          <a:p>
            <a:endParaRPr lang="en-US" sz="2000" dirty="0"/>
          </a:p>
        </p:txBody>
      </p:sp>
    </p:spTree>
    <p:extLst>
      <p:ext uri="{BB962C8B-B14F-4D97-AF65-F5344CB8AC3E}">
        <p14:creationId xmlns:p14="http://schemas.microsoft.com/office/powerpoint/2010/main" val="1241934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402265C-4CBB-45DC-98BB-A76162D949BB}"/>
              </a:ext>
            </a:extLst>
          </p:cNvPr>
          <p:cNvSpPr>
            <a:spLocks noGrp="1"/>
          </p:cNvSpPr>
          <p:nvPr/>
        </p:nvSpPr>
        <p:spPr>
          <a:xfrm>
            <a:off x="171450" y="6496050"/>
            <a:ext cx="1762125" cy="238125"/>
          </a:xfrm>
          <a:prstGeom prst="rect">
            <a:avLst/>
          </a:prstGeom>
          <a:noFill/>
          <a:ln w="0">
            <a:noFill/>
          </a:ln>
        </p:spPr>
        <p:txBody>
          <a:bodyPr lIns="57150" tIns="38100" rIns="57150" bIns="38100" anchor="ctr">
            <a:noAutofit/>
          </a:bodyPr>
          <a:lstStyle/>
          <a:p>
            <a:pPr algn="r" rtl="1">
              <a:defRPr sz="1600" b="0">
                <a:solidFill>
                  <a:srgbClr val="52626E"/>
                </a:solidFill>
                <a:latin typeface="B Zar"/>
                <a:ea typeface="B Zar"/>
                <a:cs typeface="B Zar"/>
              </a:defRPr>
            </a:pPr>
            <a:r>
              <a:rPr lang="fa-IR" altLang="fa-IR" sz="1600" b="0" smtClean="0">
                <a:solidFill>
                  <a:srgbClr val="52626E"/>
                </a:solidFill>
                <a:latin typeface="B Zar"/>
                <a:ea typeface="B Zar"/>
                <a:cs typeface="B Zar"/>
              </a:rPr>
              <a:t>صفحه ۱۲ از ۳۱</a:t>
            </a:r>
            <a:endParaRPr lang="fa-IR" altLang="fa-IR" sz="1600" b="0">
              <a:solidFill>
                <a:srgbClr val="52626E"/>
              </a:solidFill>
              <a:latin typeface="B Zar"/>
              <a:ea typeface="B Zar"/>
              <a:cs typeface="B Zar"/>
            </a:endParaRPr>
          </a:p>
        </p:txBody>
      </p:sp>
      <p:pic>
        <p:nvPicPr>
          <p:cNvPr id="17" name="Picture 16"/>
          <p:cNvPicPr>
            <a:picLocks noChangeAspect="1"/>
          </p:cNvPicPr>
          <p:nvPr/>
        </p:nvPicPr>
        <p:blipFill>
          <a:blip r:embed="rId3"/>
          <a:stretch/>
        </p:blipFill>
        <p:spPr>
          <a:xfrm>
            <a:off x="1682897" y="1184603"/>
            <a:ext cx="8826207" cy="4352925"/>
          </a:xfrm>
          <a:prstGeom prst="rect">
            <a:avLst/>
          </a:prstGeom>
          <a:ln>
            <a:solidFill>
              <a:schemeClr val="accent4">
                <a:lumMod val="50000"/>
              </a:schemeClr>
            </a:solidFill>
          </a:ln>
        </p:spPr>
      </p:pic>
      <p:pic>
        <p:nvPicPr>
          <p:cNvPr id="11" name="Picture 10"/>
          <p:cNvPicPr>
            <a:picLocks noChangeAspect="1"/>
          </p:cNvPicPr>
          <p:nvPr/>
        </p:nvPicPr>
        <p:blipFill>
          <a:blip r:embed="rId4"/>
          <a:stretch/>
        </p:blipFill>
        <p:spPr>
          <a:xfrm>
            <a:off x="428984" y="187916"/>
            <a:ext cx="535979" cy="628650"/>
          </a:xfrm>
          <a:prstGeom prst="rect">
            <a:avLst/>
          </a:prstGeom>
        </p:spPr>
      </p:pic>
      <p:sp>
        <p:nvSpPr>
          <p:cNvPr id="12" name="Rectangle 11">
            <a:extLst>
              <a:ext uri="{FF2B5EF4-FFF2-40B4-BE49-F238E27FC236}">
                <a16:creationId xmlns:a16="http://schemas.microsoft.com/office/drawing/2014/main" id="{C4452ECC-0329-42FD-A992-5D81CCFFD581}"/>
              </a:ext>
            </a:extLst>
          </p:cNvPr>
          <p:cNvSpPr>
            <a:spLocks noGrp="1"/>
          </p:cNvSpPr>
          <p:nvPr/>
        </p:nvSpPr>
        <p:spPr>
          <a:xfrm>
            <a:off x="1754630" y="279232"/>
            <a:ext cx="10096500" cy="485775"/>
          </a:xfrm>
          <a:prstGeom prst="rect">
            <a:avLst/>
          </a:prstGeom>
          <a:noFill/>
          <a:ln w="0">
            <a:noFill/>
          </a:ln>
        </p:spPr>
        <p:txBody>
          <a:bodyPr lIns="57150" tIns="38100" rIns="57150" bIns="38100" anchor="ctr">
            <a:noAutofit/>
          </a:bodyPr>
          <a:lstStyle/>
          <a:p>
            <a:pPr algn="r" rtl="1">
              <a:defRPr sz="3100" b="1">
                <a:solidFill>
                  <a:srgbClr val="173E5A"/>
                </a:solidFill>
                <a:latin typeface="B Zar"/>
                <a:ea typeface="B Zar"/>
                <a:cs typeface="B Zar"/>
              </a:defRPr>
            </a:pPr>
            <a:r>
              <a:rPr lang="fa-IR" altLang="fa-IR" sz="3100" b="1" dirty="0" smtClean="0">
                <a:solidFill>
                  <a:srgbClr val="173E5A"/>
                </a:solidFill>
                <a:latin typeface="B Zar"/>
                <a:ea typeface="B Zar"/>
                <a:cs typeface="B Zar"/>
              </a:rPr>
              <a:t>مقایسه نتایج آموزش‌ها </a:t>
            </a:r>
            <a:endParaRPr lang="fa-IR" altLang="fa-IR" sz="3100" b="1" dirty="0">
              <a:solidFill>
                <a:srgbClr val="173E5A"/>
              </a:solidFill>
              <a:latin typeface="B Zar"/>
              <a:ea typeface="B Zar"/>
              <a:cs typeface="B Zar"/>
            </a:endParaRPr>
          </a:p>
        </p:txBody>
      </p:sp>
      <p:sp>
        <p:nvSpPr>
          <p:cNvPr id="4" name="TextBox 3"/>
          <p:cNvSpPr txBox="1"/>
          <p:nvPr/>
        </p:nvSpPr>
        <p:spPr>
          <a:xfrm>
            <a:off x="68826" y="5798160"/>
            <a:ext cx="12123174" cy="646331"/>
          </a:xfrm>
          <a:prstGeom prst="rect">
            <a:avLst/>
          </a:prstGeom>
          <a:noFill/>
        </p:spPr>
        <p:txBody>
          <a:bodyPr wrap="square" rtlCol="0">
            <a:spAutoFit/>
          </a:bodyPr>
          <a:lstStyle/>
          <a:p>
            <a:pPr algn="ctr" rtl="1"/>
            <a:r>
              <a:rPr lang="fa-IR" altLang="fa-IR" b="1" dirty="0">
                <a:solidFill>
                  <a:schemeClr val="bg2">
                    <a:lumMod val="25000"/>
                  </a:schemeClr>
                </a:solidFill>
                <a:latin typeface="B Zar"/>
                <a:ea typeface="B Zar"/>
                <a:cs typeface="B Zar"/>
              </a:rPr>
              <a:t>نتیجه </a:t>
            </a:r>
            <a:r>
              <a:rPr lang="fa-IR" altLang="fa-IR" b="1" dirty="0" smtClean="0">
                <a:solidFill>
                  <a:schemeClr val="bg2">
                    <a:lumMod val="25000"/>
                  </a:schemeClr>
                </a:solidFill>
                <a:latin typeface="B Zar"/>
                <a:ea typeface="B Zar"/>
                <a:cs typeface="B Zar"/>
              </a:rPr>
              <a:t>بهترین دوره در هر یک از آموزش‌های انجام شده براساس معیار </a:t>
            </a:r>
            <a:r>
              <a:rPr lang="en-US" altLang="fa-IR" sz="1700" b="1" dirty="0" smtClean="0">
                <a:solidFill>
                  <a:schemeClr val="bg2">
                    <a:lumMod val="25000"/>
                  </a:schemeClr>
                </a:solidFill>
                <a:latin typeface="Times New Roman" panose="02020603050405020304" pitchFamily="18" charset="0"/>
                <a:ea typeface="B Zar"/>
                <a:cs typeface="Times New Roman" panose="02020603050405020304" pitchFamily="18" charset="0"/>
              </a:rPr>
              <a:t>mAP@0.5</a:t>
            </a:r>
            <a:r>
              <a:rPr lang="fa-IR" altLang="fa-IR" b="1" dirty="0" smtClean="0">
                <a:solidFill>
                  <a:schemeClr val="bg2">
                    <a:lumMod val="25000"/>
                  </a:schemeClr>
                </a:solidFill>
                <a:latin typeface="Times New Roman" panose="02020603050405020304" pitchFamily="18" charset="0"/>
                <a:ea typeface="B Zar"/>
                <a:cs typeface="Times New Roman" panose="02020603050405020304" pitchFamily="18" charset="0"/>
              </a:rPr>
              <a:t> </a:t>
            </a:r>
            <a:endParaRPr lang="fa-IR" altLang="fa-IR" b="1" dirty="0">
              <a:solidFill>
                <a:schemeClr val="bg2">
                  <a:lumMod val="25000"/>
                </a:schemeClr>
              </a:solidFill>
              <a:latin typeface="B Zar"/>
              <a:ea typeface="B Zar"/>
              <a:cs typeface="B Zar"/>
            </a:endParaRPr>
          </a:p>
          <a:p>
            <a:pPr algn="ctr" rtl="1"/>
            <a:endParaRPr lang="en-US" dirty="0"/>
          </a:p>
        </p:txBody>
      </p:sp>
      <p:sp>
        <p:nvSpPr>
          <p:cNvPr id="5" name="Oval 4"/>
          <p:cNvSpPr/>
          <p:nvPr/>
        </p:nvSpPr>
        <p:spPr>
          <a:xfrm>
            <a:off x="7434469" y="4691270"/>
            <a:ext cx="745435" cy="4572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Curved Connector 7"/>
          <p:cNvCxnSpPr>
            <a:stCxn id="5" idx="6"/>
          </p:cNvCxnSpPr>
          <p:nvPr/>
        </p:nvCxnSpPr>
        <p:spPr>
          <a:xfrm flipH="1" flipV="1">
            <a:off x="7400684" y="2116522"/>
            <a:ext cx="779220" cy="2803348"/>
          </a:xfrm>
          <a:prstGeom prst="curvedConnector4">
            <a:avLst>
              <a:gd name="adj1" fmla="val -26786"/>
              <a:gd name="adj2" fmla="val 71095"/>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6556543" y="1347081"/>
            <a:ext cx="1688283" cy="769441"/>
          </a:xfrm>
          <a:prstGeom prst="rect">
            <a:avLst/>
          </a:prstGeom>
          <a:noFill/>
        </p:spPr>
        <p:txBody>
          <a:bodyPr wrap="none" rtlCol="0">
            <a:spAutoFit/>
          </a:bodyPr>
          <a:lstStyle/>
          <a:p>
            <a:pPr algn="ctr" rtl="1"/>
            <a:r>
              <a:rPr lang="fa-IR" sz="2200" dirty="0" smtClean="0">
                <a:solidFill>
                  <a:srgbClr val="FF0000"/>
                </a:solidFill>
                <a:cs typeface="B Zar" panose="00000400000000000000" pitchFamily="50" charset="-78"/>
              </a:rPr>
              <a:t>برچسب معیوب </a:t>
            </a:r>
          </a:p>
          <a:p>
            <a:pPr algn="ctr" rtl="1"/>
            <a:r>
              <a:rPr lang="fa-IR" sz="2200" dirty="0" smtClean="0">
                <a:solidFill>
                  <a:srgbClr val="FF0000"/>
                </a:solidFill>
                <a:cs typeface="B Zar" panose="00000400000000000000" pitchFamily="50" charset="-78"/>
              </a:rPr>
              <a:t>ناهم‌ترازی ارزیابی</a:t>
            </a:r>
            <a:endParaRPr lang="en-US" sz="2200" dirty="0">
              <a:solidFill>
                <a:srgbClr val="FF0000"/>
              </a:solidFill>
              <a:cs typeface="B Zar" panose="00000400000000000000" pitchFamily="50" charset="-78"/>
            </a:endParaRPr>
          </a:p>
        </p:txBody>
      </p:sp>
    </p:spTree>
    <p:extLst>
      <p:ext uri="{BB962C8B-B14F-4D97-AF65-F5344CB8AC3E}">
        <p14:creationId xmlns:p14="http://schemas.microsoft.com/office/powerpoint/2010/main" val="2287762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FD743CC-3EDE-4CCA-93DC-5C235CB837D6}"/>
              </a:ext>
            </a:extLst>
          </p:cNvPr>
          <p:cNvSpPr>
            <a:spLocks noGrp="1"/>
          </p:cNvSpPr>
          <p:nvPr/>
        </p:nvSpPr>
        <p:spPr>
          <a:xfrm>
            <a:off x="171450" y="6496050"/>
            <a:ext cx="1762125" cy="238125"/>
          </a:xfrm>
          <a:prstGeom prst="rect">
            <a:avLst/>
          </a:prstGeom>
          <a:noFill/>
          <a:ln w="0">
            <a:noFill/>
          </a:ln>
        </p:spPr>
        <p:txBody>
          <a:bodyPr lIns="57150" tIns="38100" rIns="57150" bIns="38100" anchor="ctr">
            <a:noAutofit/>
          </a:bodyPr>
          <a:lstStyle/>
          <a:p>
            <a:pPr algn="r" rtl="1">
              <a:defRPr sz="1600" b="0">
                <a:solidFill>
                  <a:srgbClr val="52626E"/>
                </a:solidFill>
                <a:latin typeface="B Zar"/>
                <a:ea typeface="B Zar"/>
                <a:cs typeface="B Zar"/>
              </a:defRPr>
            </a:pPr>
            <a:r>
              <a:rPr lang="fa-IR" altLang="fa-IR" sz="1600" b="0" smtClean="0">
                <a:solidFill>
                  <a:srgbClr val="52626E"/>
                </a:solidFill>
                <a:latin typeface="B Zar"/>
                <a:ea typeface="B Zar"/>
                <a:cs typeface="B Zar"/>
              </a:rPr>
              <a:t>صفحه ۱۳ از ۳۱</a:t>
            </a:r>
            <a:endParaRPr lang="fa-IR" altLang="fa-IR" sz="1600" b="0">
              <a:solidFill>
                <a:srgbClr val="52626E"/>
              </a:solidFill>
              <a:latin typeface="B Zar"/>
              <a:ea typeface="B Zar"/>
              <a:cs typeface="B Zar"/>
            </a:endParaRPr>
          </a:p>
        </p:txBody>
      </p:sp>
      <p:pic>
        <p:nvPicPr>
          <p:cNvPr id="17" name="Picture 16"/>
          <p:cNvPicPr>
            <a:picLocks noChangeAspect="1"/>
          </p:cNvPicPr>
          <p:nvPr/>
        </p:nvPicPr>
        <p:blipFill>
          <a:blip r:embed="rId3"/>
          <a:stretch/>
        </p:blipFill>
        <p:spPr>
          <a:xfrm>
            <a:off x="523875" y="1579004"/>
            <a:ext cx="11144250" cy="4080993"/>
          </a:xfrm>
          <a:prstGeom prst="rect">
            <a:avLst/>
          </a:prstGeom>
        </p:spPr>
      </p:pic>
      <p:sp>
        <p:nvSpPr>
          <p:cNvPr id="9" name="Rectangle 8">
            <a:extLst>
              <a:ext uri="{FF2B5EF4-FFF2-40B4-BE49-F238E27FC236}">
                <a16:creationId xmlns:a16="http://schemas.microsoft.com/office/drawing/2014/main" id="{813FC987-5FCD-4094-86C1-DD664D5B5003}"/>
              </a:ext>
            </a:extLst>
          </p:cNvPr>
          <p:cNvSpPr>
            <a:spLocks noGrp="1"/>
          </p:cNvSpPr>
          <p:nvPr/>
        </p:nvSpPr>
        <p:spPr>
          <a:xfrm>
            <a:off x="1619250" y="5319924"/>
            <a:ext cx="8953500" cy="419100"/>
          </a:xfrm>
          <a:prstGeom prst="rect">
            <a:avLst/>
          </a:prstGeom>
          <a:noFill/>
          <a:ln w="0">
            <a:noFill/>
          </a:ln>
        </p:spPr>
        <p:txBody>
          <a:bodyPr lIns="57150" tIns="38100" rIns="57150" bIns="38100" anchor="ctr">
            <a:noAutofit/>
          </a:bodyPr>
          <a:lstStyle/>
          <a:p>
            <a:pPr algn="ctr" rtl="1"/>
            <a:r>
              <a:rPr lang="ar-SA" b="1" dirty="0">
                <a:solidFill>
                  <a:schemeClr val="bg2">
                    <a:lumMod val="25000"/>
                  </a:schemeClr>
                </a:solidFill>
                <a:cs typeface="B Zar" panose="00000400000000000000" pitchFamily="50" charset="-78"/>
              </a:rPr>
              <a:t>شکل ۲‏-‏۱: مراحل ساخت نسخه نهایی مجموعه‌داده از داده خام (بخش ۲‏-‏۲‏-‏۳)</a:t>
            </a:r>
            <a:endParaRPr lang="en-US" b="1" dirty="0">
              <a:solidFill>
                <a:schemeClr val="bg2">
                  <a:lumMod val="25000"/>
                </a:schemeClr>
              </a:solidFill>
              <a:cs typeface="B Zar" panose="00000400000000000000" pitchFamily="50" charset="-78"/>
            </a:endParaRPr>
          </a:p>
        </p:txBody>
      </p:sp>
      <p:pic>
        <p:nvPicPr>
          <p:cNvPr id="11" name="Picture 10"/>
          <p:cNvPicPr>
            <a:picLocks noChangeAspect="1"/>
          </p:cNvPicPr>
          <p:nvPr/>
        </p:nvPicPr>
        <p:blipFill>
          <a:blip r:embed="rId4"/>
          <a:stretch/>
        </p:blipFill>
        <p:spPr>
          <a:xfrm>
            <a:off x="428984" y="187916"/>
            <a:ext cx="535979" cy="628650"/>
          </a:xfrm>
          <a:prstGeom prst="rect">
            <a:avLst/>
          </a:prstGeom>
        </p:spPr>
      </p:pic>
      <p:sp>
        <p:nvSpPr>
          <p:cNvPr id="12" name="Rectangle 11">
            <a:extLst>
              <a:ext uri="{FF2B5EF4-FFF2-40B4-BE49-F238E27FC236}">
                <a16:creationId xmlns:a16="http://schemas.microsoft.com/office/drawing/2014/main" id="{C4452ECC-0329-42FD-A992-5D81CCFFD581}"/>
              </a:ext>
            </a:extLst>
          </p:cNvPr>
          <p:cNvSpPr>
            <a:spLocks noGrp="1"/>
          </p:cNvSpPr>
          <p:nvPr/>
        </p:nvSpPr>
        <p:spPr>
          <a:xfrm>
            <a:off x="1754630" y="279232"/>
            <a:ext cx="10096500" cy="485775"/>
          </a:xfrm>
          <a:prstGeom prst="rect">
            <a:avLst/>
          </a:prstGeom>
          <a:noFill/>
          <a:ln w="0">
            <a:noFill/>
          </a:ln>
        </p:spPr>
        <p:txBody>
          <a:bodyPr lIns="57150" tIns="38100" rIns="57150" bIns="38100" anchor="ctr">
            <a:noAutofit/>
          </a:bodyPr>
          <a:lstStyle/>
          <a:p>
            <a:pPr algn="r" rtl="1">
              <a:defRPr sz="3100" b="1">
                <a:solidFill>
                  <a:srgbClr val="173E5A"/>
                </a:solidFill>
                <a:latin typeface="B Zar"/>
                <a:ea typeface="B Zar"/>
                <a:cs typeface="B Zar"/>
              </a:defRPr>
            </a:pPr>
            <a:r>
              <a:rPr lang="fa-IR" altLang="fa-IR" sz="3100" b="1" dirty="0" smtClean="0">
                <a:solidFill>
                  <a:srgbClr val="173E5A"/>
                </a:solidFill>
                <a:latin typeface="B Zar"/>
                <a:ea typeface="B Zar"/>
                <a:cs typeface="B Zar"/>
              </a:rPr>
              <a:t>فرایند ساخت مجموعه‌داده نهایی</a:t>
            </a:r>
            <a:endParaRPr lang="fa-IR" altLang="fa-IR" sz="3000" b="1" dirty="0">
              <a:solidFill>
                <a:srgbClr val="173E5A"/>
              </a:solidFill>
              <a:latin typeface="Times New Roman" panose="02020603050405020304" pitchFamily="18" charset="0"/>
              <a:ea typeface="B Zar"/>
              <a:cs typeface="Times New Roman" panose="02020603050405020304" pitchFamily="18" charset="0"/>
            </a:endParaRPr>
          </a:p>
        </p:txBody>
      </p:sp>
    </p:spTree>
    <p:extLst>
      <p:ext uri="{BB962C8B-B14F-4D97-AF65-F5344CB8AC3E}">
        <p14:creationId xmlns:p14="http://schemas.microsoft.com/office/powerpoint/2010/main" val="370647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AE0B63-DAFE-4123-9082-5D4AF06D01EB}"/>
              </a:ext>
            </a:extLst>
          </p:cNvPr>
          <p:cNvSpPr>
            <a:spLocks noGrp="1"/>
          </p:cNvSpPr>
          <p:nvPr/>
        </p:nvSpPr>
        <p:spPr>
          <a:xfrm>
            <a:off x="171450" y="6496050"/>
            <a:ext cx="1762125" cy="238125"/>
          </a:xfrm>
          <a:prstGeom prst="rect">
            <a:avLst/>
          </a:prstGeom>
          <a:noFill/>
          <a:ln w="0">
            <a:noFill/>
          </a:ln>
        </p:spPr>
        <p:txBody>
          <a:bodyPr lIns="57150" tIns="38100" rIns="57150" bIns="38100" anchor="ctr">
            <a:noAutofit/>
          </a:bodyPr>
          <a:lstStyle/>
          <a:p>
            <a:pPr algn="r" rtl="1">
              <a:defRPr sz="1600" b="0">
                <a:solidFill>
                  <a:srgbClr val="52626E"/>
                </a:solidFill>
                <a:latin typeface="B Zar"/>
                <a:ea typeface="B Zar"/>
                <a:cs typeface="B Zar"/>
              </a:defRPr>
            </a:pPr>
            <a:r>
              <a:rPr lang="fa-IR" altLang="fa-IR" sz="1600" b="0" smtClean="0">
                <a:solidFill>
                  <a:srgbClr val="52626E"/>
                </a:solidFill>
                <a:latin typeface="B Zar"/>
                <a:ea typeface="B Zar"/>
                <a:cs typeface="B Zar"/>
              </a:rPr>
              <a:t>صفحه ۱۴ از ۳۱</a:t>
            </a:r>
            <a:endParaRPr lang="fa-IR" altLang="fa-IR" sz="1600" b="0">
              <a:solidFill>
                <a:srgbClr val="52626E"/>
              </a:solidFill>
              <a:latin typeface="B Zar"/>
              <a:ea typeface="B Zar"/>
              <a:cs typeface="B Zar"/>
            </a:endParaRPr>
          </a:p>
        </p:txBody>
      </p:sp>
      <p:pic>
        <p:nvPicPr>
          <p:cNvPr id="33" name="Picture 32"/>
          <p:cNvPicPr>
            <a:picLocks noChangeAspect="1"/>
          </p:cNvPicPr>
          <p:nvPr/>
        </p:nvPicPr>
        <p:blipFill>
          <a:blip r:embed="rId3"/>
          <a:stretch/>
        </p:blipFill>
        <p:spPr>
          <a:xfrm>
            <a:off x="751148" y="3380904"/>
            <a:ext cx="4301604" cy="2297962"/>
          </a:xfrm>
          <a:prstGeom prst="rect">
            <a:avLst/>
          </a:prstGeom>
        </p:spPr>
      </p:pic>
      <p:pic>
        <p:nvPicPr>
          <p:cNvPr id="26" name="Picture 25"/>
          <p:cNvPicPr>
            <a:picLocks noChangeAspect="1"/>
          </p:cNvPicPr>
          <p:nvPr/>
        </p:nvPicPr>
        <p:blipFill>
          <a:blip r:embed="rId4"/>
          <a:stretch/>
        </p:blipFill>
        <p:spPr>
          <a:xfrm>
            <a:off x="428984" y="187916"/>
            <a:ext cx="535979" cy="628650"/>
          </a:xfrm>
          <a:prstGeom prst="rect">
            <a:avLst/>
          </a:prstGeom>
        </p:spPr>
      </p:pic>
      <p:sp>
        <p:nvSpPr>
          <p:cNvPr id="27" name="Rectangle 26">
            <a:extLst>
              <a:ext uri="{FF2B5EF4-FFF2-40B4-BE49-F238E27FC236}">
                <a16:creationId xmlns:a16="http://schemas.microsoft.com/office/drawing/2014/main" id="{C4452ECC-0329-42FD-A992-5D81CCFFD581}"/>
              </a:ext>
            </a:extLst>
          </p:cNvPr>
          <p:cNvSpPr>
            <a:spLocks noGrp="1"/>
          </p:cNvSpPr>
          <p:nvPr/>
        </p:nvSpPr>
        <p:spPr>
          <a:xfrm>
            <a:off x="1754630" y="279232"/>
            <a:ext cx="10096500" cy="485775"/>
          </a:xfrm>
          <a:prstGeom prst="rect">
            <a:avLst/>
          </a:prstGeom>
          <a:noFill/>
          <a:ln w="0">
            <a:noFill/>
          </a:ln>
        </p:spPr>
        <p:txBody>
          <a:bodyPr lIns="57150" tIns="38100" rIns="57150" bIns="38100" anchor="ctr">
            <a:noAutofit/>
          </a:bodyPr>
          <a:lstStyle/>
          <a:p>
            <a:pPr algn="r" rtl="1">
              <a:defRPr sz="3100" b="1">
                <a:solidFill>
                  <a:srgbClr val="173E5A"/>
                </a:solidFill>
                <a:latin typeface="B Zar"/>
                <a:ea typeface="B Zar"/>
                <a:cs typeface="B Zar"/>
              </a:defRPr>
            </a:pPr>
            <a:r>
              <a:rPr lang="fa-IR" altLang="fa-IR" sz="3100" b="1" dirty="0" smtClean="0">
                <a:solidFill>
                  <a:srgbClr val="173E5A"/>
                </a:solidFill>
                <a:latin typeface="Times New Roman" panose="02020603050405020304" pitchFamily="18" charset="0"/>
                <a:ea typeface="B Zar"/>
                <a:cs typeface="B Zar"/>
              </a:rPr>
              <a:t>بررسی ویدیوهای مشکوک</a:t>
            </a:r>
            <a:endParaRPr lang="fa-IR" altLang="fa-IR" sz="3000" b="1" dirty="0">
              <a:solidFill>
                <a:srgbClr val="173E5A"/>
              </a:solidFill>
              <a:latin typeface="Times New Roman" panose="02020603050405020304" pitchFamily="18" charset="0"/>
              <a:ea typeface="B Zar"/>
              <a:cs typeface="Times New Roman" panose="02020603050405020304" pitchFamily="18" charset="0"/>
            </a:endParaRPr>
          </a:p>
        </p:txBody>
      </p:sp>
      <p:sp>
        <p:nvSpPr>
          <p:cNvPr id="2" name="غربال اولیه"/>
          <p:cNvSpPr txBox="1"/>
          <p:nvPr/>
        </p:nvSpPr>
        <p:spPr>
          <a:xfrm>
            <a:off x="5778500" y="1234768"/>
            <a:ext cx="5651500" cy="353943"/>
          </a:xfrm>
          <a:prstGeom prst="rect">
            <a:avLst/>
          </a:prstGeom>
          <a:noFill/>
        </p:spPr>
        <p:txBody>
          <a:bodyPr vert="horz" wrap="square" lIns="0" tIns="0" rIns="0" bIns="0" rtlCol="0">
            <a:spAutoFit/>
          </a:bodyPr>
          <a:lstStyle/>
          <a:p>
            <a:pPr algn="r"/>
            <a:r>
              <a:rPr lang="fa-IR" sz="2300" b="1" dirty="0" smtClean="0">
                <a:solidFill>
                  <a:srgbClr val="1B3B55"/>
                </a:solidFill>
                <a:cs typeface="B Zar" panose="00000400000000000000" pitchFamily="50" charset="-78"/>
              </a:rPr>
              <a:t>غربال اولیه</a:t>
            </a:r>
            <a:endParaRPr lang="en-US" sz="2300" b="1" dirty="0">
              <a:solidFill>
                <a:srgbClr val="1B3B55"/>
              </a:solidFill>
              <a:cs typeface="B Zar" panose="00000400000000000000" pitchFamily="50" charset="-78"/>
            </a:endParaRPr>
          </a:p>
        </p:txBody>
      </p:sp>
      <p:sp>
        <p:nvSpPr>
          <p:cNvPr id="3" name="آمار غربال"/>
          <p:cNvSpPr txBox="1"/>
          <p:nvPr/>
        </p:nvSpPr>
        <p:spPr>
          <a:xfrm>
            <a:off x="5778500" y="1714500"/>
            <a:ext cx="5341784" cy="338554"/>
          </a:xfrm>
          <a:prstGeom prst="rect">
            <a:avLst/>
          </a:prstGeom>
          <a:noFill/>
        </p:spPr>
        <p:txBody>
          <a:bodyPr vert="horz" wrap="square" lIns="0" tIns="0" rIns="0" bIns="0" rtlCol="0">
            <a:spAutoFit/>
          </a:bodyPr>
          <a:lstStyle/>
          <a:p>
            <a:pPr marL="342900" indent="-342900" algn="r" rtl="1">
              <a:buFont typeface="Arial" panose="020B0604020202020204" pitchFamily="34" charset="0"/>
              <a:buChar char="•"/>
            </a:pPr>
            <a:r>
              <a:rPr lang="fa-IR" sz="2200" dirty="0" smtClean="0">
                <a:solidFill>
                  <a:srgbClr val="191F26"/>
                </a:solidFill>
                <a:cs typeface="B Zar" panose="00000400000000000000" pitchFamily="50" charset="-78"/>
              </a:rPr>
              <a:t>۱۳ ویدیو با میانگین دقت متوسط کمتر از ۰٫۶۳</a:t>
            </a:r>
            <a:endParaRPr lang="en-US" sz="2200" dirty="0">
              <a:solidFill>
                <a:srgbClr val="191F26"/>
              </a:solidFill>
              <a:cs typeface="B Zar" panose="00000400000000000000" pitchFamily="50" charset="-78"/>
            </a:endParaRPr>
          </a:p>
        </p:txBody>
      </p:sp>
      <p:sp>
        <p:nvSpPr>
          <p:cNvPr id="5" name="نتیجه بازبینی"/>
          <p:cNvSpPr txBox="1"/>
          <p:nvPr/>
        </p:nvSpPr>
        <p:spPr>
          <a:xfrm>
            <a:off x="5778500" y="2352368"/>
            <a:ext cx="5651500" cy="353943"/>
          </a:xfrm>
          <a:prstGeom prst="rect">
            <a:avLst/>
          </a:prstGeom>
          <a:noFill/>
        </p:spPr>
        <p:txBody>
          <a:bodyPr vert="horz" wrap="square" lIns="0" tIns="0" rIns="0" bIns="0" rtlCol="0">
            <a:spAutoFit/>
          </a:bodyPr>
          <a:lstStyle/>
          <a:p>
            <a:pPr algn="r"/>
            <a:r>
              <a:rPr lang="fa-IR" sz="2300" b="1" dirty="0" smtClean="0">
                <a:solidFill>
                  <a:srgbClr val="1B3B55"/>
                </a:solidFill>
                <a:cs typeface="B Zar" panose="00000400000000000000" pitchFamily="50" charset="-78"/>
              </a:rPr>
              <a:t>بازبینی برچسب‌ها</a:t>
            </a:r>
            <a:endParaRPr lang="en-US" sz="2300" b="1" dirty="0">
              <a:solidFill>
                <a:srgbClr val="1B3B55"/>
              </a:solidFill>
              <a:cs typeface="B Zar" panose="00000400000000000000" pitchFamily="50" charset="-78"/>
            </a:endParaRPr>
          </a:p>
        </p:txBody>
      </p:sp>
      <p:sp>
        <p:nvSpPr>
          <p:cNvPr id="6" name="ویدیو معیوب یک"/>
          <p:cNvSpPr txBox="1"/>
          <p:nvPr/>
        </p:nvSpPr>
        <p:spPr>
          <a:xfrm>
            <a:off x="5778500" y="2857500"/>
            <a:ext cx="5341784" cy="338554"/>
          </a:xfrm>
          <a:prstGeom prst="rect">
            <a:avLst/>
          </a:prstGeom>
          <a:noFill/>
        </p:spPr>
        <p:txBody>
          <a:bodyPr vert="horz" wrap="square" lIns="0" tIns="0" rIns="0" bIns="0" rtlCol="0">
            <a:spAutoFit/>
          </a:bodyPr>
          <a:lstStyle/>
          <a:p>
            <a:pPr marL="342900" indent="-342900" algn="r" rtl="1">
              <a:buFont typeface="Arial" panose="020B0604020202020204" pitchFamily="34" charset="0"/>
              <a:buChar char="•"/>
            </a:pPr>
            <a:r>
              <a:rPr lang="fa-IR" sz="2100" b="1" dirty="0" smtClean="0">
                <a:solidFill>
                  <a:srgbClr val="191F26"/>
                </a:solidFill>
                <a:cs typeface="B Zar" panose="00000400000000000000" pitchFamily="50" charset="-78"/>
              </a:rPr>
              <a:t>ویدیوی ۴۲۶: </a:t>
            </a:r>
            <a:r>
              <a:rPr lang="fa-IR" sz="2200" dirty="0" smtClean="0">
                <a:solidFill>
                  <a:srgbClr val="191F26"/>
                </a:solidFill>
                <a:cs typeface="B Zar" panose="00000400000000000000" pitchFamily="50" charset="-78"/>
              </a:rPr>
              <a:t>برچسب نادرست؛ امتیاز ۰٫۰۰۷</a:t>
            </a:r>
            <a:endParaRPr lang="en-US" sz="2200" dirty="0">
              <a:solidFill>
                <a:srgbClr val="191F26"/>
              </a:solidFill>
              <a:cs typeface="B Zar" panose="00000400000000000000" pitchFamily="50" charset="-78"/>
            </a:endParaRPr>
          </a:p>
        </p:txBody>
      </p:sp>
      <p:sp>
        <p:nvSpPr>
          <p:cNvPr id="8" name="ویدیو معیوب دو"/>
          <p:cNvSpPr txBox="1"/>
          <p:nvPr/>
        </p:nvSpPr>
        <p:spPr>
          <a:xfrm>
            <a:off x="5778500" y="3302000"/>
            <a:ext cx="5341784" cy="338554"/>
          </a:xfrm>
          <a:prstGeom prst="rect">
            <a:avLst/>
          </a:prstGeom>
          <a:noFill/>
        </p:spPr>
        <p:txBody>
          <a:bodyPr vert="horz" wrap="square" lIns="0" tIns="0" rIns="0" bIns="0" rtlCol="0">
            <a:spAutoFit/>
          </a:bodyPr>
          <a:lstStyle/>
          <a:p>
            <a:pPr marL="342900" indent="-342900" algn="r" rtl="1">
              <a:buFont typeface="Arial" panose="020B0604020202020204" pitchFamily="34" charset="0"/>
              <a:buChar char="•"/>
            </a:pPr>
            <a:r>
              <a:rPr lang="fa-IR" sz="2100" b="1" dirty="0" smtClean="0">
                <a:solidFill>
                  <a:srgbClr val="191F26"/>
                </a:solidFill>
                <a:cs typeface="B Zar" panose="00000400000000000000" pitchFamily="50" charset="-78"/>
              </a:rPr>
              <a:t>ویدیوی ۴۶: </a:t>
            </a:r>
            <a:r>
              <a:rPr lang="fa-IR" sz="2200" dirty="0" smtClean="0">
                <a:solidFill>
                  <a:srgbClr val="191F26"/>
                </a:solidFill>
                <a:cs typeface="B Zar" panose="00000400000000000000" pitchFamily="50" charset="-78"/>
              </a:rPr>
              <a:t>برچسب ناقص؛ امتیاز ۰٫۴۵۱</a:t>
            </a:r>
            <a:endParaRPr lang="en-US" sz="2200" dirty="0">
              <a:solidFill>
                <a:srgbClr val="191F26"/>
              </a:solidFill>
              <a:cs typeface="B Zar" panose="00000400000000000000" pitchFamily="50" charset="-78"/>
            </a:endParaRPr>
          </a:p>
        </p:txBody>
      </p:sp>
      <p:sp>
        <p:nvSpPr>
          <p:cNvPr id="9" name="ویدیوهای حفظ شده"/>
          <p:cNvSpPr txBox="1"/>
          <p:nvPr/>
        </p:nvSpPr>
        <p:spPr>
          <a:xfrm>
            <a:off x="5778500" y="3746500"/>
            <a:ext cx="5341784" cy="338554"/>
          </a:xfrm>
          <a:prstGeom prst="rect">
            <a:avLst/>
          </a:prstGeom>
          <a:noFill/>
        </p:spPr>
        <p:txBody>
          <a:bodyPr vert="horz" wrap="square" lIns="0" tIns="0" rIns="0" bIns="0" rtlCol="0">
            <a:spAutoFit/>
          </a:bodyPr>
          <a:lstStyle/>
          <a:p>
            <a:pPr marL="342900" indent="-342900" algn="r" rtl="1">
              <a:buFont typeface="Arial" panose="020B0604020202020204" pitchFamily="34" charset="0"/>
              <a:buChar char="•"/>
            </a:pPr>
            <a:r>
              <a:rPr lang="fa-IR" sz="2100" b="1" dirty="0" smtClean="0">
                <a:solidFill>
                  <a:srgbClr val="191F26"/>
                </a:solidFill>
                <a:cs typeface="B Zar" panose="00000400000000000000" pitchFamily="50" charset="-78"/>
              </a:rPr>
              <a:t>۱۱ ویدیوی دشوار: </a:t>
            </a:r>
            <a:r>
              <a:rPr lang="fa-IR" sz="2200" dirty="0" smtClean="0">
                <a:solidFill>
                  <a:srgbClr val="191F26"/>
                </a:solidFill>
                <a:cs typeface="B Zar" panose="00000400000000000000" pitchFamily="50" charset="-78"/>
              </a:rPr>
              <a:t>حفظ</a:t>
            </a:r>
            <a:endParaRPr lang="en-US" sz="2200" dirty="0">
              <a:solidFill>
                <a:srgbClr val="191F26"/>
              </a:solidFill>
              <a:cs typeface="B Zar" panose="00000400000000000000" pitchFamily="50" charset="-78"/>
            </a:endParaRPr>
          </a:p>
        </p:txBody>
      </p:sp>
      <p:sp>
        <p:nvSpPr>
          <p:cNvPr id="10" name="ویدیوهای تکراری"/>
          <p:cNvSpPr txBox="1"/>
          <p:nvPr/>
        </p:nvSpPr>
        <p:spPr>
          <a:xfrm>
            <a:off x="5778500" y="4409768"/>
            <a:ext cx="5651500" cy="353943"/>
          </a:xfrm>
          <a:prstGeom prst="rect">
            <a:avLst/>
          </a:prstGeom>
          <a:noFill/>
        </p:spPr>
        <p:txBody>
          <a:bodyPr vert="horz" wrap="square" lIns="0" tIns="0" rIns="0" bIns="0" rtlCol="0">
            <a:spAutoFit/>
          </a:bodyPr>
          <a:lstStyle/>
          <a:p>
            <a:pPr algn="r"/>
            <a:r>
              <a:rPr lang="fa-IR" sz="2300" b="1" dirty="0" smtClean="0">
                <a:solidFill>
                  <a:srgbClr val="1B3B55"/>
                </a:solidFill>
                <a:cs typeface="B Zar" panose="00000400000000000000" pitchFamily="50" charset="-78"/>
              </a:rPr>
              <a:t>بررسی تکرار</a:t>
            </a:r>
            <a:endParaRPr lang="en-US" sz="2300" b="1" dirty="0">
              <a:solidFill>
                <a:srgbClr val="1B3B55"/>
              </a:solidFill>
              <a:cs typeface="B Zar" panose="00000400000000000000" pitchFamily="50" charset="-78"/>
            </a:endParaRPr>
          </a:p>
        </p:txBody>
      </p:sp>
      <p:sp>
        <p:nvSpPr>
          <p:cNvPr id="11" name="تعداد تکراری"/>
          <p:cNvSpPr txBox="1"/>
          <p:nvPr/>
        </p:nvSpPr>
        <p:spPr>
          <a:xfrm>
            <a:off x="5778500" y="4889500"/>
            <a:ext cx="5341784" cy="338554"/>
          </a:xfrm>
          <a:prstGeom prst="rect">
            <a:avLst/>
          </a:prstGeom>
          <a:noFill/>
        </p:spPr>
        <p:txBody>
          <a:bodyPr vert="horz" wrap="square" lIns="0" tIns="0" rIns="0" bIns="0" rtlCol="0">
            <a:spAutoFit/>
          </a:bodyPr>
          <a:lstStyle/>
          <a:p>
            <a:pPr marL="342900" indent="-342900" algn="r" rtl="1">
              <a:buFont typeface="Arial" panose="020B0604020202020204" pitchFamily="34" charset="0"/>
              <a:buChar char="•"/>
            </a:pPr>
            <a:r>
              <a:rPr lang="fa-IR" sz="2100" b="1" dirty="0" smtClean="0">
                <a:solidFill>
                  <a:srgbClr val="191F26"/>
                </a:solidFill>
                <a:cs typeface="B Zar" panose="00000400000000000000" pitchFamily="50" charset="-78"/>
              </a:rPr>
              <a:t>۳ ویدیوی تکراری: </a:t>
            </a:r>
            <a:r>
              <a:rPr lang="fa-IR" sz="2200" dirty="0" smtClean="0">
                <a:solidFill>
                  <a:srgbClr val="191F26"/>
                </a:solidFill>
                <a:cs typeface="B Zar" panose="00000400000000000000" pitchFamily="50" charset="-78"/>
              </a:rPr>
              <a:t>حذف</a:t>
            </a:r>
            <a:endParaRPr lang="en-US" sz="2200" dirty="0">
              <a:solidFill>
                <a:srgbClr val="191F26"/>
              </a:solidFill>
              <a:cs typeface="B Zar" panose="00000400000000000000" pitchFamily="50" charset="-78"/>
            </a:endParaRPr>
          </a:p>
        </p:txBody>
      </p:sp>
      <p:sp>
        <p:nvSpPr>
          <p:cNvPr id="12" name="حاصل پاکسازی"/>
          <p:cNvSpPr txBox="1"/>
          <p:nvPr/>
        </p:nvSpPr>
        <p:spPr>
          <a:xfrm>
            <a:off x="5778500" y="5678866"/>
            <a:ext cx="5651500" cy="369332"/>
          </a:xfrm>
          <a:prstGeom prst="rect">
            <a:avLst/>
          </a:prstGeom>
          <a:noFill/>
        </p:spPr>
        <p:txBody>
          <a:bodyPr vert="horz" wrap="square" lIns="0" tIns="0" rIns="0" bIns="0" rtlCol="0">
            <a:spAutoFit/>
          </a:bodyPr>
          <a:lstStyle/>
          <a:p>
            <a:pPr algn="r"/>
            <a:r>
              <a:rPr lang="fa-IR" sz="2400" b="1" dirty="0" smtClean="0">
                <a:solidFill>
                  <a:srgbClr val="226F4F"/>
                </a:solidFill>
                <a:cs typeface="B Zar" panose="00000400000000000000" pitchFamily="50" charset="-78"/>
              </a:rPr>
              <a:t>مجموع حذف‌شده: ۵ ویدیو</a:t>
            </a:r>
            <a:endParaRPr lang="en-US" sz="2400" b="1" dirty="0">
              <a:solidFill>
                <a:srgbClr val="226F4F"/>
              </a:solidFill>
              <a:cs typeface="B Zar" panose="00000400000000000000" pitchFamily="50" charset="-78"/>
            </a:endParaRPr>
          </a:p>
        </p:txBody>
      </p:sp>
      <p:sp>
        <p:nvSpPr>
          <p:cNvPr id="13" name="برچسب شاهد تصویری"/>
          <p:cNvSpPr txBox="1"/>
          <p:nvPr/>
        </p:nvSpPr>
        <p:spPr>
          <a:xfrm>
            <a:off x="520700" y="5876606"/>
            <a:ext cx="4762500" cy="276999"/>
          </a:xfrm>
          <a:prstGeom prst="rect">
            <a:avLst/>
          </a:prstGeom>
          <a:noFill/>
        </p:spPr>
        <p:txBody>
          <a:bodyPr vert="horz" wrap="square" lIns="0" tIns="0" rIns="0" bIns="0" rtlCol="0">
            <a:spAutoFit/>
          </a:bodyPr>
          <a:lstStyle/>
          <a:p>
            <a:pPr algn="ctr"/>
            <a:r>
              <a:rPr lang="fa-IR" dirty="0" smtClean="0">
                <a:solidFill>
                  <a:schemeClr val="bg2">
                    <a:lumMod val="10000"/>
                  </a:schemeClr>
                </a:solidFill>
                <a:cs typeface="B Zar" panose="00000400000000000000" pitchFamily="50" charset="-78"/>
              </a:rPr>
              <a:t>نمونه برچسب نادرست در ویدیو</a:t>
            </a:r>
            <a:r>
              <a:rPr lang="fa-IR" dirty="0">
                <a:solidFill>
                  <a:schemeClr val="bg2">
                    <a:lumMod val="10000"/>
                  </a:schemeClr>
                </a:solidFill>
                <a:cs typeface="B Zar" panose="00000400000000000000" pitchFamily="50" charset="-78"/>
              </a:rPr>
              <a:t> </a:t>
            </a:r>
            <a:r>
              <a:rPr lang="fa-IR" dirty="0" smtClean="0">
                <a:solidFill>
                  <a:schemeClr val="bg2">
                    <a:lumMod val="10000"/>
                  </a:schemeClr>
                </a:solidFill>
                <a:cs typeface="B Zar" panose="00000400000000000000" pitchFamily="50" charset="-78"/>
              </a:rPr>
              <a:t>شماره‌های 46 و 426</a:t>
            </a:r>
            <a:endParaRPr lang="en-US" dirty="0">
              <a:solidFill>
                <a:schemeClr val="bg2">
                  <a:lumMod val="10000"/>
                </a:schemeClr>
              </a:solidFill>
              <a:cs typeface="B Zar" panose="00000400000000000000" pitchFamily="50" charset="-78"/>
            </a:endParaRPr>
          </a:p>
        </p:txBody>
      </p:sp>
      <p:pic>
        <p:nvPicPr>
          <p:cNvPr id="14" name="Picture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1148" y="1225512"/>
            <a:ext cx="4301604" cy="2076488"/>
          </a:xfrm>
          <a:prstGeom prst="rect">
            <a:avLst/>
          </a:prstGeom>
        </p:spPr>
      </p:pic>
      <p:sp>
        <p:nvSpPr>
          <p:cNvPr id="4" name="Rectangle 3"/>
          <p:cNvSpPr/>
          <p:nvPr/>
        </p:nvSpPr>
        <p:spPr>
          <a:xfrm>
            <a:off x="678426" y="1159011"/>
            <a:ext cx="4434348" cy="4583028"/>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5703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0E240DD-C16C-4047-8800-DD099F1531FB}"/>
              </a:ext>
            </a:extLst>
          </p:cNvPr>
          <p:cNvSpPr>
            <a:spLocks noGrp="1"/>
          </p:cNvSpPr>
          <p:nvPr/>
        </p:nvSpPr>
        <p:spPr>
          <a:xfrm>
            <a:off x="171450" y="6496050"/>
            <a:ext cx="1762125" cy="238125"/>
          </a:xfrm>
          <a:prstGeom prst="rect">
            <a:avLst/>
          </a:prstGeom>
          <a:noFill/>
          <a:ln w="0">
            <a:noFill/>
          </a:ln>
        </p:spPr>
        <p:txBody>
          <a:bodyPr lIns="57150" tIns="38100" rIns="57150" bIns="38100" anchor="ctr">
            <a:noAutofit/>
          </a:bodyPr>
          <a:lstStyle/>
          <a:p>
            <a:pPr algn="r" rtl="1">
              <a:defRPr sz="1600" b="0">
                <a:solidFill>
                  <a:srgbClr val="52626E"/>
                </a:solidFill>
                <a:latin typeface="B Zar"/>
                <a:ea typeface="B Zar"/>
                <a:cs typeface="B Zar"/>
              </a:defRPr>
            </a:pPr>
            <a:r>
              <a:rPr lang="fa-IR" altLang="fa-IR" sz="1600" b="0" smtClean="0">
                <a:solidFill>
                  <a:srgbClr val="52626E"/>
                </a:solidFill>
                <a:latin typeface="B Zar"/>
                <a:ea typeface="B Zar"/>
                <a:cs typeface="B Zar"/>
              </a:rPr>
              <a:t>صفحه ۱۵ از ۳۱</a:t>
            </a:r>
            <a:endParaRPr lang="fa-IR" altLang="fa-IR" sz="1600" b="0">
              <a:solidFill>
                <a:srgbClr val="52626E"/>
              </a:solidFill>
              <a:latin typeface="B Zar"/>
              <a:ea typeface="B Zar"/>
              <a:cs typeface="B Zar"/>
            </a:endParaRPr>
          </a:p>
        </p:txBody>
      </p:sp>
      <p:graphicFrame>
        <p:nvGraphicFramePr>
          <p:cNvPr id="20" name="Table 19"/>
          <p:cNvGraphicFramePr/>
          <p:nvPr>
            <p:extLst>
              <p:ext uri="{D42A27DB-BD31-4B8C-83A1-F6EECF244321}">
                <p14:modId xmlns:p14="http://schemas.microsoft.com/office/powerpoint/2010/main" val="345957650"/>
              </p:ext>
            </p:extLst>
          </p:nvPr>
        </p:nvGraphicFramePr>
        <p:xfrm>
          <a:off x="523875" y="1381125"/>
          <a:ext cx="11144250" cy="3333752"/>
        </p:xfrm>
        <a:graphic>
          <a:graphicData uri="http://schemas.openxmlformats.org/drawingml/2006/table">
            <a:tbl>
              <a:tblPr/>
              <a:tblGrid>
                <a:gridCol w="1626029">
                  <a:extLst>
                    <a:ext uri="{9D8B030D-6E8A-4147-A177-3AD203B41FA5}">
                      <a16:colId xmlns:a16="http://schemas.microsoft.com/office/drawing/2014/main" val="20000"/>
                    </a:ext>
                  </a:extLst>
                </a:gridCol>
                <a:gridCol w="1863985">
                  <a:extLst>
                    <a:ext uri="{9D8B030D-6E8A-4147-A177-3AD203B41FA5}">
                      <a16:colId xmlns:a16="http://schemas.microsoft.com/office/drawing/2014/main" val="20001"/>
                    </a:ext>
                  </a:extLst>
                </a:gridCol>
                <a:gridCol w="1863985">
                  <a:extLst>
                    <a:ext uri="{9D8B030D-6E8A-4147-A177-3AD203B41FA5}">
                      <a16:colId xmlns:a16="http://schemas.microsoft.com/office/drawing/2014/main" val="2997267730"/>
                    </a:ext>
                  </a:extLst>
                </a:gridCol>
                <a:gridCol w="1824326">
                  <a:extLst>
                    <a:ext uri="{9D8B030D-6E8A-4147-A177-3AD203B41FA5}">
                      <a16:colId xmlns:a16="http://schemas.microsoft.com/office/drawing/2014/main" val="20002"/>
                    </a:ext>
                  </a:extLst>
                </a:gridCol>
                <a:gridCol w="1586370">
                  <a:extLst>
                    <a:ext uri="{9D8B030D-6E8A-4147-A177-3AD203B41FA5}">
                      <a16:colId xmlns:a16="http://schemas.microsoft.com/office/drawing/2014/main" val="20003"/>
                    </a:ext>
                  </a:extLst>
                </a:gridCol>
                <a:gridCol w="2379555">
                  <a:extLst>
                    <a:ext uri="{9D8B030D-6E8A-4147-A177-3AD203B41FA5}">
                      <a16:colId xmlns:a16="http://schemas.microsoft.com/office/drawing/2014/main" val="20004"/>
                    </a:ext>
                  </a:extLst>
                </a:gridCol>
              </a:tblGrid>
              <a:tr h="833438">
                <a:tc>
                  <a:txBody>
                    <a:bodyPr/>
                    <a:lstStyle/>
                    <a:p>
                      <a:pPr algn="ctr" rtl="1"/>
                      <a:r>
                        <a:rPr lang="fa-IR" altLang="fa-IR" sz="2000" b="1" dirty="0">
                          <a:solidFill>
                            <a:srgbClr val="FFFFFF"/>
                          </a:solidFill>
                          <a:latin typeface="B Zar"/>
                          <a:ea typeface="B Zar"/>
                          <a:cs typeface="B Zar"/>
                        </a:rPr>
                        <a:t>نمونه در تصویر</a:t>
                      </a:r>
                    </a:p>
                  </a:txBody>
                  <a:tcPr marL="66675" marR="66675" marT="57150" marB="57150" anchor="ctr">
                    <a:solidFill>
                      <a:schemeClr val="accent4">
                        <a:lumMod val="50000"/>
                      </a:schemeClr>
                    </a:solidFill>
                  </a:tcPr>
                </a:tc>
                <a:tc>
                  <a:txBody>
                    <a:bodyPr/>
                    <a:lstStyle/>
                    <a:p>
                      <a:pPr algn="ctr" rtl="1"/>
                      <a:r>
                        <a:rPr lang="fa-IR" altLang="fa-IR" sz="2000" b="1" dirty="0">
                          <a:solidFill>
                            <a:srgbClr val="FFFFFF"/>
                          </a:solidFill>
                          <a:latin typeface="B Zar"/>
                          <a:ea typeface="B Zar"/>
                          <a:cs typeface="B Zar"/>
                        </a:rPr>
                        <a:t>تعداد نمونه</a:t>
                      </a:r>
                    </a:p>
                  </a:txBody>
                  <a:tcPr marL="66675" marR="66675" marT="57150" marB="57150" anchor="ctr">
                    <a:solidFill>
                      <a:schemeClr val="accent4">
                        <a:lumMod val="50000"/>
                      </a:schemeClr>
                    </a:solidFill>
                  </a:tcPr>
                </a:tc>
                <a:tc>
                  <a:txBody>
                    <a:bodyPr/>
                    <a:lstStyle/>
                    <a:p>
                      <a:pPr algn="ctr" rtl="1"/>
                      <a:r>
                        <a:rPr lang="fa-IR" altLang="fa-IR" sz="2000" b="1" dirty="0" smtClean="0">
                          <a:solidFill>
                            <a:srgbClr val="FFFFFF"/>
                          </a:solidFill>
                          <a:latin typeface="B Zar"/>
                          <a:ea typeface="B Zar"/>
                          <a:cs typeface="B Zar"/>
                        </a:rPr>
                        <a:t>سهم از کل تصاویر</a:t>
                      </a:r>
                      <a:endParaRPr lang="fa-IR" altLang="fa-IR" sz="2000" b="1" dirty="0">
                        <a:solidFill>
                          <a:srgbClr val="FFFFFF"/>
                        </a:solidFill>
                        <a:latin typeface="B Zar"/>
                        <a:ea typeface="B Zar"/>
                        <a:cs typeface="B Zar"/>
                      </a:endParaRPr>
                    </a:p>
                  </a:txBody>
                  <a:tcPr marL="66675" marR="66675" marT="57150" marB="57150" anchor="ctr">
                    <a:solidFill>
                      <a:schemeClr val="accent4">
                        <a:lumMod val="50000"/>
                      </a:schemeClr>
                    </a:solidFill>
                  </a:tcPr>
                </a:tc>
                <a:tc>
                  <a:txBody>
                    <a:bodyPr/>
                    <a:lstStyle/>
                    <a:p>
                      <a:pPr algn="ctr" rtl="1"/>
                      <a:r>
                        <a:rPr lang="fa-IR" altLang="fa-IR" sz="2000" b="1" dirty="0">
                          <a:solidFill>
                            <a:srgbClr val="FFFFFF"/>
                          </a:solidFill>
                          <a:latin typeface="B Zar"/>
                          <a:ea typeface="B Zar"/>
                          <a:cs typeface="B Zar"/>
                        </a:rPr>
                        <a:t>تعداد </a:t>
                      </a:r>
                      <a:r>
                        <a:rPr lang="fa-IR" altLang="fa-IR" sz="2000" b="1" dirty="0" smtClean="0">
                          <a:solidFill>
                            <a:srgbClr val="FFFFFF"/>
                          </a:solidFill>
                          <a:latin typeface="B Zar"/>
                          <a:ea typeface="B Zar"/>
                          <a:cs typeface="B Zar"/>
                        </a:rPr>
                        <a:t>تصویر</a:t>
                      </a:r>
                      <a:endParaRPr lang="fa-IR" altLang="fa-IR" sz="2000" b="1" dirty="0">
                        <a:solidFill>
                          <a:srgbClr val="FFFFFF"/>
                        </a:solidFill>
                        <a:latin typeface="B Zar"/>
                        <a:ea typeface="B Zar"/>
                        <a:cs typeface="B Zar"/>
                      </a:endParaRPr>
                    </a:p>
                  </a:txBody>
                  <a:tcPr marL="66675" marR="66675" marT="57150" marB="57150" anchor="ctr">
                    <a:solidFill>
                      <a:schemeClr val="accent4">
                        <a:lumMod val="50000"/>
                      </a:schemeClr>
                    </a:solidFill>
                  </a:tcPr>
                </a:tc>
                <a:tc>
                  <a:txBody>
                    <a:bodyPr/>
                    <a:lstStyle/>
                    <a:p>
                      <a:pPr algn="ctr" rtl="1"/>
                      <a:r>
                        <a:rPr lang="fa-IR" altLang="fa-IR" sz="2000" b="1" dirty="0">
                          <a:solidFill>
                            <a:srgbClr val="FFFFFF"/>
                          </a:solidFill>
                          <a:latin typeface="B Zar"/>
                          <a:ea typeface="B Zar"/>
                          <a:cs typeface="B Zar"/>
                        </a:rPr>
                        <a:t>تعداد ویدیو</a:t>
                      </a:r>
                    </a:p>
                  </a:txBody>
                  <a:tcPr marL="66675" marR="66675" marT="57150" marB="57150" anchor="ctr">
                    <a:solidFill>
                      <a:schemeClr val="accent4">
                        <a:lumMod val="50000"/>
                      </a:schemeClr>
                    </a:solidFill>
                  </a:tcPr>
                </a:tc>
                <a:tc>
                  <a:txBody>
                    <a:bodyPr/>
                    <a:lstStyle/>
                    <a:p>
                      <a:pPr algn="ctr" rtl="1"/>
                      <a:r>
                        <a:rPr lang="fa-IR" altLang="fa-IR" sz="2000" b="1" dirty="0">
                          <a:solidFill>
                            <a:srgbClr val="FFFFFF"/>
                          </a:solidFill>
                          <a:latin typeface="B Zar"/>
                          <a:ea typeface="B Zar"/>
                          <a:cs typeface="B Zar"/>
                        </a:rPr>
                        <a:t>بخش</a:t>
                      </a:r>
                    </a:p>
                  </a:txBody>
                  <a:tcPr marL="66675" marR="66675" marT="57150" marB="57150" anchor="ctr">
                    <a:solidFill>
                      <a:schemeClr val="accent4">
                        <a:lumMod val="50000"/>
                      </a:schemeClr>
                    </a:solidFill>
                  </a:tcPr>
                </a:tc>
                <a:extLst>
                  <a:ext uri="{0D108BD9-81ED-4DB2-BD59-A6C34878D82A}">
                    <a16:rowId xmlns:a16="http://schemas.microsoft.com/office/drawing/2014/main" val="10000"/>
                  </a:ext>
                </a:extLst>
              </a:tr>
              <a:tr h="833438">
                <a:tc>
                  <a:txBody>
                    <a:bodyPr/>
                    <a:lstStyle/>
                    <a:p>
                      <a:pPr algn="ctr" rtl="1"/>
                      <a:r>
                        <a:rPr lang="fa-IR" altLang="fa-IR" sz="2000">
                          <a:solidFill>
                            <a:srgbClr val="17232C"/>
                          </a:solidFill>
                          <a:latin typeface="B Zar"/>
                          <a:ea typeface="B Zar"/>
                          <a:cs typeface="B Zar"/>
                        </a:rPr>
                        <a:t>۷٫۸</a:t>
                      </a:r>
                    </a:p>
                  </a:txBody>
                  <a:tcPr marL="66675" marR="66675" marT="57150" marB="57150" anchor="ctr">
                    <a:solidFill>
                      <a:srgbClr val="FFFFFF"/>
                    </a:solidFill>
                  </a:tcPr>
                </a:tc>
                <a:tc>
                  <a:txBody>
                    <a:bodyPr/>
                    <a:lstStyle/>
                    <a:p>
                      <a:pPr algn="ctr" rtl="1"/>
                      <a:r>
                        <a:rPr lang="fa-IR" altLang="fa-IR" sz="2000" dirty="0">
                          <a:solidFill>
                            <a:srgbClr val="17232C"/>
                          </a:solidFill>
                          <a:latin typeface="B Zar"/>
                          <a:ea typeface="B Zar"/>
                          <a:cs typeface="B Zar"/>
                        </a:rPr>
                        <a:t>۲۰۴٬۰۰۹</a:t>
                      </a:r>
                    </a:p>
                  </a:txBody>
                  <a:tcPr marL="66675" marR="66675" marT="57150" marB="57150" anchor="ctr">
                    <a:solidFill>
                      <a:srgbClr val="FFFFFF"/>
                    </a:solidFill>
                  </a:tcPr>
                </a:tc>
                <a:tc>
                  <a:txBody>
                    <a:bodyPr/>
                    <a:lstStyle/>
                    <a:p>
                      <a:pPr algn="ctr" rtl="0"/>
                      <a:r>
                        <a:rPr lang="ar-SA" sz="2000" dirty="0" smtClean="0">
                          <a:solidFill>
                            <a:schemeClr val="tx1"/>
                          </a:solidFill>
                          <a:effectLst/>
                          <a:latin typeface="+mn-lt"/>
                          <a:ea typeface="+mn-ea"/>
                          <a:cs typeface="B Zar" panose="00000400000000000000" pitchFamily="50" charset="-78"/>
                        </a:rPr>
                        <a:t>۷۰٪</a:t>
                      </a:r>
                      <a:endParaRPr lang="fa-IR" altLang="fa-IR" sz="2000" dirty="0">
                        <a:solidFill>
                          <a:srgbClr val="17232C"/>
                        </a:solidFill>
                        <a:latin typeface="B Zar"/>
                        <a:ea typeface="B Zar"/>
                        <a:cs typeface="B Zar" panose="00000400000000000000" pitchFamily="50" charset="-78"/>
                      </a:endParaRPr>
                    </a:p>
                  </a:txBody>
                  <a:tcPr marL="66675" marR="66675" marT="57150" marB="57150" anchor="ctr">
                    <a:solidFill>
                      <a:srgbClr val="FFFFFF"/>
                    </a:solidFill>
                  </a:tcPr>
                </a:tc>
                <a:tc>
                  <a:txBody>
                    <a:bodyPr/>
                    <a:lstStyle/>
                    <a:p>
                      <a:pPr algn="ctr" rtl="1"/>
                      <a:r>
                        <a:rPr lang="fa-IR" altLang="fa-IR" sz="2000">
                          <a:solidFill>
                            <a:srgbClr val="17232C"/>
                          </a:solidFill>
                          <a:latin typeface="B Zar"/>
                          <a:ea typeface="B Zar"/>
                          <a:cs typeface="B Zar"/>
                        </a:rPr>
                        <a:t>۲۶٬۰۰۰</a:t>
                      </a:r>
                    </a:p>
                  </a:txBody>
                  <a:tcPr marL="66675" marR="66675" marT="57150" marB="57150" anchor="ctr">
                    <a:solidFill>
                      <a:srgbClr val="FFFFFF"/>
                    </a:solidFill>
                  </a:tcPr>
                </a:tc>
                <a:tc>
                  <a:txBody>
                    <a:bodyPr/>
                    <a:lstStyle/>
                    <a:p>
                      <a:pPr algn="ctr" rtl="1"/>
                      <a:r>
                        <a:rPr lang="fa-IR" altLang="fa-IR" sz="2000" dirty="0">
                          <a:solidFill>
                            <a:srgbClr val="17232C"/>
                          </a:solidFill>
                          <a:latin typeface="B Zar"/>
                          <a:ea typeface="B Zar"/>
                          <a:cs typeface="B Zar"/>
                        </a:rPr>
                        <a:t>۷۹</a:t>
                      </a:r>
                    </a:p>
                  </a:txBody>
                  <a:tcPr marL="66675" marR="66675" marT="57150" marB="57150" anchor="ctr">
                    <a:solidFill>
                      <a:srgbClr val="FFFFFF"/>
                    </a:solidFill>
                  </a:tcPr>
                </a:tc>
                <a:tc>
                  <a:txBody>
                    <a:bodyPr/>
                    <a:lstStyle/>
                    <a:p>
                      <a:pPr algn="ctr" rtl="1"/>
                      <a:r>
                        <a:rPr lang="fa-IR" altLang="fa-IR" sz="2000" b="1" dirty="0">
                          <a:solidFill>
                            <a:srgbClr val="173E5A"/>
                          </a:solidFill>
                          <a:latin typeface="B Zar"/>
                          <a:ea typeface="B Zar"/>
                          <a:cs typeface="B Zar"/>
                        </a:rPr>
                        <a:t>آموزش</a:t>
                      </a:r>
                    </a:p>
                  </a:txBody>
                  <a:tcPr marL="66675" marR="66675" marT="57150" marB="57150" anchor="ctr">
                    <a:solidFill>
                      <a:schemeClr val="accent4">
                        <a:lumMod val="20000"/>
                        <a:lumOff val="80000"/>
                      </a:schemeClr>
                    </a:solidFill>
                  </a:tcPr>
                </a:tc>
                <a:extLst>
                  <a:ext uri="{0D108BD9-81ED-4DB2-BD59-A6C34878D82A}">
                    <a16:rowId xmlns:a16="http://schemas.microsoft.com/office/drawing/2014/main" val="10001"/>
                  </a:ext>
                </a:extLst>
              </a:tr>
              <a:tr h="833438">
                <a:tc>
                  <a:txBody>
                    <a:bodyPr/>
                    <a:lstStyle/>
                    <a:p>
                      <a:pPr algn="ctr" rtl="1"/>
                      <a:r>
                        <a:rPr lang="fa-IR" altLang="fa-IR" sz="2000">
                          <a:solidFill>
                            <a:srgbClr val="17232C"/>
                          </a:solidFill>
                          <a:latin typeface="B Zar"/>
                          <a:ea typeface="B Zar"/>
                          <a:cs typeface="B Zar"/>
                        </a:rPr>
                        <a:t>۶٫۶</a:t>
                      </a:r>
                    </a:p>
                  </a:txBody>
                  <a:tcPr marL="66675" marR="66675" marT="57150" marB="57150" anchor="ctr">
                    <a:solidFill>
                      <a:srgbClr val="F1F3F5"/>
                    </a:solidFill>
                  </a:tcPr>
                </a:tc>
                <a:tc>
                  <a:txBody>
                    <a:bodyPr/>
                    <a:lstStyle/>
                    <a:p>
                      <a:pPr algn="ctr" rtl="1"/>
                      <a:r>
                        <a:rPr lang="fa-IR" altLang="fa-IR" sz="2000">
                          <a:solidFill>
                            <a:srgbClr val="17232C"/>
                          </a:solidFill>
                          <a:latin typeface="B Zar"/>
                          <a:ea typeface="B Zar"/>
                          <a:cs typeface="B Zar"/>
                        </a:rPr>
                        <a:t>۳۶٬۸۱۰</a:t>
                      </a:r>
                    </a:p>
                  </a:txBody>
                  <a:tcPr marL="66675" marR="66675" marT="57150" marB="57150" anchor="ctr">
                    <a:solidFill>
                      <a:srgbClr val="F1F3F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2000" smtClean="0">
                          <a:solidFill>
                            <a:schemeClr val="tx1"/>
                          </a:solidFill>
                          <a:effectLst/>
                          <a:latin typeface="+mn-lt"/>
                          <a:ea typeface="+mn-ea"/>
                          <a:cs typeface="B Zar" panose="00000400000000000000" pitchFamily="50" charset="-78"/>
                        </a:rPr>
                        <a:t>۱۵٪</a:t>
                      </a:r>
                      <a:endParaRPr lang="fa-IR" altLang="fa-IR" sz="2000" dirty="0" smtClean="0">
                        <a:solidFill>
                          <a:srgbClr val="17232C"/>
                        </a:solidFill>
                        <a:latin typeface="B Zar"/>
                        <a:ea typeface="B Zar"/>
                        <a:cs typeface="B Zar" panose="00000400000000000000" pitchFamily="50" charset="-78"/>
                      </a:endParaRPr>
                    </a:p>
                  </a:txBody>
                  <a:tcPr marL="66675" marR="66675" marT="57150" marB="57150" anchor="ctr">
                    <a:solidFill>
                      <a:srgbClr val="F1F3F5"/>
                    </a:solidFill>
                  </a:tcPr>
                </a:tc>
                <a:tc>
                  <a:txBody>
                    <a:bodyPr/>
                    <a:lstStyle/>
                    <a:p>
                      <a:pPr algn="ctr" rtl="1"/>
                      <a:r>
                        <a:rPr lang="fa-IR" altLang="fa-IR" sz="2000" dirty="0">
                          <a:solidFill>
                            <a:srgbClr val="17232C"/>
                          </a:solidFill>
                          <a:latin typeface="B Zar"/>
                          <a:ea typeface="B Zar"/>
                          <a:cs typeface="B Zar"/>
                        </a:rPr>
                        <a:t>۵٬۵۷۱</a:t>
                      </a:r>
                    </a:p>
                  </a:txBody>
                  <a:tcPr marL="66675" marR="66675" marT="57150" marB="57150" anchor="ctr">
                    <a:solidFill>
                      <a:srgbClr val="F1F3F5"/>
                    </a:solidFill>
                  </a:tcPr>
                </a:tc>
                <a:tc>
                  <a:txBody>
                    <a:bodyPr/>
                    <a:lstStyle/>
                    <a:p>
                      <a:pPr algn="ctr" rtl="1"/>
                      <a:r>
                        <a:rPr lang="fa-IR" altLang="fa-IR" sz="2000" dirty="0">
                          <a:solidFill>
                            <a:srgbClr val="17232C"/>
                          </a:solidFill>
                          <a:latin typeface="B Zar"/>
                          <a:ea typeface="B Zar"/>
                          <a:cs typeface="B Zar"/>
                        </a:rPr>
                        <a:t>۳۹</a:t>
                      </a:r>
                    </a:p>
                  </a:txBody>
                  <a:tcPr marL="66675" marR="66675" marT="57150" marB="57150" anchor="ctr">
                    <a:solidFill>
                      <a:srgbClr val="F1F3F5"/>
                    </a:solidFill>
                  </a:tcPr>
                </a:tc>
                <a:tc>
                  <a:txBody>
                    <a:bodyPr/>
                    <a:lstStyle/>
                    <a:p>
                      <a:pPr algn="ctr" rtl="1"/>
                      <a:r>
                        <a:rPr lang="fa-IR" altLang="fa-IR" sz="2000" b="1" dirty="0">
                          <a:solidFill>
                            <a:srgbClr val="173E5A"/>
                          </a:solidFill>
                          <a:latin typeface="B Zar"/>
                          <a:ea typeface="B Zar"/>
                          <a:cs typeface="B Zar"/>
                        </a:rPr>
                        <a:t>اعتبارسنجی</a:t>
                      </a:r>
                    </a:p>
                  </a:txBody>
                  <a:tcPr marL="66675" marR="66675" marT="57150" marB="57150" anchor="ctr">
                    <a:solidFill>
                      <a:schemeClr val="accent4">
                        <a:lumMod val="20000"/>
                        <a:lumOff val="80000"/>
                      </a:schemeClr>
                    </a:solidFill>
                  </a:tcPr>
                </a:tc>
                <a:extLst>
                  <a:ext uri="{0D108BD9-81ED-4DB2-BD59-A6C34878D82A}">
                    <a16:rowId xmlns:a16="http://schemas.microsoft.com/office/drawing/2014/main" val="10002"/>
                  </a:ext>
                </a:extLst>
              </a:tr>
              <a:tr h="833438">
                <a:tc>
                  <a:txBody>
                    <a:bodyPr/>
                    <a:lstStyle/>
                    <a:p>
                      <a:pPr algn="ctr" rtl="1"/>
                      <a:r>
                        <a:rPr lang="fa-IR" altLang="fa-IR" sz="2000" dirty="0">
                          <a:solidFill>
                            <a:srgbClr val="17232C"/>
                          </a:solidFill>
                          <a:latin typeface="B Zar"/>
                          <a:ea typeface="B Zar"/>
                          <a:cs typeface="B Zar"/>
                        </a:rPr>
                        <a:t>۶٫۳</a:t>
                      </a:r>
                    </a:p>
                  </a:txBody>
                  <a:tcPr marL="66675" marR="66675" marT="57150" marB="57150" anchor="ctr">
                    <a:solidFill>
                      <a:srgbClr val="FFFFFF"/>
                    </a:solidFill>
                  </a:tcPr>
                </a:tc>
                <a:tc>
                  <a:txBody>
                    <a:bodyPr/>
                    <a:lstStyle/>
                    <a:p>
                      <a:pPr algn="ctr" rtl="1"/>
                      <a:r>
                        <a:rPr lang="fa-IR" altLang="fa-IR" sz="2000" dirty="0">
                          <a:solidFill>
                            <a:srgbClr val="17232C"/>
                          </a:solidFill>
                          <a:latin typeface="B Zar"/>
                          <a:ea typeface="B Zar"/>
                          <a:cs typeface="B Zar"/>
                        </a:rPr>
                        <a:t>۳۴٬۹۹۴</a:t>
                      </a:r>
                    </a:p>
                  </a:txBody>
                  <a:tcPr marL="66675" marR="66675" marT="57150" marB="57150" anchor="ctr">
                    <a:solidFill>
                      <a:srgbClr val="FFFFFF"/>
                    </a:solidFill>
                  </a:tcPr>
                </a:tc>
                <a:tc>
                  <a:txBody>
                    <a:bodyPr/>
                    <a:lstStyle/>
                    <a:p>
                      <a:pPr algn="ctr" rtl="0"/>
                      <a:r>
                        <a:rPr lang="ar-SA" sz="2000" smtClean="0">
                          <a:solidFill>
                            <a:schemeClr val="tx1"/>
                          </a:solidFill>
                          <a:effectLst/>
                          <a:latin typeface="+mn-lt"/>
                          <a:ea typeface="+mn-ea"/>
                          <a:cs typeface="B Zar" panose="00000400000000000000" pitchFamily="50" charset="-78"/>
                        </a:rPr>
                        <a:t>۱۵٪</a:t>
                      </a:r>
                      <a:endParaRPr lang="fa-IR" altLang="fa-IR" sz="2000" dirty="0">
                        <a:solidFill>
                          <a:srgbClr val="17232C"/>
                        </a:solidFill>
                        <a:latin typeface="B Zar"/>
                        <a:ea typeface="B Zar"/>
                        <a:cs typeface="B Zar" panose="00000400000000000000" pitchFamily="50" charset="-78"/>
                      </a:endParaRPr>
                    </a:p>
                  </a:txBody>
                  <a:tcPr marL="66675" marR="66675" marT="57150" marB="57150" anchor="ctr">
                    <a:solidFill>
                      <a:srgbClr val="FFFFFF"/>
                    </a:solidFill>
                  </a:tcPr>
                </a:tc>
                <a:tc>
                  <a:txBody>
                    <a:bodyPr/>
                    <a:lstStyle/>
                    <a:p>
                      <a:pPr algn="ctr" rtl="1"/>
                      <a:r>
                        <a:rPr lang="fa-IR" altLang="fa-IR" sz="2000" dirty="0">
                          <a:solidFill>
                            <a:srgbClr val="17232C"/>
                          </a:solidFill>
                          <a:latin typeface="B Zar"/>
                          <a:ea typeface="B Zar"/>
                          <a:cs typeface="B Zar"/>
                        </a:rPr>
                        <a:t>۵٬۵۷۱</a:t>
                      </a:r>
                    </a:p>
                  </a:txBody>
                  <a:tcPr marL="66675" marR="66675" marT="57150" marB="57150" anchor="ctr">
                    <a:solidFill>
                      <a:srgbClr val="FFFFFF"/>
                    </a:solidFill>
                  </a:tcPr>
                </a:tc>
                <a:tc>
                  <a:txBody>
                    <a:bodyPr/>
                    <a:lstStyle/>
                    <a:p>
                      <a:pPr algn="ctr" rtl="1"/>
                      <a:r>
                        <a:rPr lang="fa-IR" altLang="fa-IR" sz="2000" dirty="0">
                          <a:solidFill>
                            <a:srgbClr val="17232C"/>
                          </a:solidFill>
                          <a:latin typeface="B Zar"/>
                          <a:ea typeface="B Zar"/>
                          <a:cs typeface="B Zar"/>
                        </a:rPr>
                        <a:t>۴۲</a:t>
                      </a:r>
                    </a:p>
                  </a:txBody>
                  <a:tcPr marL="66675" marR="66675" marT="57150" marB="57150" anchor="ctr">
                    <a:solidFill>
                      <a:srgbClr val="FFFFFF"/>
                    </a:solidFill>
                  </a:tcPr>
                </a:tc>
                <a:tc>
                  <a:txBody>
                    <a:bodyPr/>
                    <a:lstStyle/>
                    <a:p>
                      <a:pPr algn="ctr" rtl="1"/>
                      <a:r>
                        <a:rPr lang="fa-IR" altLang="fa-IR" sz="2000" b="1" dirty="0">
                          <a:solidFill>
                            <a:srgbClr val="173E5A"/>
                          </a:solidFill>
                          <a:latin typeface="B Zar"/>
                          <a:ea typeface="B Zar"/>
                          <a:cs typeface="B Zar"/>
                        </a:rPr>
                        <a:t>آزمون</a:t>
                      </a:r>
                    </a:p>
                  </a:txBody>
                  <a:tcPr marL="66675" marR="66675" marT="57150" marB="57150" anchor="ctr">
                    <a:solidFill>
                      <a:schemeClr val="accent4">
                        <a:lumMod val="20000"/>
                        <a:lumOff val="80000"/>
                      </a:schemeClr>
                    </a:solidFill>
                  </a:tcPr>
                </a:tc>
                <a:extLst>
                  <a:ext uri="{0D108BD9-81ED-4DB2-BD59-A6C34878D82A}">
                    <a16:rowId xmlns:a16="http://schemas.microsoft.com/office/drawing/2014/main" val="10003"/>
                  </a:ext>
                </a:extLst>
              </a:tr>
            </a:tbl>
          </a:graphicData>
        </a:graphic>
      </p:graphicFrame>
      <p:sp>
        <p:nvSpPr>
          <p:cNvPr id="9" name="Rectangle 8">
            <a:extLst>
              <a:ext uri="{FF2B5EF4-FFF2-40B4-BE49-F238E27FC236}">
                <a16:creationId xmlns:a16="http://schemas.microsoft.com/office/drawing/2014/main" id="{E2B1A94D-C66E-40F8-9459-0C817636BC93}"/>
              </a:ext>
            </a:extLst>
          </p:cNvPr>
          <p:cNvSpPr>
            <a:spLocks noGrp="1"/>
          </p:cNvSpPr>
          <p:nvPr/>
        </p:nvSpPr>
        <p:spPr>
          <a:xfrm>
            <a:off x="8096250" y="5095875"/>
            <a:ext cx="2667000" cy="476250"/>
          </a:xfrm>
          <a:prstGeom prst="rect">
            <a:avLst/>
          </a:prstGeom>
          <a:noFill/>
          <a:ln w="0">
            <a:noFill/>
          </a:ln>
        </p:spPr>
        <p:txBody>
          <a:bodyPr lIns="57150" tIns="38100" rIns="57150" bIns="38100" anchor="ctr">
            <a:noAutofit/>
          </a:bodyPr>
          <a:lstStyle/>
          <a:p>
            <a:pPr algn="ctr" rtl="1">
              <a:defRPr sz="2800" b="1">
                <a:solidFill>
                  <a:srgbClr val="216BA5"/>
                </a:solidFill>
                <a:latin typeface="B Zar"/>
                <a:ea typeface="B Zar"/>
                <a:cs typeface="B Zar"/>
              </a:defRPr>
            </a:pPr>
            <a:r>
              <a:rPr lang="fa-IR" altLang="fa-IR" sz="2800" b="1" dirty="0">
                <a:solidFill>
                  <a:srgbClr val="216BA5"/>
                </a:solidFill>
                <a:latin typeface="B Zar"/>
                <a:ea typeface="B Zar"/>
                <a:cs typeface="B Zar"/>
              </a:rPr>
              <a:t>۳۷٬۱۴۲ تصویر</a:t>
            </a:r>
          </a:p>
        </p:txBody>
      </p:sp>
      <p:sp>
        <p:nvSpPr>
          <p:cNvPr id="10" name="Rectangle 9">
            <a:extLst>
              <a:ext uri="{FF2B5EF4-FFF2-40B4-BE49-F238E27FC236}">
                <a16:creationId xmlns:a16="http://schemas.microsoft.com/office/drawing/2014/main" id="{43E45FA7-DAD1-4657-A561-413F589CC8F7}"/>
              </a:ext>
            </a:extLst>
          </p:cNvPr>
          <p:cNvSpPr>
            <a:spLocks noGrp="1"/>
          </p:cNvSpPr>
          <p:nvPr/>
        </p:nvSpPr>
        <p:spPr>
          <a:xfrm>
            <a:off x="4762500" y="5095875"/>
            <a:ext cx="2667000" cy="476250"/>
          </a:xfrm>
          <a:prstGeom prst="rect">
            <a:avLst/>
          </a:prstGeom>
          <a:noFill/>
          <a:ln w="0">
            <a:noFill/>
          </a:ln>
        </p:spPr>
        <p:txBody>
          <a:bodyPr lIns="57150" tIns="38100" rIns="57150" bIns="38100" anchor="ctr">
            <a:noAutofit/>
          </a:bodyPr>
          <a:lstStyle/>
          <a:p>
            <a:pPr algn="ctr" rtl="1">
              <a:defRPr sz="2800" b="1">
                <a:solidFill>
                  <a:srgbClr val="25834A"/>
                </a:solidFill>
                <a:latin typeface="B Zar"/>
                <a:ea typeface="B Zar"/>
                <a:cs typeface="B Zar"/>
              </a:defRPr>
            </a:pPr>
            <a:r>
              <a:rPr lang="fa-IR" altLang="fa-IR" sz="2800" b="1" dirty="0">
                <a:solidFill>
                  <a:srgbClr val="25834A"/>
                </a:solidFill>
                <a:latin typeface="B Zar"/>
                <a:ea typeface="B Zar"/>
                <a:cs typeface="B Zar"/>
              </a:rPr>
              <a:t>۱۶۰ ویدیو</a:t>
            </a:r>
          </a:p>
        </p:txBody>
      </p:sp>
      <p:sp>
        <p:nvSpPr>
          <p:cNvPr id="11" name="Rectangle 10">
            <a:extLst>
              <a:ext uri="{FF2B5EF4-FFF2-40B4-BE49-F238E27FC236}">
                <a16:creationId xmlns:a16="http://schemas.microsoft.com/office/drawing/2014/main" id="{5F481A70-C365-4F00-8B92-08A405F24ABE}"/>
              </a:ext>
            </a:extLst>
          </p:cNvPr>
          <p:cNvSpPr>
            <a:spLocks noGrp="1"/>
          </p:cNvSpPr>
          <p:nvPr/>
        </p:nvSpPr>
        <p:spPr>
          <a:xfrm>
            <a:off x="1428750" y="5095875"/>
            <a:ext cx="2667000" cy="476250"/>
          </a:xfrm>
          <a:prstGeom prst="rect">
            <a:avLst/>
          </a:prstGeom>
          <a:noFill/>
          <a:ln w="0">
            <a:noFill/>
          </a:ln>
        </p:spPr>
        <p:txBody>
          <a:bodyPr lIns="57150" tIns="38100" rIns="57150" bIns="38100" anchor="ctr">
            <a:noAutofit/>
          </a:bodyPr>
          <a:lstStyle/>
          <a:p>
            <a:pPr algn="ctr" rtl="1">
              <a:defRPr sz="2800" b="1">
                <a:solidFill>
                  <a:srgbClr val="173E5A"/>
                </a:solidFill>
                <a:latin typeface="B Zar"/>
                <a:ea typeface="B Zar"/>
                <a:cs typeface="B Zar"/>
              </a:defRPr>
            </a:pPr>
            <a:r>
              <a:rPr lang="fa-IR" altLang="fa-IR" sz="2800" b="1" dirty="0">
                <a:solidFill>
                  <a:srgbClr val="173E5A"/>
                </a:solidFill>
                <a:latin typeface="B Zar"/>
                <a:ea typeface="B Zar"/>
                <a:cs typeface="B Zar"/>
              </a:rPr>
              <a:t>۲۷۵٬۸۱۳ نمونه</a:t>
            </a:r>
          </a:p>
        </p:txBody>
      </p:sp>
      <p:pic>
        <p:nvPicPr>
          <p:cNvPr id="15" name="Picture 14"/>
          <p:cNvPicPr>
            <a:picLocks noChangeAspect="1"/>
          </p:cNvPicPr>
          <p:nvPr/>
        </p:nvPicPr>
        <p:blipFill>
          <a:blip r:embed="rId3"/>
          <a:stretch/>
        </p:blipFill>
        <p:spPr>
          <a:xfrm>
            <a:off x="428984" y="187916"/>
            <a:ext cx="535979" cy="628650"/>
          </a:xfrm>
          <a:prstGeom prst="rect">
            <a:avLst/>
          </a:prstGeom>
        </p:spPr>
      </p:pic>
      <p:sp>
        <p:nvSpPr>
          <p:cNvPr id="17" name="Rectangle 16">
            <a:extLst>
              <a:ext uri="{FF2B5EF4-FFF2-40B4-BE49-F238E27FC236}">
                <a16:creationId xmlns:a16="http://schemas.microsoft.com/office/drawing/2014/main" id="{C4452ECC-0329-42FD-A992-5D81CCFFD581}"/>
              </a:ext>
            </a:extLst>
          </p:cNvPr>
          <p:cNvSpPr>
            <a:spLocks noGrp="1"/>
          </p:cNvSpPr>
          <p:nvPr/>
        </p:nvSpPr>
        <p:spPr>
          <a:xfrm>
            <a:off x="1754630" y="279232"/>
            <a:ext cx="10096500" cy="485775"/>
          </a:xfrm>
          <a:prstGeom prst="rect">
            <a:avLst/>
          </a:prstGeom>
          <a:noFill/>
          <a:ln w="0">
            <a:noFill/>
          </a:ln>
        </p:spPr>
        <p:txBody>
          <a:bodyPr lIns="57150" tIns="38100" rIns="57150" bIns="38100" anchor="ctr">
            <a:noAutofit/>
          </a:bodyPr>
          <a:lstStyle/>
          <a:p>
            <a:pPr algn="r" rtl="1">
              <a:defRPr sz="3100" b="1">
                <a:solidFill>
                  <a:srgbClr val="173E5A"/>
                </a:solidFill>
                <a:latin typeface="B Zar"/>
                <a:ea typeface="B Zar"/>
                <a:cs typeface="B Zar"/>
              </a:defRPr>
            </a:pPr>
            <a:r>
              <a:rPr lang="fa-IR" altLang="fa-IR" b="1" dirty="0">
                <a:solidFill>
                  <a:srgbClr val="173E5A"/>
                </a:solidFill>
                <a:latin typeface="B Zar"/>
                <a:ea typeface="B Zar"/>
                <a:cs typeface="B Zar"/>
              </a:rPr>
              <a:t>ساختار زیرمجموعه نهایی</a:t>
            </a:r>
          </a:p>
        </p:txBody>
      </p:sp>
    </p:spTree>
    <p:extLst>
      <p:ext uri="{BB962C8B-B14F-4D97-AF65-F5344CB8AC3E}">
        <p14:creationId xmlns:p14="http://schemas.microsoft.com/office/powerpoint/2010/main" val="190161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971F38A-EE70-4EEB-A67B-795AECFA865D}"/>
              </a:ext>
            </a:extLst>
          </p:cNvPr>
          <p:cNvSpPr>
            <a:spLocks noGrp="1"/>
          </p:cNvSpPr>
          <p:nvPr/>
        </p:nvSpPr>
        <p:spPr>
          <a:xfrm>
            <a:off x="1071562" y="733425"/>
            <a:ext cx="10096500" cy="485775"/>
          </a:xfrm>
          <a:prstGeom prst="rect">
            <a:avLst/>
          </a:prstGeom>
          <a:noFill/>
          <a:ln w="0">
            <a:noFill/>
          </a:ln>
        </p:spPr>
        <p:txBody>
          <a:bodyPr lIns="57150" tIns="38100" rIns="57150" bIns="38100" anchor="ctr">
            <a:noAutofit/>
          </a:bodyPr>
          <a:lstStyle/>
          <a:p>
            <a:pPr algn="r" rtl="1">
              <a:defRPr sz="3100" b="1">
                <a:solidFill>
                  <a:srgbClr val="173E5A"/>
                </a:solidFill>
                <a:latin typeface="B Zar"/>
                <a:ea typeface="B Zar"/>
                <a:cs typeface="B Zar"/>
              </a:defRPr>
            </a:pPr>
            <a:endParaRPr lang="fa-IR" altLang="fa-IR" sz="3100" b="1" dirty="0">
              <a:solidFill>
                <a:srgbClr val="173E5A"/>
              </a:solidFill>
              <a:latin typeface="B Zar"/>
              <a:ea typeface="B Zar"/>
              <a:cs typeface="B Zar"/>
            </a:endParaRPr>
          </a:p>
        </p:txBody>
      </p:sp>
      <p:sp>
        <p:nvSpPr>
          <p:cNvPr id="7" name="Rectangle 6">
            <a:extLst>
              <a:ext uri="{FF2B5EF4-FFF2-40B4-BE49-F238E27FC236}">
                <a16:creationId xmlns:a16="http://schemas.microsoft.com/office/drawing/2014/main" id="{AE045506-6997-4CDF-BDA1-F426B0106122}"/>
              </a:ext>
            </a:extLst>
          </p:cNvPr>
          <p:cNvSpPr>
            <a:spLocks noGrp="1"/>
          </p:cNvSpPr>
          <p:nvPr/>
        </p:nvSpPr>
        <p:spPr>
          <a:xfrm>
            <a:off x="171450" y="6496050"/>
            <a:ext cx="1762125" cy="238125"/>
          </a:xfrm>
          <a:prstGeom prst="rect">
            <a:avLst/>
          </a:prstGeom>
          <a:noFill/>
          <a:ln w="0">
            <a:noFill/>
          </a:ln>
        </p:spPr>
        <p:txBody>
          <a:bodyPr lIns="57150" tIns="38100" rIns="57150" bIns="38100" anchor="ctr">
            <a:noAutofit/>
          </a:bodyPr>
          <a:lstStyle/>
          <a:p>
            <a:pPr algn="r" rtl="1">
              <a:defRPr sz="1600" b="0">
                <a:solidFill>
                  <a:srgbClr val="52626E"/>
                </a:solidFill>
                <a:latin typeface="B Zar"/>
                <a:ea typeface="B Zar"/>
                <a:cs typeface="B Zar"/>
              </a:defRPr>
            </a:pPr>
            <a:r>
              <a:rPr lang="fa-IR" altLang="fa-IR" sz="1600" b="0" smtClean="0">
                <a:solidFill>
                  <a:srgbClr val="52626E"/>
                </a:solidFill>
                <a:latin typeface="B Zar"/>
                <a:ea typeface="B Zar"/>
                <a:cs typeface="B Zar"/>
              </a:rPr>
              <a:t>صفحه ۱۶ از ۳۱</a:t>
            </a:r>
            <a:endParaRPr lang="fa-IR" altLang="fa-IR" sz="1600" b="0">
              <a:solidFill>
                <a:srgbClr val="52626E"/>
              </a:solidFill>
              <a:latin typeface="B Zar"/>
              <a:ea typeface="B Zar"/>
              <a:cs typeface="B Zar"/>
            </a:endParaRPr>
          </a:p>
        </p:txBody>
      </p:sp>
      <p:graphicFrame>
        <p:nvGraphicFramePr>
          <p:cNvPr id="20" name="Table 19"/>
          <p:cNvGraphicFramePr/>
          <p:nvPr>
            <p:extLst>
              <p:ext uri="{D42A27DB-BD31-4B8C-83A1-F6EECF244321}">
                <p14:modId xmlns:p14="http://schemas.microsoft.com/office/powerpoint/2010/main" val="293868084"/>
              </p:ext>
            </p:extLst>
          </p:nvPr>
        </p:nvGraphicFramePr>
        <p:xfrm>
          <a:off x="523875" y="1190625"/>
          <a:ext cx="4762500" cy="4762503"/>
        </p:xfrm>
        <a:graphic>
          <a:graphicData uri="http://schemas.openxmlformats.org/drawingml/2006/table">
            <a:tbl>
              <a:tblPr/>
              <a:tblGrid>
                <a:gridCol w="20955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tblGrid>
              <a:tr h="529167">
                <a:tc>
                  <a:txBody>
                    <a:bodyPr/>
                    <a:lstStyle/>
                    <a:p>
                      <a:pPr algn="ctr" rtl="1"/>
                      <a:r>
                        <a:rPr lang="fa-IR" altLang="fa-IR" sz="1900" b="1">
                          <a:solidFill>
                            <a:srgbClr val="FFFFFF"/>
                          </a:solidFill>
                          <a:latin typeface="B Zar"/>
                          <a:ea typeface="B Zar"/>
                          <a:cs typeface="B Zar"/>
                        </a:rPr>
                        <a:t>مقدار</a:t>
                      </a:r>
                    </a:p>
                  </a:txBody>
                  <a:tcPr marL="66675" marR="66675" marT="57150" marB="57150" anchor="ctr">
                    <a:solidFill>
                      <a:srgbClr val="173E5A"/>
                    </a:solidFill>
                  </a:tcPr>
                </a:tc>
                <a:tc>
                  <a:txBody>
                    <a:bodyPr/>
                    <a:lstStyle/>
                    <a:p>
                      <a:pPr algn="ctr" rtl="1"/>
                      <a:r>
                        <a:rPr lang="fa-IR" altLang="fa-IR" sz="1900" b="1">
                          <a:solidFill>
                            <a:srgbClr val="FFFFFF"/>
                          </a:solidFill>
                          <a:latin typeface="B Zar"/>
                          <a:ea typeface="B Zar"/>
                          <a:cs typeface="B Zar"/>
                        </a:rPr>
                        <a:t>پارامتر</a:t>
                      </a:r>
                    </a:p>
                  </a:txBody>
                  <a:tcPr marL="66675" marR="66675" marT="57150" marB="57150" anchor="ctr">
                    <a:solidFill>
                      <a:srgbClr val="173E5A"/>
                    </a:solidFill>
                  </a:tcPr>
                </a:tc>
                <a:extLst>
                  <a:ext uri="{0D108BD9-81ED-4DB2-BD59-A6C34878D82A}">
                    <a16:rowId xmlns:a16="http://schemas.microsoft.com/office/drawing/2014/main" val="10000"/>
                  </a:ext>
                </a:extLst>
              </a:tr>
              <a:tr h="529167">
                <a:tc>
                  <a:txBody>
                    <a:bodyPr/>
                    <a:lstStyle/>
                    <a:p>
                      <a:pPr algn="ctr"/>
                      <a:r>
                        <a:rPr lang="fa-IR" altLang="fa-IR" sz="1800" dirty="0" smtClean="0">
                          <a:solidFill>
                            <a:srgbClr val="17232C"/>
                          </a:solidFill>
                          <a:latin typeface="Times New Roman"/>
                          <a:ea typeface="Times New Roman"/>
                          <a:cs typeface="Times New Roman"/>
                        </a:rPr>
                        <a:t>ویدیو</a:t>
                      </a:r>
                      <a:endParaRPr lang="en-US" altLang="fa-IR" sz="1800" dirty="0">
                        <a:solidFill>
                          <a:srgbClr val="17232C"/>
                        </a:solidFill>
                        <a:latin typeface="Times New Roman"/>
                        <a:ea typeface="Times New Roman"/>
                        <a:cs typeface="Times New Roman"/>
                      </a:endParaRPr>
                    </a:p>
                  </a:txBody>
                  <a:tcPr marL="66675" marR="66675" marT="57150" marB="57150" anchor="ctr">
                    <a:solidFill>
                      <a:srgbClr val="FFFFFF"/>
                    </a:solidFill>
                  </a:tcPr>
                </a:tc>
                <a:tc>
                  <a:txBody>
                    <a:bodyPr/>
                    <a:lstStyle/>
                    <a:p>
                      <a:pPr algn="ctr" rtl="1"/>
                      <a:r>
                        <a:rPr lang="fa-IR" altLang="fa-IR" sz="1900" b="1" smtClean="0">
                          <a:solidFill>
                            <a:srgbClr val="173E5A"/>
                          </a:solidFill>
                          <a:latin typeface="B Zar"/>
                          <a:ea typeface="B Zar"/>
                          <a:cs typeface="B Zar"/>
                        </a:rPr>
                        <a:t>واحد تقسیم</a:t>
                      </a:r>
                      <a:endParaRPr lang="fa-IR" altLang="fa-IR" sz="1900" b="1">
                        <a:solidFill>
                          <a:srgbClr val="173E5A"/>
                        </a:solidFill>
                        <a:latin typeface="B Zar"/>
                        <a:ea typeface="B Zar"/>
                        <a:cs typeface="B Zar"/>
                      </a:endParaRPr>
                    </a:p>
                  </a:txBody>
                  <a:tcPr marL="66675" marR="66675" marT="57150" marB="57150" anchor="ctr">
                    <a:solidFill>
                      <a:srgbClr val="E7F0F7"/>
                    </a:solidFill>
                  </a:tcPr>
                </a:tc>
                <a:extLst>
                  <a:ext uri="{0D108BD9-81ED-4DB2-BD59-A6C34878D82A}">
                    <a16:rowId xmlns:a16="http://schemas.microsoft.com/office/drawing/2014/main" val="10001"/>
                  </a:ext>
                </a:extLst>
              </a:tr>
              <a:tr h="529167">
                <a:tc>
                  <a:txBody>
                    <a:bodyPr/>
                    <a:lstStyle/>
                    <a:p>
                      <a:pPr algn="ctr" rtl="1"/>
                      <a:r>
                        <a:rPr lang="fa-IR" altLang="fa-IR" sz="1700" smtClean="0">
                          <a:solidFill>
                            <a:srgbClr val="17232C"/>
                          </a:solidFill>
                          <a:latin typeface="B Zar"/>
                          <a:ea typeface="B Zar"/>
                          <a:cs typeface="B Zar"/>
                        </a:rPr>
                        <a:t>۷۰، ۱۵، ۱۵ درصد</a:t>
                      </a:r>
                      <a:endParaRPr lang="fa-IR" altLang="fa-IR" sz="1700">
                        <a:solidFill>
                          <a:srgbClr val="17232C"/>
                        </a:solidFill>
                        <a:latin typeface="B Zar"/>
                        <a:ea typeface="B Zar"/>
                        <a:cs typeface="B Zar"/>
                      </a:endParaRPr>
                    </a:p>
                  </a:txBody>
                  <a:tcPr marL="66675" marR="66675" marT="57150" marB="57150" anchor="ctr">
                    <a:solidFill>
                      <a:srgbClr val="F1F3F5"/>
                    </a:solidFill>
                  </a:tcPr>
                </a:tc>
                <a:tc>
                  <a:txBody>
                    <a:bodyPr/>
                    <a:lstStyle/>
                    <a:p>
                      <a:pPr algn="ctr" rtl="1"/>
                      <a:r>
                        <a:rPr lang="fa-IR" altLang="fa-IR" sz="1900" b="1" smtClean="0">
                          <a:solidFill>
                            <a:srgbClr val="173E5A"/>
                          </a:solidFill>
                          <a:latin typeface="B Zar"/>
                          <a:ea typeface="B Zar"/>
                          <a:cs typeface="B Zar"/>
                        </a:rPr>
                        <a:t>سهم هدف تصاویر</a:t>
                      </a:r>
                      <a:endParaRPr lang="fa-IR" altLang="fa-IR" sz="1900" b="1">
                        <a:solidFill>
                          <a:srgbClr val="173E5A"/>
                        </a:solidFill>
                        <a:latin typeface="B Zar"/>
                        <a:ea typeface="B Zar"/>
                        <a:cs typeface="B Zar"/>
                      </a:endParaRPr>
                    </a:p>
                  </a:txBody>
                  <a:tcPr marL="66675" marR="66675" marT="57150" marB="57150" anchor="ctr">
                    <a:solidFill>
                      <a:srgbClr val="E7F0F7"/>
                    </a:solidFill>
                  </a:tcPr>
                </a:tc>
                <a:extLst>
                  <a:ext uri="{0D108BD9-81ED-4DB2-BD59-A6C34878D82A}">
                    <a16:rowId xmlns:a16="http://schemas.microsoft.com/office/drawing/2014/main" val="10002"/>
                  </a:ext>
                </a:extLst>
              </a:tr>
              <a:tr h="529167">
                <a:tc>
                  <a:txBody>
                    <a:bodyPr/>
                    <a:lstStyle/>
                    <a:p>
                      <a:pPr algn="ctr" rtl="1"/>
                      <a:r>
                        <a:rPr lang="fa-IR" altLang="fa-IR" sz="1900" smtClean="0">
                          <a:solidFill>
                            <a:srgbClr val="17232C"/>
                          </a:solidFill>
                          <a:latin typeface="B Zar"/>
                          <a:ea typeface="B Zar"/>
                          <a:cs typeface="B Zar"/>
                        </a:rPr>
                        <a:t>۸۰</a:t>
                      </a:r>
                      <a:endParaRPr lang="fa-IR" altLang="fa-IR" sz="1900">
                        <a:solidFill>
                          <a:srgbClr val="17232C"/>
                        </a:solidFill>
                        <a:latin typeface="B Zar"/>
                        <a:ea typeface="B Zar"/>
                        <a:cs typeface="B Zar"/>
                      </a:endParaRPr>
                    </a:p>
                  </a:txBody>
                  <a:tcPr marL="66675" marR="66675" marT="57150" marB="57150" anchor="ctr">
                    <a:solidFill>
                      <a:srgbClr val="FFFFFF"/>
                    </a:solidFill>
                  </a:tcPr>
                </a:tc>
                <a:tc>
                  <a:txBody>
                    <a:bodyPr/>
                    <a:lstStyle/>
                    <a:p>
                      <a:pPr algn="ctr" rtl="1"/>
                      <a:r>
                        <a:rPr lang="fa-IR" altLang="fa-IR" sz="1900" b="1" smtClean="0">
                          <a:solidFill>
                            <a:srgbClr val="173E5A"/>
                          </a:solidFill>
                          <a:latin typeface="B Zar"/>
                          <a:ea typeface="B Zar"/>
                          <a:cs typeface="B Zar"/>
                        </a:rPr>
                        <a:t>بذر تقسیم</a:t>
                      </a:r>
                      <a:endParaRPr lang="fa-IR" altLang="fa-IR" sz="1900" b="1">
                        <a:solidFill>
                          <a:srgbClr val="173E5A"/>
                        </a:solidFill>
                        <a:latin typeface="B Zar"/>
                        <a:ea typeface="B Zar"/>
                        <a:cs typeface="B Zar"/>
                      </a:endParaRPr>
                    </a:p>
                  </a:txBody>
                  <a:tcPr marL="66675" marR="66675" marT="57150" marB="57150" anchor="ctr">
                    <a:solidFill>
                      <a:srgbClr val="E7F0F7"/>
                    </a:solidFill>
                  </a:tcPr>
                </a:tc>
                <a:extLst>
                  <a:ext uri="{0D108BD9-81ED-4DB2-BD59-A6C34878D82A}">
                    <a16:rowId xmlns:a16="http://schemas.microsoft.com/office/drawing/2014/main" val="10003"/>
                  </a:ext>
                </a:extLst>
              </a:tr>
              <a:tr h="529167">
                <a:tc>
                  <a:txBody>
                    <a:bodyPr/>
                    <a:lstStyle/>
                    <a:p>
                      <a:pPr algn="ctr"/>
                      <a:r>
                        <a:rPr lang="fa-IR" altLang="fa-IR" sz="1800" smtClean="0">
                          <a:solidFill>
                            <a:srgbClr val="17232C"/>
                          </a:solidFill>
                          <a:latin typeface="Times New Roman"/>
                          <a:ea typeface="Times New Roman"/>
                          <a:cs typeface="Times New Roman"/>
                        </a:rPr>
                        <a:t>۲، ۳، ۵</a:t>
                      </a:r>
                      <a:endParaRPr lang="en-US" altLang="fa-IR" sz="1800">
                        <a:solidFill>
                          <a:srgbClr val="17232C"/>
                        </a:solidFill>
                        <a:latin typeface="Times New Roman"/>
                        <a:ea typeface="Times New Roman"/>
                        <a:cs typeface="Times New Roman"/>
                      </a:endParaRPr>
                    </a:p>
                  </a:txBody>
                  <a:tcPr marL="66675" marR="66675" marT="57150" marB="57150" anchor="ctr">
                    <a:solidFill>
                      <a:srgbClr val="F1F3F5"/>
                    </a:solidFill>
                  </a:tcPr>
                </a:tc>
                <a:tc>
                  <a:txBody>
                    <a:bodyPr/>
                    <a:lstStyle/>
                    <a:p>
                      <a:pPr algn="ctr" rtl="1"/>
                      <a:r>
                        <a:rPr lang="fa-IR" altLang="fa-IR" sz="1900" b="1" smtClean="0">
                          <a:solidFill>
                            <a:srgbClr val="173E5A"/>
                          </a:solidFill>
                          <a:latin typeface="B Zar"/>
                          <a:ea typeface="B Zar"/>
                          <a:cs typeface="B Zar"/>
                        </a:rPr>
                        <a:t>رده‌های کم‌نمونه</a:t>
                      </a:r>
                      <a:endParaRPr lang="fa-IR" altLang="fa-IR" sz="1900" b="1">
                        <a:solidFill>
                          <a:srgbClr val="173E5A"/>
                        </a:solidFill>
                        <a:latin typeface="B Zar"/>
                        <a:ea typeface="B Zar"/>
                        <a:cs typeface="B Zar"/>
                      </a:endParaRPr>
                    </a:p>
                  </a:txBody>
                  <a:tcPr marL="66675" marR="66675" marT="57150" marB="57150" anchor="ctr">
                    <a:solidFill>
                      <a:srgbClr val="E7F0F7"/>
                    </a:solidFill>
                  </a:tcPr>
                </a:tc>
                <a:extLst>
                  <a:ext uri="{0D108BD9-81ED-4DB2-BD59-A6C34878D82A}">
                    <a16:rowId xmlns:a16="http://schemas.microsoft.com/office/drawing/2014/main" val="10004"/>
                  </a:ext>
                </a:extLst>
              </a:tr>
              <a:tr h="529167">
                <a:tc>
                  <a:txBody>
                    <a:bodyPr/>
                    <a:lstStyle/>
                    <a:p>
                      <a:pPr algn="ctr" rtl="1"/>
                      <a:r>
                        <a:rPr lang="fa-IR" altLang="fa-IR" sz="1600" smtClean="0">
                          <a:solidFill>
                            <a:srgbClr val="17232C"/>
                          </a:solidFill>
                          <a:latin typeface="B Zar"/>
                          <a:ea typeface="B Zar"/>
                          <a:cs typeface="B Zar"/>
                        </a:rPr>
                        <a:t>شمار اشیای رده‌های ۲، ۳ و ۵</a:t>
                      </a:r>
                      <a:endParaRPr lang="fa-IR" altLang="fa-IR" sz="1600">
                        <a:solidFill>
                          <a:srgbClr val="17232C"/>
                        </a:solidFill>
                        <a:latin typeface="B Zar"/>
                        <a:ea typeface="B Zar"/>
                        <a:cs typeface="B Zar"/>
                      </a:endParaRPr>
                    </a:p>
                  </a:txBody>
                  <a:tcPr marL="66675" marR="66675" marT="57150" marB="57150" anchor="ctr">
                    <a:solidFill>
                      <a:srgbClr val="FFFFFF"/>
                    </a:solidFill>
                  </a:tcPr>
                </a:tc>
                <a:tc>
                  <a:txBody>
                    <a:bodyPr/>
                    <a:lstStyle/>
                    <a:p>
                      <a:pPr algn="ctr" rtl="1"/>
                      <a:r>
                        <a:rPr lang="fa-IR" altLang="fa-IR" sz="1900" b="1" smtClean="0">
                          <a:solidFill>
                            <a:srgbClr val="173E5A"/>
                          </a:solidFill>
                          <a:latin typeface="B Zar"/>
                          <a:ea typeface="B Zar"/>
                          <a:cs typeface="B Zar"/>
                        </a:rPr>
                        <a:t>معیار اولویت</a:t>
                      </a:r>
                      <a:endParaRPr lang="fa-IR" altLang="fa-IR" sz="1900" b="1">
                        <a:solidFill>
                          <a:srgbClr val="173E5A"/>
                        </a:solidFill>
                        <a:latin typeface="B Zar"/>
                        <a:ea typeface="B Zar"/>
                        <a:cs typeface="B Zar"/>
                      </a:endParaRPr>
                    </a:p>
                  </a:txBody>
                  <a:tcPr marL="66675" marR="66675" marT="57150" marB="57150" anchor="ctr">
                    <a:solidFill>
                      <a:srgbClr val="E7F0F7"/>
                    </a:solidFill>
                  </a:tcPr>
                </a:tc>
                <a:extLst>
                  <a:ext uri="{0D108BD9-81ED-4DB2-BD59-A6C34878D82A}">
                    <a16:rowId xmlns:a16="http://schemas.microsoft.com/office/drawing/2014/main" val="10005"/>
                  </a:ext>
                </a:extLst>
              </a:tr>
              <a:tr h="529167">
                <a:tc>
                  <a:txBody>
                    <a:bodyPr/>
                    <a:lstStyle/>
                    <a:p>
                      <a:pPr algn="ctr" rtl="1"/>
                      <a:r>
                        <a:rPr lang="fa-IR" altLang="fa-IR" sz="1900" smtClean="0">
                          <a:solidFill>
                            <a:srgbClr val="17232C"/>
                          </a:solidFill>
                          <a:latin typeface="B Zar"/>
                          <a:ea typeface="B Zar"/>
                          <a:cs typeface="B Zar"/>
                        </a:rPr>
                        <a:t>۲۶٬۰۰۰ تصویر</a:t>
                      </a:r>
                      <a:endParaRPr lang="fa-IR" altLang="fa-IR" sz="1900">
                        <a:solidFill>
                          <a:srgbClr val="17232C"/>
                        </a:solidFill>
                        <a:latin typeface="B Zar"/>
                        <a:ea typeface="B Zar"/>
                        <a:cs typeface="B Zar"/>
                      </a:endParaRPr>
                    </a:p>
                  </a:txBody>
                  <a:tcPr marL="66675" marR="66675" marT="57150" marB="57150" anchor="ctr">
                    <a:solidFill>
                      <a:srgbClr val="F1F3F5"/>
                    </a:solidFill>
                  </a:tcPr>
                </a:tc>
                <a:tc>
                  <a:txBody>
                    <a:bodyPr/>
                    <a:lstStyle/>
                    <a:p>
                      <a:pPr algn="ctr" rtl="1"/>
                      <a:r>
                        <a:rPr lang="fa-IR" altLang="fa-IR" sz="1900" b="1" dirty="0" smtClean="0">
                          <a:solidFill>
                            <a:srgbClr val="173E5A"/>
                          </a:solidFill>
                          <a:latin typeface="B Zar"/>
                          <a:ea typeface="B Zar"/>
                          <a:cs typeface="B Zar"/>
                        </a:rPr>
                        <a:t>حجم آموزش</a:t>
                      </a:r>
                      <a:endParaRPr lang="fa-IR" altLang="fa-IR" sz="1900" b="1" dirty="0">
                        <a:solidFill>
                          <a:srgbClr val="173E5A"/>
                        </a:solidFill>
                        <a:latin typeface="B Zar"/>
                        <a:ea typeface="B Zar"/>
                        <a:cs typeface="B Zar"/>
                      </a:endParaRPr>
                    </a:p>
                  </a:txBody>
                  <a:tcPr marL="66675" marR="66675" marT="57150" marB="57150" anchor="ctr">
                    <a:solidFill>
                      <a:srgbClr val="E7F0F7"/>
                    </a:solidFill>
                  </a:tcPr>
                </a:tc>
                <a:extLst>
                  <a:ext uri="{0D108BD9-81ED-4DB2-BD59-A6C34878D82A}">
                    <a16:rowId xmlns:a16="http://schemas.microsoft.com/office/drawing/2014/main" val="10006"/>
                  </a:ext>
                </a:extLst>
              </a:tr>
              <a:tr h="529167">
                <a:tc>
                  <a:txBody>
                    <a:bodyPr/>
                    <a:lstStyle/>
                    <a:p>
                      <a:pPr algn="ctr" rtl="1"/>
                      <a:r>
                        <a:rPr lang="fa-IR" altLang="fa-IR" sz="1900" smtClean="0">
                          <a:solidFill>
                            <a:srgbClr val="17232C"/>
                          </a:solidFill>
                          <a:latin typeface="B Zar"/>
                          <a:ea typeface="B Zar"/>
                          <a:cs typeface="B Zar"/>
                        </a:rPr>
                        <a:t>۵٬۵۷۱ تصویر</a:t>
                      </a:r>
                      <a:endParaRPr lang="fa-IR" altLang="fa-IR" sz="1900">
                        <a:solidFill>
                          <a:srgbClr val="17232C"/>
                        </a:solidFill>
                        <a:latin typeface="B Zar"/>
                        <a:ea typeface="B Zar"/>
                        <a:cs typeface="B Zar"/>
                      </a:endParaRPr>
                    </a:p>
                  </a:txBody>
                  <a:tcPr marL="66675" marR="66675" marT="57150" marB="57150" anchor="ctr">
                    <a:solidFill>
                      <a:srgbClr val="FFFFFF"/>
                    </a:solidFill>
                  </a:tcPr>
                </a:tc>
                <a:tc>
                  <a:txBody>
                    <a:bodyPr/>
                    <a:lstStyle/>
                    <a:p>
                      <a:pPr algn="ctr" rtl="1"/>
                      <a:r>
                        <a:rPr lang="fa-IR" altLang="fa-IR" sz="1900" b="1" dirty="0" smtClean="0">
                          <a:solidFill>
                            <a:srgbClr val="173E5A"/>
                          </a:solidFill>
                          <a:latin typeface="B Zar"/>
                          <a:ea typeface="B Zar"/>
                          <a:cs typeface="B Zar"/>
                        </a:rPr>
                        <a:t>حجم هر بخش ارزیابی</a:t>
                      </a:r>
                      <a:endParaRPr lang="fa-IR" altLang="fa-IR" sz="1900" b="1" dirty="0">
                        <a:solidFill>
                          <a:srgbClr val="173E5A"/>
                        </a:solidFill>
                        <a:latin typeface="B Zar"/>
                        <a:ea typeface="B Zar"/>
                        <a:cs typeface="B Zar"/>
                      </a:endParaRPr>
                    </a:p>
                  </a:txBody>
                  <a:tcPr marL="66675" marR="66675" marT="57150" marB="57150" anchor="ctr">
                    <a:solidFill>
                      <a:srgbClr val="E7F0F7"/>
                    </a:solidFill>
                  </a:tcPr>
                </a:tc>
                <a:extLst>
                  <a:ext uri="{0D108BD9-81ED-4DB2-BD59-A6C34878D82A}">
                    <a16:rowId xmlns:a16="http://schemas.microsoft.com/office/drawing/2014/main" val="10007"/>
                  </a:ext>
                </a:extLst>
              </a:tr>
              <a:tr h="529167">
                <a:tc>
                  <a:txBody>
                    <a:bodyPr/>
                    <a:lstStyle/>
                    <a:p>
                      <a:pPr algn="ctr" rtl="1"/>
                      <a:r>
                        <a:rPr lang="fa-IR" altLang="fa-IR" sz="1700" smtClean="0">
                          <a:solidFill>
                            <a:srgbClr val="17232C"/>
                          </a:solidFill>
                          <a:latin typeface="B Zar"/>
                          <a:ea typeface="B Zar"/>
                          <a:cs typeface="B Zar"/>
                        </a:rPr>
                        <a:t>روز، شب، باران، ابری</a:t>
                      </a:r>
                      <a:endParaRPr lang="fa-IR" altLang="fa-IR" sz="1700">
                        <a:solidFill>
                          <a:srgbClr val="17232C"/>
                        </a:solidFill>
                        <a:latin typeface="B Zar"/>
                        <a:ea typeface="B Zar"/>
                        <a:cs typeface="B Zar"/>
                      </a:endParaRPr>
                    </a:p>
                  </a:txBody>
                  <a:tcPr marL="66675" marR="66675" marT="57150" marB="57150" anchor="ctr">
                    <a:solidFill>
                      <a:srgbClr val="F1F3F5"/>
                    </a:solidFill>
                  </a:tcPr>
                </a:tc>
                <a:tc>
                  <a:txBody>
                    <a:bodyPr/>
                    <a:lstStyle/>
                    <a:p>
                      <a:pPr algn="ctr" rtl="1"/>
                      <a:r>
                        <a:rPr lang="fa-IR" altLang="fa-IR" sz="1900" b="1" dirty="0" smtClean="0">
                          <a:solidFill>
                            <a:srgbClr val="173E5A"/>
                          </a:solidFill>
                          <a:latin typeface="B Zar"/>
                          <a:ea typeface="B Zar"/>
                          <a:cs typeface="B Zar"/>
                        </a:rPr>
                        <a:t>گروه‌بندی محیطی</a:t>
                      </a:r>
                      <a:endParaRPr lang="fa-IR" altLang="fa-IR" sz="1900" b="1" dirty="0">
                        <a:solidFill>
                          <a:srgbClr val="173E5A"/>
                        </a:solidFill>
                        <a:latin typeface="B Zar"/>
                        <a:ea typeface="B Zar"/>
                        <a:cs typeface="B Zar"/>
                      </a:endParaRPr>
                    </a:p>
                  </a:txBody>
                  <a:tcPr marL="66675" marR="66675" marT="57150" marB="57150" anchor="ctr">
                    <a:solidFill>
                      <a:srgbClr val="E7F0F7"/>
                    </a:solidFill>
                  </a:tcPr>
                </a:tc>
                <a:extLst>
                  <a:ext uri="{0D108BD9-81ED-4DB2-BD59-A6C34878D82A}">
                    <a16:rowId xmlns:a16="http://schemas.microsoft.com/office/drawing/2014/main" val="10008"/>
                  </a:ext>
                </a:extLst>
              </a:tr>
            </a:tbl>
          </a:graphicData>
        </a:graphic>
      </p:graphicFrame>
      <p:sp>
        <p:nvSpPr>
          <p:cNvPr id="9" name="Rounded Rectangle 8">
            <a:extLst>
              <a:ext uri="{FF2B5EF4-FFF2-40B4-BE49-F238E27FC236}">
                <a16:creationId xmlns:a16="http://schemas.microsoft.com/office/drawing/2014/main" id="{1140F6A7-45D5-47C8-91C7-7F2BB3C6065E}"/>
              </a:ext>
            </a:extLst>
          </p:cNvPr>
          <p:cNvSpPr>
            <a:spLocks noGrp="1"/>
          </p:cNvSpPr>
          <p:nvPr/>
        </p:nvSpPr>
        <p:spPr>
          <a:xfrm>
            <a:off x="5699346" y="1179013"/>
            <a:ext cx="5810250" cy="3002341"/>
          </a:xfrm>
          <a:prstGeom prst="roundRect">
            <a:avLst>
              <a:gd name="adj" fmla="val 2667"/>
            </a:avLst>
          </a:prstGeom>
          <a:solidFill>
            <a:srgbClr val="F1F3F5"/>
          </a:solidFill>
          <a:ln w="11430">
            <a:solidFill>
              <a:srgbClr val="9BACB8"/>
            </a:solidFill>
          </a:ln>
        </p:spPr>
        <p:txBody>
          <a:bodyPr/>
          <a:lstStyle/>
          <a:p>
            <a:endParaRPr/>
          </a:p>
        </p:txBody>
      </p:sp>
      <p:sp>
        <p:nvSpPr>
          <p:cNvPr id="10" name="Rectangle 9">
            <a:extLst>
              <a:ext uri="{FF2B5EF4-FFF2-40B4-BE49-F238E27FC236}">
                <a16:creationId xmlns:a16="http://schemas.microsoft.com/office/drawing/2014/main" id="{06884730-1C0F-4A13-83FE-05241201F8E3}"/>
              </a:ext>
            </a:extLst>
          </p:cNvPr>
          <p:cNvSpPr>
            <a:spLocks noGrp="1"/>
          </p:cNvSpPr>
          <p:nvPr/>
        </p:nvSpPr>
        <p:spPr>
          <a:xfrm>
            <a:off x="6035792" y="1732815"/>
            <a:ext cx="5381625" cy="2428875"/>
          </a:xfrm>
          <a:prstGeom prst="rect">
            <a:avLst/>
          </a:prstGeom>
          <a:noFill/>
          <a:ln w="0">
            <a:noFill/>
          </a:ln>
        </p:spPr>
        <p:txBody>
          <a:bodyPr lIns="38100" tIns="28575" rIns="38100" bIns="28575" anchor="t">
            <a:noAutofit/>
          </a:bodyPr>
          <a:lstStyle/>
          <a:p>
            <a:pPr>
              <a:lnSpc>
                <a:spcPct val="150000"/>
              </a:lnSpc>
              <a:defRPr sz="1900" b="0">
                <a:solidFill>
                  <a:srgbClr val="243642"/>
                </a:solidFill>
                <a:latin typeface="Times New Roman"/>
                <a:ea typeface="Times New Roman"/>
                <a:cs typeface="Times New Roman"/>
              </a:defRPr>
            </a:pPr>
            <a:r>
              <a:rPr lang="en-US" altLang="fa-IR" sz="2000" b="0" dirty="0" smtClean="0">
                <a:solidFill>
                  <a:srgbClr val="243642"/>
                </a:solidFill>
                <a:latin typeface="Times New Roman" panose="02020603050405020304" pitchFamily="18" charset="0"/>
                <a:ea typeface="Times New Roman"/>
                <a:cs typeface="Times New Roman"/>
              </a:rPr>
              <a:t>if </a:t>
            </a:r>
            <a:r>
              <a:rPr lang="en-US" altLang="fa-IR" sz="2000" b="0" dirty="0" err="1" smtClean="0">
                <a:solidFill>
                  <a:srgbClr val="243642"/>
                </a:solidFill>
                <a:latin typeface="Times New Roman" panose="02020603050405020304" pitchFamily="18" charset="0"/>
                <a:ea typeface="Times New Roman"/>
                <a:cs typeface="Times New Roman"/>
              </a:rPr>
              <a:t>rare_score</a:t>
            </a:r>
            <a:r>
              <a:rPr lang="en-US" altLang="fa-IR" sz="2000" b="0" dirty="0" smtClean="0">
                <a:solidFill>
                  <a:srgbClr val="243642"/>
                </a:solidFill>
                <a:latin typeface="Times New Roman" panose="02020603050405020304" pitchFamily="18" charset="0"/>
                <a:ea typeface="Times New Roman"/>
                <a:cs typeface="Times New Roman"/>
              </a:rPr>
              <a:t>(r) &gt; 0:
    s = max(FRAC, key=lambda s: </a:t>
            </a:r>
            <a:r>
              <a:rPr lang="en-US" altLang="fa-IR" sz="2000" b="0" dirty="0" err="1" smtClean="0">
                <a:solidFill>
                  <a:srgbClr val="243642"/>
                </a:solidFill>
                <a:latin typeface="Times New Roman" panose="02020603050405020304" pitchFamily="18" charset="0"/>
                <a:ea typeface="Times New Roman"/>
                <a:cs typeface="Times New Roman"/>
              </a:rPr>
              <a:t>rt</a:t>
            </a:r>
            <a:r>
              <a:rPr lang="en-US" altLang="fa-IR" sz="2000" b="0" dirty="0" smtClean="0">
                <a:solidFill>
                  <a:srgbClr val="243642"/>
                </a:solidFill>
                <a:latin typeface="Times New Roman" panose="02020603050405020304" pitchFamily="18" charset="0"/>
                <a:ea typeface="Times New Roman"/>
                <a:cs typeface="Times New Roman"/>
              </a:rPr>
              <a:t>[s]-</a:t>
            </a:r>
            <a:r>
              <a:rPr lang="en-US" altLang="fa-IR" sz="2000" b="0" dirty="0" err="1" smtClean="0">
                <a:solidFill>
                  <a:srgbClr val="243642"/>
                </a:solidFill>
                <a:latin typeface="Times New Roman" panose="02020603050405020304" pitchFamily="18" charset="0"/>
                <a:ea typeface="Times New Roman"/>
                <a:cs typeface="Times New Roman"/>
              </a:rPr>
              <a:t>sr</a:t>
            </a:r>
            <a:r>
              <a:rPr lang="en-US" altLang="fa-IR" sz="2000" b="0" dirty="0" smtClean="0">
                <a:solidFill>
                  <a:srgbClr val="243642"/>
                </a:solidFill>
                <a:latin typeface="Times New Roman" panose="02020603050405020304" pitchFamily="18" charset="0"/>
                <a:ea typeface="Times New Roman"/>
                <a:cs typeface="Times New Roman"/>
              </a:rPr>
              <a:t>[s])
else:
    s = max(FRAC, key=lambda s: </a:t>
            </a:r>
            <a:r>
              <a:rPr lang="en-US" altLang="fa-IR" sz="2000" b="0" dirty="0" err="1" smtClean="0">
                <a:solidFill>
                  <a:srgbClr val="243642"/>
                </a:solidFill>
                <a:latin typeface="Times New Roman" panose="02020603050405020304" pitchFamily="18" charset="0"/>
                <a:ea typeface="Times New Roman"/>
                <a:cs typeface="Times New Roman"/>
              </a:rPr>
              <a:t>ft</a:t>
            </a:r>
            <a:r>
              <a:rPr lang="en-US" altLang="fa-IR" sz="2000" b="0" dirty="0" smtClean="0">
                <a:solidFill>
                  <a:srgbClr val="243642"/>
                </a:solidFill>
                <a:latin typeface="Times New Roman" panose="02020603050405020304" pitchFamily="18" charset="0"/>
                <a:ea typeface="Times New Roman"/>
                <a:cs typeface="Times New Roman"/>
              </a:rPr>
              <a:t>[s]-sf[s])
assign[r] = s</a:t>
            </a:r>
            <a:endParaRPr lang="en-US" altLang="fa-IR" sz="2000" b="0" dirty="0">
              <a:solidFill>
                <a:srgbClr val="243642"/>
              </a:solidFill>
              <a:latin typeface="Times New Roman" panose="02020603050405020304" pitchFamily="18" charset="0"/>
              <a:ea typeface="Times New Roman"/>
              <a:cs typeface="Times New Roman"/>
            </a:endParaRPr>
          </a:p>
        </p:txBody>
      </p:sp>
      <p:sp>
        <p:nvSpPr>
          <p:cNvPr id="11" name="Rectangle 10">
            <a:extLst>
              <a:ext uri="{FF2B5EF4-FFF2-40B4-BE49-F238E27FC236}">
                <a16:creationId xmlns:a16="http://schemas.microsoft.com/office/drawing/2014/main" id="{5F8BE70A-CB95-4B5C-9798-D8A4A1A8CBB7}"/>
              </a:ext>
            </a:extLst>
          </p:cNvPr>
          <p:cNvSpPr>
            <a:spLocks noGrp="1"/>
          </p:cNvSpPr>
          <p:nvPr/>
        </p:nvSpPr>
        <p:spPr>
          <a:xfrm>
            <a:off x="5699346" y="4410786"/>
            <a:ext cx="5810250" cy="1989803"/>
          </a:xfrm>
          <a:prstGeom prst="rect">
            <a:avLst/>
          </a:prstGeom>
          <a:noFill/>
          <a:ln w="0">
            <a:noFill/>
          </a:ln>
        </p:spPr>
        <p:txBody>
          <a:bodyPr lIns="76200" tIns="47625" rIns="76200" bIns="47625" anchor="t">
            <a:noAutofit/>
          </a:bodyPr>
          <a:lstStyle/>
          <a:p>
            <a:pPr marL="282575" marR="317500" indent="-282575" algn="just" rtl="1">
              <a:spcBef>
                <a:spcPts val="1000"/>
              </a:spcBef>
              <a:spcAft>
                <a:spcPts val="1000"/>
              </a:spcAft>
              <a:buChar char="•"/>
              <a:defRPr sz="2100">
                <a:solidFill>
                  <a:srgbClr val="17232C"/>
                </a:solidFill>
                <a:latin typeface="B Zar"/>
                <a:ea typeface="B Zar"/>
                <a:cs typeface="B Zar"/>
              </a:defRPr>
            </a:pPr>
            <a:r>
              <a:rPr lang="fa-IR" altLang="fa-IR" sz="1900" b="1" dirty="0" smtClean="0">
                <a:solidFill>
                  <a:srgbClr val="17232C"/>
                </a:solidFill>
                <a:latin typeface="B Zar"/>
                <a:ea typeface="B Zar"/>
                <a:cs typeface="B Zar"/>
              </a:rPr>
              <a:t>ویدیوهای </a:t>
            </a:r>
            <a:r>
              <a:rPr lang="fa-IR" altLang="fa-IR" sz="1900" b="1" dirty="0">
                <a:solidFill>
                  <a:srgbClr val="17232C"/>
                </a:solidFill>
                <a:latin typeface="B Zar"/>
                <a:ea typeface="B Zar"/>
                <a:cs typeface="B Zar"/>
              </a:rPr>
              <a:t>دارای رده کم‌نمونه: </a:t>
            </a:r>
            <a:r>
              <a:rPr lang="fa-IR" altLang="fa-IR" sz="2000" dirty="0">
                <a:solidFill>
                  <a:srgbClr val="17232C"/>
                </a:solidFill>
                <a:latin typeface="B Zar"/>
                <a:ea typeface="B Zar"/>
                <a:cs typeface="B Zar"/>
              </a:rPr>
              <a:t>تخصیص بر اساس بیشترین کمبود رده‌های </a:t>
            </a:r>
            <a:r>
              <a:rPr lang="fa-IR" altLang="fa-IR" sz="2000" dirty="0" smtClean="0">
                <a:solidFill>
                  <a:srgbClr val="17232C"/>
                </a:solidFill>
                <a:latin typeface="B Zar"/>
                <a:ea typeface="B Zar"/>
                <a:cs typeface="B Zar"/>
              </a:rPr>
              <a:t>نادر</a:t>
            </a:r>
          </a:p>
          <a:p>
            <a:pPr marL="282575" marR="317500" indent="-282575" algn="just" rtl="1">
              <a:spcBef>
                <a:spcPts val="1000"/>
              </a:spcBef>
              <a:spcAft>
                <a:spcPts val="1000"/>
              </a:spcAft>
              <a:buChar char="•"/>
              <a:defRPr sz="2100">
                <a:solidFill>
                  <a:srgbClr val="17232C"/>
                </a:solidFill>
                <a:latin typeface="B Zar"/>
                <a:ea typeface="B Zar"/>
                <a:cs typeface="B Zar"/>
              </a:defRPr>
            </a:pPr>
            <a:r>
              <a:rPr lang="fa-IR" altLang="fa-IR" sz="1900" b="1" dirty="0" smtClean="0">
                <a:solidFill>
                  <a:srgbClr val="17232C"/>
                </a:solidFill>
                <a:latin typeface="B Zar"/>
                <a:ea typeface="B Zar"/>
                <a:cs typeface="B Zar"/>
              </a:rPr>
              <a:t>سایر ویدیوها : </a:t>
            </a:r>
            <a:r>
              <a:rPr lang="fa-IR" altLang="fa-IR" sz="2000" dirty="0">
                <a:solidFill>
                  <a:srgbClr val="17232C"/>
                </a:solidFill>
                <a:latin typeface="B Zar"/>
                <a:ea typeface="B Zar"/>
                <a:cs typeface="B Zar"/>
              </a:rPr>
              <a:t>تخصیص بر اساس بیشترین کمبود تعداد </a:t>
            </a:r>
            <a:r>
              <a:rPr lang="fa-IR" altLang="fa-IR" sz="2000" dirty="0" smtClean="0">
                <a:solidFill>
                  <a:srgbClr val="17232C"/>
                </a:solidFill>
                <a:latin typeface="B Zar"/>
                <a:ea typeface="B Zar"/>
                <a:cs typeface="B Zar"/>
              </a:rPr>
              <a:t>فریم</a:t>
            </a:r>
          </a:p>
          <a:p>
            <a:pPr marL="282575" marR="317500" indent="-282575" algn="just" rtl="1">
              <a:spcBef>
                <a:spcPts val="1000"/>
              </a:spcBef>
              <a:spcAft>
                <a:spcPts val="1000"/>
              </a:spcAft>
              <a:buChar char="•"/>
              <a:defRPr sz="2100">
                <a:solidFill>
                  <a:srgbClr val="17232C"/>
                </a:solidFill>
                <a:latin typeface="B Zar"/>
                <a:ea typeface="B Zar"/>
                <a:cs typeface="B Zar"/>
              </a:defRPr>
            </a:pPr>
            <a:r>
              <a:rPr lang="fa-IR" altLang="fa-IR" sz="1900" b="1" dirty="0" smtClean="0">
                <a:solidFill>
                  <a:srgbClr val="17232C"/>
                </a:solidFill>
                <a:latin typeface="B Zar"/>
                <a:ea typeface="B Zar"/>
                <a:cs typeface="B Zar"/>
              </a:rPr>
              <a:t>هدف</a:t>
            </a:r>
            <a:r>
              <a:rPr lang="fa-IR" altLang="fa-IR" sz="1900" b="1" dirty="0">
                <a:solidFill>
                  <a:srgbClr val="17232C"/>
                </a:solidFill>
                <a:latin typeface="B Zar"/>
                <a:ea typeface="B Zar"/>
                <a:cs typeface="B Zar"/>
              </a:rPr>
              <a:t>:</a:t>
            </a:r>
            <a:r>
              <a:rPr lang="fa-IR" altLang="fa-IR" sz="2000" dirty="0">
                <a:solidFill>
                  <a:srgbClr val="17232C"/>
                </a:solidFill>
                <a:latin typeface="B Zar"/>
                <a:ea typeface="B Zar"/>
                <a:cs typeface="B Zar"/>
              </a:rPr>
              <a:t> نزدیک‌کردن هم‌زمان توزیع رده‌ها و اندازه بخش‌ها به </a:t>
            </a:r>
            <a:r>
              <a:rPr lang="fa-IR" altLang="fa-IR" sz="2000" dirty="0" smtClean="0">
                <a:solidFill>
                  <a:srgbClr val="17232C"/>
                </a:solidFill>
                <a:latin typeface="B Zar"/>
                <a:ea typeface="B Zar"/>
                <a:cs typeface="B Zar"/>
              </a:rPr>
              <a:t>هدف</a:t>
            </a:r>
            <a:endParaRPr lang="en-US" altLang="fa-IR" sz="2000" dirty="0" smtClean="0">
              <a:solidFill>
                <a:srgbClr val="17232C"/>
              </a:solidFill>
              <a:latin typeface="B Zar"/>
              <a:ea typeface="B Zar"/>
              <a:cs typeface="B Zar"/>
            </a:endParaRPr>
          </a:p>
        </p:txBody>
      </p:sp>
      <p:sp>
        <p:nvSpPr>
          <p:cNvPr id="12" name="Rectangle 11">
            <a:extLst>
              <a:ext uri="{FF2B5EF4-FFF2-40B4-BE49-F238E27FC236}">
                <a16:creationId xmlns:a16="http://schemas.microsoft.com/office/drawing/2014/main" id="{E36CD32A-8988-44E9-81E1-60B4E87D6327}"/>
              </a:ext>
            </a:extLst>
          </p:cNvPr>
          <p:cNvSpPr>
            <a:spLocks noGrp="1"/>
          </p:cNvSpPr>
          <p:nvPr/>
        </p:nvSpPr>
        <p:spPr>
          <a:xfrm>
            <a:off x="8643937" y="5781675"/>
            <a:ext cx="2524125" cy="266700"/>
          </a:xfrm>
          <a:prstGeom prst="rect">
            <a:avLst/>
          </a:prstGeom>
          <a:noFill/>
          <a:ln w="0">
            <a:noFill/>
          </a:ln>
        </p:spPr>
        <p:txBody>
          <a:bodyPr lIns="38100" tIns="28575" rIns="38100" bIns="28575" anchor="ctr">
            <a:noAutofit/>
          </a:bodyPr>
          <a:lstStyle/>
          <a:p>
            <a:pPr marL="285750" indent="-285750" algn="l" rtl="1">
              <a:buFont typeface="Arial" panose="020B0604020202020204" pitchFamily="34" charset="0"/>
              <a:buChar char="•"/>
              <a:defRPr sz="1900" b="0">
                <a:solidFill>
                  <a:srgbClr val="52626E"/>
                </a:solidFill>
                <a:latin typeface="Times New Roman"/>
                <a:ea typeface="Times New Roman"/>
                <a:cs typeface="Times New Roman"/>
              </a:defRPr>
            </a:pPr>
            <a:endParaRPr lang="en-US" altLang="fa-IR" sz="1600" b="0" dirty="0">
              <a:solidFill>
                <a:srgbClr val="52626E"/>
              </a:solidFill>
              <a:latin typeface="Times New Roman" panose="02020603050405020304" pitchFamily="18" charset="0"/>
              <a:ea typeface="Times New Roman"/>
              <a:cs typeface="Times New Roman"/>
            </a:endParaRPr>
          </a:p>
        </p:txBody>
      </p:sp>
      <p:pic>
        <p:nvPicPr>
          <p:cNvPr id="17" name="Picture 16"/>
          <p:cNvPicPr>
            <a:picLocks noChangeAspect="1"/>
          </p:cNvPicPr>
          <p:nvPr/>
        </p:nvPicPr>
        <p:blipFill>
          <a:blip r:embed="rId3"/>
          <a:stretch/>
        </p:blipFill>
        <p:spPr>
          <a:xfrm>
            <a:off x="428984" y="187916"/>
            <a:ext cx="535979" cy="628650"/>
          </a:xfrm>
          <a:prstGeom prst="rect">
            <a:avLst/>
          </a:prstGeom>
        </p:spPr>
      </p:pic>
      <p:sp>
        <p:nvSpPr>
          <p:cNvPr id="18" name="Rectangle 17">
            <a:extLst>
              <a:ext uri="{FF2B5EF4-FFF2-40B4-BE49-F238E27FC236}">
                <a16:creationId xmlns:a16="http://schemas.microsoft.com/office/drawing/2014/main" id="{C4452ECC-0329-42FD-A992-5D81CCFFD581}"/>
              </a:ext>
            </a:extLst>
          </p:cNvPr>
          <p:cNvSpPr>
            <a:spLocks noGrp="1"/>
          </p:cNvSpPr>
          <p:nvPr/>
        </p:nvSpPr>
        <p:spPr>
          <a:xfrm>
            <a:off x="1754630" y="279232"/>
            <a:ext cx="10096500" cy="485775"/>
          </a:xfrm>
          <a:prstGeom prst="rect">
            <a:avLst/>
          </a:prstGeom>
          <a:noFill/>
          <a:ln w="0">
            <a:noFill/>
          </a:ln>
        </p:spPr>
        <p:txBody>
          <a:bodyPr lIns="57150" tIns="38100" rIns="57150" bIns="38100" anchor="ctr">
            <a:noAutofit/>
          </a:bodyPr>
          <a:lstStyle/>
          <a:p>
            <a:pPr algn="r" rtl="1">
              <a:defRPr sz="3100" b="1">
                <a:solidFill>
                  <a:srgbClr val="173E5A"/>
                </a:solidFill>
                <a:latin typeface="B Zar"/>
                <a:ea typeface="B Zar"/>
                <a:cs typeface="B Zar"/>
              </a:defRPr>
            </a:pPr>
            <a:r>
              <a:rPr lang="fa-IR" altLang="fa-IR" sz="3100" b="1" dirty="0">
                <a:solidFill>
                  <a:srgbClr val="173E5A"/>
                </a:solidFill>
                <a:latin typeface="B Zar"/>
                <a:ea typeface="B Zar"/>
                <a:cs typeface="B Zar"/>
              </a:rPr>
              <a:t>منطق کد ساخت زیرمجموعه</a:t>
            </a:r>
          </a:p>
        </p:txBody>
      </p:sp>
      <p:sp>
        <p:nvSpPr>
          <p:cNvPr id="13" name="Round Same Side Corner Rectangle 12"/>
          <p:cNvSpPr/>
          <p:nvPr/>
        </p:nvSpPr>
        <p:spPr>
          <a:xfrm>
            <a:off x="5699346" y="1190625"/>
            <a:ext cx="5810250" cy="474099"/>
          </a:xfrm>
          <a:prstGeom prst="round2Same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fa-IR" sz="2000" dirty="0">
              <a:latin typeface="Times New Roman" panose="02020603050405020304" pitchFamily="18" charset="0"/>
              <a:ea typeface="Times New Roman"/>
              <a:cs typeface="Times New Roman"/>
            </a:endParaRPr>
          </a:p>
          <a:p>
            <a:pPr algn="ctr"/>
            <a:endParaRPr lang="en-US" dirty="0"/>
          </a:p>
        </p:txBody>
      </p:sp>
      <p:sp>
        <p:nvSpPr>
          <p:cNvPr id="2" name="TextBox 1"/>
          <p:cNvSpPr txBox="1"/>
          <p:nvPr/>
        </p:nvSpPr>
        <p:spPr>
          <a:xfrm>
            <a:off x="5842221" y="1220582"/>
            <a:ext cx="2183611" cy="400110"/>
          </a:xfrm>
          <a:prstGeom prst="rect">
            <a:avLst/>
          </a:prstGeom>
          <a:noFill/>
        </p:spPr>
        <p:txBody>
          <a:bodyPr wrap="none" rtlCol="0">
            <a:spAutoFit/>
          </a:bodyPr>
          <a:lstStyle/>
          <a:p>
            <a:r>
              <a:rPr lang="en-US" altLang="fa-IR" sz="2000" dirty="0">
                <a:solidFill>
                  <a:schemeClr val="bg1"/>
                </a:solidFill>
                <a:latin typeface="Times New Roman" panose="02020603050405020304" pitchFamily="18" charset="0"/>
                <a:ea typeface="Times New Roman"/>
                <a:cs typeface="Times New Roman"/>
              </a:rPr>
              <a:t>build_subset_v5.py</a:t>
            </a:r>
            <a:endParaRPr lang="en-US" sz="2000" dirty="0">
              <a:solidFill>
                <a:schemeClr val="bg1"/>
              </a:solidFill>
            </a:endParaRPr>
          </a:p>
        </p:txBody>
      </p:sp>
    </p:spTree>
    <p:extLst>
      <p:ext uri="{BB962C8B-B14F-4D97-AF65-F5344CB8AC3E}">
        <p14:creationId xmlns:p14="http://schemas.microsoft.com/office/powerpoint/2010/main" val="3378178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8D9B444-BF5D-4ADE-B23F-5F42DDC2A092}"/>
              </a:ext>
            </a:extLst>
          </p:cNvPr>
          <p:cNvSpPr>
            <a:spLocks noGrp="1"/>
          </p:cNvSpPr>
          <p:nvPr/>
        </p:nvSpPr>
        <p:spPr>
          <a:xfrm>
            <a:off x="429547" y="982332"/>
            <a:ext cx="10096500" cy="485775"/>
          </a:xfrm>
          <a:prstGeom prst="rect">
            <a:avLst/>
          </a:prstGeom>
          <a:noFill/>
          <a:ln w="0">
            <a:noFill/>
          </a:ln>
        </p:spPr>
        <p:txBody>
          <a:bodyPr lIns="57150" tIns="38100" rIns="57150" bIns="38100" anchor="ctr">
            <a:noAutofit/>
          </a:bodyPr>
          <a:lstStyle/>
          <a:p>
            <a:pPr algn="r" rtl="1">
              <a:defRPr sz="3100" b="1">
                <a:solidFill>
                  <a:srgbClr val="173E5A"/>
                </a:solidFill>
                <a:latin typeface="B Zar"/>
                <a:ea typeface="B Zar"/>
                <a:cs typeface="B Zar"/>
              </a:defRPr>
            </a:pPr>
            <a:endParaRPr lang="fa-IR" altLang="fa-IR" sz="3100" b="1" dirty="0">
              <a:solidFill>
                <a:srgbClr val="173E5A"/>
              </a:solidFill>
              <a:latin typeface="B Zar"/>
              <a:ea typeface="B Zar"/>
              <a:cs typeface="B Zar"/>
            </a:endParaRPr>
          </a:p>
        </p:txBody>
      </p:sp>
      <p:sp>
        <p:nvSpPr>
          <p:cNvPr id="7" name="Rectangle 6">
            <a:extLst>
              <a:ext uri="{FF2B5EF4-FFF2-40B4-BE49-F238E27FC236}">
                <a16:creationId xmlns:a16="http://schemas.microsoft.com/office/drawing/2014/main" id="{8FFD4D2D-A839-46FC-B047-76C5B70AE450}"/>
              </a:ext>
            </a:extLst>
          </p:cNvPr>
          <p:cNvSpPr>
            <a:spLocks noGrp="1"/>
          </p:cNvSpPr>
          <p:nvPr/>
        </p:nvSpPr>
        <p:spPr>
          <a:xfrm>
            <a:off x="171450" y="6496050"/>
            <a:ext cx="1762125" cy="238125"/>
          </a:xfrm>
          <a:prstGeom prst="rect">
            <a:avLst/>
          </a:prstGeom>
          <a:noFill/>
          <a:ln w="0">
            <a:noFill/>
          </a:ln>
        </p:spPr>
        <p:txBody>
          <a:bodyPr lIns="57150" tIns="38100" rIns="57150" bIns="38100" anchor="ctr">
            <a:noAutofit/>
          </a:bodyPr>
          <a:lstStyle/>
          <a:p>
            <a:pPr algn="r" rtl="1">
              <a:defRPr sz="1600" b="0">
                <a:solidFill>
                  <a:srgbClr val="52626E"/>
                </a:solidFill>
                <a:latin typeface="B Zar"/>
                <a:ea typeface="B Zar"/>
                <a:cs typeface="B Zar"/>
              </a:defRPr>
            </a:pPr>
            <a:r>
              <a:rPr lang="fa-IR" altLang="fa-IR" sz="1600" b="0" smtClean="0">
                <a:solidFill>
                  <a:srgbClr val="52626E"/>
                </a:solidFill>
                <a:latin typeface="B Zar"/>
                <a:ea typeface="B Zar"/>
                <a:cs typeface="B Zar"/>
              </a:rPr>
              <a:t>صفحه ۱۷ از ۳۱</a:t>
            </a:r>
            <a:endParaRPr lang="fa-IR" altLang="fa-IR" sz="1600" b="0">
              <a:solidFill>
                <a:srgbClr val="52626E"/>
              </a:solidFill>
              <a:latin typeface="B Zar"/>
              <a:ea typeface="B Zar"/>
              <a:cs typeface="B Zar"/>
            </a:endParaRPr>
          </a:p>
        </p:txBody>
      </p:sp>
      <p:pic>
        <p:nvPicPr>
          <p:cNvPr id="19" name="Picture 18"/>
          <p:cNvPicPr>
            <a:picLocks noChangeAspect="1"/>
          </p:cNvPicPr>
          <p:nvPr/>
        </p:nvPicPr>
        <p:blipFill>
          <a:blip r:embed="rId3"/>
          <a:stretch/>
        </p:blipFill>
        <p:spPr>
          <a:xfrm>
            <a:off x="1472506" y="982332"/>
            <a:ext cx="9246989" cy="5339810"/>
          </a:xfrm>
          <a:prstGeom prst="rect">
            <a:avLst/>
          </a:prstGeom>
        </p:spPr>
      </p:pic>
      <p:pic>
        <p:nvPicPr>
          <p:cNvPr id="13" name="Picture 12"/>
          <p:cNvPicPr>
            <a:picLocks noChangeAspect="1"/>
          </p:cNvPicPr>
          <p:nvPr/>
        </p:nvPicPr>
        <p:blipFill>
          <a:blip r:embed="rId4"/>
          <a:stretch/>
        </p:blipFill>
        <p:spPr>
          <a:xfrm>
            <a:off x="428984" y="187916"/>
            <a:ext cx="535979" cy="628650"/>
          </a:xfrm>
          <a:prstGeom prst="rect">
            <a:avLst/>
          </a:prstGeom>
        </p:spPr>
      </p:pic>
      <p:sp>
        <p:nvSpPr>
          <p:cNvPr id="14" name="Rectangle 13">
            <a:extLst>
              <a:ext uri="{FF2B5EF4-FFF2-40B4-BE49-F238E27FC236}">
                <a16:creationId xmlns:a16="http://schemas.microsoft.com/office/drawing/2014/main" id="{C4452ECC-0329-42FD-A992-5D81CCFFD581}"/>
              </a:ext>
            </a:extLst>
          </p:cNvPr>
          <p:cNvSpPr>
            <a:spLocks noGrp="1"/>
          </p:cNvSpPr>
          <p:nvPr/>
        </p:nvSpPr>
        <p:spPr>
          <a:xfrm>
            <a:off x="1754630" y="279232"/>
            <a:ext cx="10096500" cy="485775"/>
          </a:xfrm>
          <a:prstGeom prst="rect">
            <a:avLst/>
          </a:prstGeom>
          <a:noFill/>
          <a:ln w="0">
            <a:noFill/>
          </a:ln>
        </p:spPr>
        <p:txBody>
          <a:bodyPr lIns="57150" tIns="38100" rIns="57150" bIns="38100" anchor="ctr">
            <a:noAutofit/>
          </a:bodyPr>
          <a:lstStyle/>
          <a:p>
            <a:pPr algn="r" rtl="1">
              <a:defRPr sz="3100" b="1">
                <a:solidFill>
                  <a:srgbClr val="173E5A"/>
                </a:solidFill>
                <a:latin typeface="B Zar"/>
                <a:ea typeface="B Zar"/>
                <a:cs typeface="B Zar"/>
              </a:defRPr>
            </a:pPr>
            <a:r>
              <a:rPr lang="fa-IR" altLang="fa-IR" sz="3100" b="1" dirty="0" smtClean="0">
                <a:solidFill>
                  <a:srgbClr val="173E5A"/>
                </a:solidFill>
                <a:latin typeface="B Zar"/>
                <a:ea typeface="B Zar"/>
                <a:cs typeface="B Zar"/>
              </a:rPr>
              <a:t>هم‌ترازی و توزیع رده‌ها</a:t>
            </a:r>
            <a:endParaRPr lang="fa-IR" altLang="fa-IR" sz="3100" b="1" dirty="0">
              <a:solidFill>
                <a:srgbClr val="173E5A"/>
              </a:solidFill>
              <a:latin typeface="B Zar"/>
              <a:ea typeface="B Zar"/>
              <a:cs typeface="B Zar"/>
            </a:endParaRPr>
          </a:p>
        </p:txBody>
      </p:sp>
    </p:spTree>
    <p:extLst>
      <p:ext uri="{BB962C8B-B14F-4D97-AF65-F5344CB8AC3E}">
        <p14:creationId xmlns:p14="http://schemas.microsoft.com/office/powerpoint/2010/main" val="1010777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ounded Rectangle 13">
            <a:extLst>
              <a:ext uri="{FF2B5EF4-FFF2-40B4-BE49-F238E27FC236}">
                <a16:creationId xmlns:a16="http://schemas.microsoft.com/office/drawing/2014/main" id="{1140F6A7-45D5-47C8-91C7-7F2BB3C6065E}"/>
              </a:ext>
            </a:extLst>
          </p:cNvPr>
          <p:cNvSpPr>
            <a:spLocks noGrp="1"/>
          </p:cNvSpPr>
          <p:nvPr/>
        </p:nvSpPr>
        <p:spPr>
          <a:xfrm>
            <a:off x="6434783" y="1637751"/>
            <a:ext cx="5184648" cy="3524185"/>
          </a:xfrm>
          <a:prstGeom prst="roundRect">
            <a:avLst>
              <a:gd name="adj" fmla="val 2667"/>
            </a:avLst>
          </a:prstGeom>
          <a:solidFill>
            <a:srgbClr val="F1F3F5"/>
          </a:solidFill>
          <a:ln w="11430">
            <a:solidFill>
              <a:srgbClr val="9BACB8"/>
            </a:solidFill>
          </a:ln>
        </p:spPr>
        <p:txBody>
          <a:bodyPr/>
          <a:lstStyle/>
          <a:p>
            <a:endParaRPr/>
          </a:p>
        </p:txBody>
      </p:sp>
      <p:sp>
        <p:nvSpPr>
          <p:cNvPr id="6" name="Rectangle 5">
            <a:extLst>
              <a:ext uri="{FF2B5EF4-FFF2-40B4-BE49-F238E27FC236}">
                <a16:creationId xmlns:a16="http://schemas.microsoft.com/office/drawing/2014/main" id="{9D0987E4-9DC7-4D14-ADE2-6DF8FC6BEFE4}"/>
              </a:ext>
            </a:extLst>
          </p:cNvPr>
          <p:cNvSpPr>
            <a:spLocks noGrp="1"/>
          </p:cNvSpPr>
          <p:nvPr/>
        </p:nvSpPr>
        <p:spPr>
          <a:xfrm>
            <a:off x="1386533" y="1071562"/>
            <a:ext cx="10096500" cy="485775"/>
          </a:xfrm>
          <a:prstGeom prst="rect">
            <a:avLst/>
          </a:prstGeom>
          <a:noFill/>
          <a:ln w="0">
            <a:noFill/>
          </a:ln>
        </p:spPr>
        <p:txBody>
          <a:bodyPr lIns="57150" tIns="38100" rIns="57150" bIns="38100" anchor="ctr">
            <a:noAutofit/>
          </a:bodyPr>
          <a:lstStyle/>
          <a:p>
            <a:pPr algn="r" rtl="1">
              <a:defRPr sz="3100" b="1">
                <a:solidFill>
                  <a:srgbClr val="173E5A"/>
                </a:solidFill>
                <a:latin typeface="B Zar"/>
                <a:ea typeface="B Zar"/>
                <a:cs typeface="B Zar"/>
              </a:defRPr>
            </a:pPr>
            <a:endParaRPr lang="fa-IR" altLang="fa-IR" sz="3100" b="1" dirty="0">
              <a:solidFill>
                <a:srgbClr val="173E5A"/>
              </a:solidFill>
              <a:latin typeface="B Zar"/>
              <a:ea typeface="B Zar"/>
              <a:cs typeface="B Zar"/>
            </a:endParaRPr>
          </a:p>
        </p:txBody>
      </p:sp>
      <p:sp>
        <p:nvSpPr>
          <p:cNvPr id="7" name="Rectangle 6">
            <a:extLst>
              <a:ext uri="{FF2B5EF4-FFF2-40B4-BE49-F238E27FC236}">
                <a16:creationId xmlns:a16="http://schemas.microsoft.com/office/drawing/2014/main" id="{92335536-2A9A-4809-A009-20976D0B3E3D}"/>
              </a:ext>
            </a:extLst>
          </p:cNvPr>
          <p:cNvSpPr>
            <a:spLocks noGrp="1"/>
          </p:cNvSpPr>
          <p:nvPr/>
        </p:nvSpPr>
        <p:spPr>
          <a:xfrm>
            <a:off x="171450" y="6496050"/>
            <a:ext cx="1762125" cy="238125"/>
          </a:xfrm>
          <a:prstGeom prst="rect">
            <a:avLst/>
          </a:prstGeom>
          <a:noFill/>
          <a:ln w="0">
            <a:noFill/>
          </a:ln>
        </p:spPr>
        <p:txBody>
          <a:bodyPr lIns="57150" tIns="38100" rIns="57150" bIns="38100" anchor="ctr">
            <a:noAutofit/>
          </a:bodyPr>
          <a:lstStyle/>
          <a:p>
            <a:pPr algn="r" rtl="1">
              <a:defRPr sz="1600" b="0">
                <a:solidFill>
                  <a:srgbClr val="52626E"/>
                </a:solidFill>
                <a:latin typeface="B Zar"/>
                <a:ea typeface="B Zar"/>
                <a:cs typeface="B Zar"/>
              </a:defRPr>
            </a:pPr>
            <a:r>
              <a:rPr lang="fa-IR" altLang="fa-IR" sz="1600" b="0" smtClean="0">
                <a:solidFill>
                  <a:srgbClr val="52626E"/>
                </a:solidFill>
                <a:latin typeface="B Zar"/>
                <a:ea typeface="B Zar"/>
                <a:cs typeface="B Zar"/>
              </a:rPr>
              <a:t>صفحه ۱۸ از ۳۱</a:t>
            </a:r>
            <a:endParaRPr lang="fa-IR" altLang="fa-IR" sz="1600" b="0">
              <a:solidFill>
                <a:srgbClr val="52626E"/>
              </a:solidFill>
              <a:latin typeface="B Zar"/>
              <a:ea typeface="B Zar"/>
              <a:cs typeface="B Zar"/>
            </a:endParaRPr>
          </a:p>
        </p:txBody>
      </p:sp>
      <p:pic>
        <p:nvPicPr>
          <p:cNvPr id="12" name="Picture 11"/>
          <p:cNvPicPr>
            <a:picLocks noChangeAspect="1"/>
          </p:cNvPicPr>
          <p:nvPr/>
        </p:nvPicPr>
        <p:blipFill>
          <a:blip r:embed="rId3"/>
          <a:stretch/>
        </p:blipFill>
        <p:spPr>
          <a:xfrm>
            <a:off x="428984" y="187916"/>
            <a:ext cx="535979" cy="628650"/>
          </a:xfrm>
          <a:prstGeom prst="rect">
            <a:avLst/>
          </a:prstGeom>
        </p:spPr>
      </p:pic>
      <p:sp>
        <p:nvSpPr>
          <p:cNvPr id="13" name="Rectangle 12">
            <a:extLst>
              <a:ext uri="{FF2B5EF4-FFF2-40B4-BE49-F238E27FC236}">
                <a16:creationId xmlns:a16="http://schemas.microsoft.com/office/drawing/2014/main" id="{C4452ECC-0329-42FD-A992-5D81CCFFD581}"/>
              </a:ext>
            </a:extLst>
          </p:cNvPr>
          <p:cNvSpPr>
            <a:spLocks noGrp="1"/>
          </p:cNvSpPr>
          <p:nvPr/>
        </p:nvSpPr>
        <p:spPr>
          <a:xfrm>
            <a:off x="1754630" y="279232"/>
            <a:ext cx="10096500" cy="485775"/>
          </a:xfrm>
          <a:prstGeom prst="rect">
            <a:avLst/>
          </a:prstGeom>
          <a:noFill/>
          <a:ln w="0">
            <a:noFill/>
          </a:ln>
        </p:spPr>
        <p:txBody>
          <a:bodyPr lIns="57150" tIns="38100" rIns="57150" bIns="38100" anchor="ctr">
            <a:noAutofit/>
          </a:bodyPr>
          <a:lstStyle/>
          <a:p>
            <a:pPr algn="r" rtl="1">
              <a:defRPr sz="3100" b="1">
                <a:solidFill>
                  <a:srgbClr val="173E5A"/>
                </a:solidFill>
                <a:latin typeface="B Zar"/>
                <a:ea typeface="B Zar"/>
                <a:cs typeface="B Zar"/>
              </a:defRPr>
            </a:pPr>
            <a:r>
              <a:rPr lang="fa-IR" altLang="fa-IR" sz="3100" b="1" smtClean="0">
                <a:solidFill>
                  <a:srgbClr val="173E5A"/>
                </a:solidFill>
                <a:latin typeface="B Zar"/>
                <a:ea typeface="B Zar"/>
                <a:cs typeface="B Zar"/>
              </a:rPr>
              <a:t>توزیع اندازه اشیا در سه بخش</a:t>
            </a:r>
            <a:endParaRPr lang="fa-IR" altLang="fa-IR" sz="3100" b="1" dirty="0">
              <a:solidFill>
                <a:srgbClr val="173E5A"/>
              </a:solidFill>
              <a:latin typeface="B Zar"/>
              <a:ea typeface="B Zar"/>
              <a:cs typeface="B Zar"/>
            </a:endParaRPr>
          </a:p>
        </p:txBody>
      </p:sp>
      <p:pic>
        <p:nvPicPr>
          <p:cNvPr id="8" name="Picture 7"/>
          <p:cNvPicPr>
            <a:picLocks noChangeAspect="1"/>
          </p:cNvPicPr>
          <p:nvPr/>
        </p:nvPicPr>
        <p:blipFill>
          <a:blip r:embed="rId4"/>
          <a:stretch/>
        </p:blipFill>
        <p:spPr>
          <a:xfrm>
            <a:off x="475487" y="1505120"/>
            <a:ext cx="5650224" cy="4242816"/>
          </a:xfrm>
          <a:prstGeom prst="rect">
            <a:avLst/>
          </a:prstGeom>
        </p:spPr>
      </p:pic>
      <p:sp>
        <p:nvSpPr>
          <p:cNvPr id="10" name="Rectangle 9">
            <a:extLst>
              <a:ext uri="{FF2B5EF4-FFF2-40B4-BE49-F238E27FC236}">
                <a16:creationId xmlns:a16="http://schemas.microsoft.com/office/drawing/2014/main" id="{79557625-46C9-46A3-9EE2-36AB81FD0C53}"/>
              </a:ext>
            </a:extLst>
          </p:cNvPr>
          <p:cNvSpPr>
            <a:spLocks noGrp="1"/>
          </p:cNvSpPr>
          <p:nvPr/>
        </p:nvSpPr>
        <p:spPr>
          <a:xfrm>
            <a:off x="1746504" y="5693072"/>
            <a:ext cx="2952750" cy="333375"/>
          </a:xfrm>
          <a:prstGeom prst="rect">
            <a:avLst/>
          </a:prstGeom>
          <a:noFill/>
          <a:ln w="0">
            <a:noFill/>
          </a:ln>
        </p:spPr>
        <p:txBody>
          <a:bodyPr lIns="57150" tIns="38100" rIns="57150" bIns="38100" anchor="ctr">
            <a:noAutofit/>
          </a:bodyPr>
          <a:lstStyle/>
          <a:p>
            <a:pPr algn="ctr" rtl="1">
              <a:defRPr sz="2000" b="1">
                <a:solidFill>
                  <a:srgbClr val="173E5A"/>
                </a:solidFill>
                <a:latin typeface="B Zar"/>
                <a:ea typeface="B Zar"/>
                <a:cs typeface="B Zar"/>
              </a:defRPr>
            </a:pPr>
            <a:r>
              <a:rPr lang="fa-IR" altLang="fa-IR" sz="2000" b="1" dirty="0">
                <a:solidFill>
                  <a:srgbClr val="173E5A"/>
                </a:solidFill>
                <a:latin typeface="B Zar"/>
                <a:ea typeface="B Zar"/>
                <a:cs typeface="B Zar"/>
              </a:rPr>
              <a:t>توزیع اندازه اشیا</a:t>
            </a:r>
          </a:p>
        </p:txBody>
      </p:sp>
      <p:sp>
        <p:nvSpPr>
          <p:cNvPr id="4" name="کد رده‌بندی اندازه اشیا"/>
          <p:cNvSpPr txBox="1"/>
          <p:nvPr/>
        </p:nvSpPr>
        <p:spPr>
          <a:xfrm>
            <a:off x="6833913" y="2309368"/>
            <a:ext cx="3293313" cy="2631490"/>
          </a:xfrm>
          <a:prstGeom prst="rect">
            <a:avLst/>
          </a:prstGeom>
          <a:noFill/>
        </p:spPr>
        <p:txBody>
          <a:bodyPr vert="horz" wrap="square" lIns="0" tIns="0" rIns="0" bIns="0" rtlCol="0">
            <a:spAutoFit/>
          </a:bodyPr>
          <a:lstStyle/>
          <a:p>
            <a:pPr>
              <a:lnSpc>
                <a:spcPct val="150000"/>
              </a:lnSpc>
            </a:pPr>
            <a:r>
              <a:rPr lang="en-US" sz="1900" dirty="0" smtClean="0">
                <a:solidFill>
                  <a:srgbClr val="1E3444"/>
                </a:solidFill>
                <a:latin typeface="Times New Roman" panose="02020603050405020304" pitchFamily="18" charset="0"/>
              </a:rPr>
              <a:t>SMALL, LARGE = 0.01, 0.06</a:t>
            </a:r>
          </a:p>
          <a:p>
            <a:pPr>
              <a:lnSpc>
                <a:spcPct val="150000"/>
              </a:lnSpc>
            </a:pPr>
            <a:r>
              <a:rPr lang="en-US" sz="1900" dirty="0" smtClean="0">
                <a:solidFill>
                  <a:srgbClr val="1E3444"/>
                </a:solidFill>
                <a:latin typeface="Times New Roman" panose="02020603050405020304" pitchFamily="18" charset="0"/>
              </a:rPr>
              <a:t>a = float(q[3]) * float(q[4])</a:t>
            </a:r>
          </a:p>
          <a:p>
            <a:r>
              <a:rPr lang="en-US" sz="1900" dirty="0" smtClean="0">
                <a:latin typeface="Times New Roman" panose="02020603050405020304" pitchFamily="18" charset="0"/>
                <a:cs typeface="Times New Roman" panose="02020603050405020304" pitchFamily="18" charset="0"/>
              </a:rPr>
              <a:t>if </a:t>
            </a:r>
            <a:r>
              <a:rPr lang="en-US" sz="1900" dirty="0">
                <a:latin typeface="Times New Roman" panose="02020603050405020304" pitchFamily="18" charset="0"/>
                <a:cs typeface="Times New Roman" panose="02020603050405020304" pitchFamily="18" charset="0"/>
              </a:rPr>
              <a:t>a &lt; SMALL:</a:t>
            </a:r>
          </a:p>
          <a:p>
            <a:r>
              <a:rPr lang="fa-IR" sz="1900" dirty="0" smtClean="0">
                <a:latin typeface="Times New Roman" panose="02020603050405020304" pitchFamily="18" charset="0"/>
                <a:cs typeface="Times New Roman" panose="02020603050405020304" pitchFamily="18" charset="0"/>
              </a:rPr>
              <a:t>     </a:t>
            </a:r>
            <a:r>
              <a:rPr lang="en-US" sz="1900" dirty="0" smtClean="0">
                <a:latin typeface="Times New Roman" panose="02020603050405020304" pitchFamily="18" charset="0"/>
                <a:cs typeface="Times New Roman" panose="02020603050405020304" pitchFamily="18" charset="0"/>
              </a:rPr>
              <a:t>size[0</a:t>
            </a:r>
            <a:r>
              <a:rPr lang="en-US" sz="1900" dirty="0">
                <a:latin typeface="Times New Roman" panose="02020603050405020304" pitchFamily="18" charset="0"/>
                <a:cs typeface="Times New Roman" panose="02020603050405020304" pitchFamily="18" charset="0"/>
              </a:rPr>
              <a:t>] += 1</a:t>
            </a:r>
          </a:p>
          <a:p>
            <a:r>
              <a:rPr lang="en-US" sz="1900" dirty="0" err="1" smtClean="0">
                <a:latin typeface="Times New Roman" panose="02020603050405020304" pitchFamily="18" charset="0"/>
                <a:cs typeface="Times New Roman" panose="02020603050405020304" pitchFamily="18" charset="0"/>
              </a:rPr>
              <a:t>elif</a:t>
            </a:r>
            <a:r>
              <a:rPr lang="en-US" sz="1900" dirty="0" smtClean="0">
                <a:latin typeface="Times New Roman" panose="02020603050405020304" pitchFamily="18" charset="0"/>
                <a:cs typeface="Times New Roman" panose="02020603050405020304" pitchFamily="18" charset="0"/>
              </a:rPr>
              <a:t> a &gt;= LARGE:</a:t>
            </a:r>
          </a:p>
          <a:p>
            <a:r>
              <a:rPr lang="fa-IR" sz="1900" dirty="0" smtClean="0">
                <a:latin typeface="Times New Roman" panose="02020603050405020304" pitchFamily="18" charset="0"/>
                <a:cs typeface="Times New Roman" panose="02020603050405020304" pitchFamily="18" charset="0"/>
              </a:rPr>
              <a:t>     </a:t>
            </a:r>
            <a:r>
              <a:rPr lang="en-US" sz="1900" dirty="0" smtClean="0">
                <a:latin typeface="Times New Roman" panose="02020603050405020304" pitchFamily="18" charset="0"/>
                <a:cs typeface="Times New Roman" panose="02020603050405020304" pitchFamily="18" charset="0"/>
              </a:rPr>
              <a:t>size[2] += 1</a:t>
            </a:r>
          </a:p>
          <a:p>
            <a:r>
              <a:rPr lang="en-US" sz="1900" dirty="0" smtClean="0">
                <a:latin typeface="Times New Roman" panose="02020603050405020304" pitchFamily="18" charset="0"/>
                <a:cs typeface="Times New Roman" panose="02020603050405020304" pitchFamily="18" charset="0"/>
              </a:rPr>
              <a:t>else</a:t>
            </a:r>
            <a:r>
              <a:rPr lang="en-US" sz="1900" dirty="0">
                <a:latin typeface="Times New Roman" panose="02020603050405020304" pitchFamily="18" charset="0"/>
                <a:cs typeface="Times New Roman" panose="02020603050405020304" pitchFamily="18" charset="0"/>
              </a:rPr>
              <a:t>:</a:t>
            </a:r>
          </a:p>
          <a:p>
            <a:r>
              <a:rPr lang="fa-IR" sz="1900" dirty="0" smtClean="0">
                <a:latin typeface="Times New Roman" panose="02020603050405020304" pitchFamily="18" charset="0"/>
                <a:cs typeface="Times New Roman" panose="02020603050405020304" pitchFamily="18" charset="0"/>
              </a:rPr>
              <a:t>     </a:t>
            </a:r>
            <a:r>
              <a:rPr lang="en-US" sz="1900" dirty="0" smtClean="0">
                <a:latin typeface="Times New Roman" panose="02020603050405020304" pitchFamily="18" charset="0"/>
                <a:cs typeface="Times New Roman" panose="02020603050405020304" pitchFamily="18" charset="0"/>
              </a:rPr>
              <a:t>size[1</a:t>
            </a:r>
            <a:r>
              <a:rPr lang="en-US" sz="1900" dirty="0">
                <a:latin typeface="Times New Roman" panose="02020603050405020304" pitchFamily="18" charset="0"/>
                <a:cs typeface="Times New Roman" panose="02020603050405020304" pitchFamily="18" charset="0"/>
              </a:rPr>
              <a:t>] += 1</a:t>
            </a:r>
          </a:p>
        </p:txBody>
      </p:sp>
      <p:sp>
        <p:nvSpPr>
          <p:cNvPr id="15" name="Round Same Side Corner Rectangle 14"/>
          <p:cNvSpPr/>
          <p:nvPr/>
        </p:nvSpPr>
        <p:spPr>
          <a:xfrm>
            <a:off x="6434783" y="1637752"/>
            <a:ext cx="5184648" cy="474099"/>
          </a:xfrm>
          <a:prstGeom prst="round2Same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6563023" y="1671508"/>
            <a:ext cx="3333135" cy="646331"/>
          </a:xfrm>
          <a:prstGeom prst="rect">
            <a:avLst/>
          </a:prstGeom>
          <a:noFill/>
        </p:spPr>
        <p:txBody>
          <a:bodyPr wrap="square" rtlCol="0">
            <a:spAutoFit/>
          </a:bodyPr>
          <a:lstStyle/>
          <a:p>
            <a:r>
              <a:rPr lang="en-US" dirty="0" smtClean="0">
                <a:solidFill>
                  <a:schemeClr val="bg1"/>
                </a:solidFill>
                <a:latin typeface="Times New Roman" panose="02020603050405020304" pitchFamily="18" charset="0"/>
              </a:rPr>
              <a:t>compute_v5_validity.py</a:t>
            </a:r>
            <a:endParaRPr lang="en-US" dirty="0"/>
          </a:p>
          <a:p>
            <a:endParaRPr lang="en-US" dirty="0"/>
          </a:p>
        </p:txBody>
      </p:sp>
    </p:spTree>
    <p:extLst>
      <p:ext uri="{BB962C8B-B14F-4D97-AF65-F5344CB8AC3E}">
        <p14:creationId xmlns:p14="http://schemas.microsoft.com/office/powerpoint/2010/main" val="1063807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ounded Rectangle 15">
            <a:extLst>
              <a:ext uri="{FF2B5EF4-FFF2-40B4-BE49-F238E27FC236}">
                <a16:creationId xmlns:a16="http://schemas.microsoft.com/office/drawing/2014/main" id="{1140F6A7-45D5-47C8-91C7-7F2BB3C6065E}"/>
              </a:ext>
            </a:extLst>
          </p:cNvPr>
          <p:cNvSpPr>
            <a:spLocks noGrp="1"/>
          </p:cNvSpPr>
          <p:nvPr/>
        </p:nvSpPr>
        <p:spPr>
          <a:xfrm>
            <a:off x="6492240" y="1099607"/>
            <a:ext cx="5189220" cy="2955284"/>
          </a:xfrm>
          <a:prstGeom prst="roundRect">
            <a:avLst>
              <a:gd name="adj" fmla="val 2667"/>
            </a:avLst>
          </a:prstGeom>
          <a:solidFill>
            <a:srgbClr val="F1F3F5"/>
          </a:solidFill>
          <a:ln w="11430">
            <a:solidFill>
              <a:srgbClr val="9BACB8"/>
            </a:solidFill>
          </a:ln>
        </p:spPr>
        <p:txBody>
          <a:bodyPr/>
          <a:lstStyle/>
          <a:p>
            <a:endParaRPr/>
          </a:p>
        </p:txBody>
      </p:sp>
      <p:sp>
        <p:nvSpPr>
          <p:cNvPr id="7" name="Rectangle 6">
            <a:extLst>
              <a:ext uri="{FF2B5EF4-FFF2-40B4-BE49-F238E27FC236}">
                <a16:creationId xmlns:a16="http://schemas.microsoft.com/office/drawing/2014/main" id="{92335536-2A9A-4809-A009-20976D0B3E3D}"/>
              </a:ext>
            </a:extLst>
          </p:cNvPr>
          <p:cNvSpPr>
            <a:spLocks noGrp="1"/>
          </p:cNvSpPr>
          <p:nvPr/>
        </p:nvSpPr>
        <p:spPr>
          <a:xfrm>
            <a:off x="171450" y="6496050"/>
            <a:ext cx="1762125" cy="238125"/>
          </a:xfrm>
          <a:prstGeom prst="rect">
            <a:avLst/>
          </a:prstGeom>
          <a:noFill/>
          <a:ln w="0">
            <a:noFill/>
          </a:ln>
        </p:spPr>
        <p:txBody>
          <a:bodyPr lIns="57150" tIns="38100" rIns="57150" bIns="38100" anchor="ctr">
            <a:noAutofit/>
          </a:bodyPr>
          <a:lstStyle/>
          <a:p>
            <a:pPr algn="r" rtl="1">
              <a:defRPr sz="1600" b="0">
                <a:solidFill>
                  <a:srgbClr val="52626E"/>
                </a:solidFill>
                <a:latin typeface="B Zar"/>
                <a:ea typeface="B Zar"/>
                <a:cs typeface="B Zar"/>
              </a:defRPr>
            </a:pPr>
            <a:r>
              <a:rPr lang="fa-IR" altLang="fa-IR" sz="1600" b="0" smtClean="0">
                <a:solidFill>
                  <a:srgbClr val="52626E"/>
                </a:solidFill>
                <a:latin typeface="B Zar"/>
                <a:ea typeface="B Zar"/>
                <a:cs typeface="B Zar"/>
              </a:rPr>
              <a:t>صفحه ۱۹ از ۳۱</a:t>
            </a:r>
            <a:endParaRPr lang="fa-IR" altLang="fa-IR" sz="1600" b="0">
              <a:solidFill>
                <a:srgbClr val="52626E"/>
              </a:solidFill>
              <a:latin typeface="B Zar"/>
              <a:ea typeface="B Zar"/>
              <a:cs typeface="B Zar"/>
            </a:endParaRPr>
          </a:p>
        </p:txBody>
      </p:sp>
      <p:pic>
        <p:nvPicPr>
          <p:cNvPr id="18" name="Picture 17"/>
          <p:cNvPicPr>
            <a:picLocks noChangeAspect="1"/>
          </p:cNvPicPr>
          <p:nvPr/>
        </p:nvPicPr>
        <p:blipFill>
          <a:blip r:embed="rId3"/>
          <a:stretch/>
        </p:blipFill>
        <p:spPr>
          <a:xfrm>
            <a:off x="68552" y="1199446"/>
            <a:ext cx="6217111" cy="4288796"/>
          </a:xfrm>
          <a:prstGeom prst="rect">
            <a:avLst/>
          </a:prstGeom>
        </p:spPr>
      </p:pic>
      <p:pic>
        <p:nvPicPr>
          <p:cNvPr id="12" name="Picture 11"/>
          <p:cNvPicPr>
            <a:picLocks noChangeAspect="1"/>
          </p:cNvPicPr>
          <p:nvPr/>
        </p:nvPicPr>
        <p:blipFill>
          <a:blip r:embed="rId4"/>
          <a:stretch/>
        </p:blipFill>
        <p:spPr>
          <a:xfrm>
            <a:off x="428984" y="187916"/>
            <a:ext cx="535979" cy="628650"/>
          </a:xfrm>
          <a:prstGeom prst="rect">
            <a:avLst/>
          </a:prstGeom>
        </p:spPr>
      </p:pic>
      <p:sp>
        <p:nvSpPr>
          <p:cNvPr id="13" name="Rectangle 12">
            <a:extLst>
              <a:ext uri="{FF2B5EF4-FFF2-40B4-BE49-F238E27FC236}">
                <a16:creationId xmlns:a16="http://schemas.microsoft.com/office/drawing/2014/main" id="{C4452ECC-0329-42FD-A992-5D81CCFFD581}"/>
              </a:ext>
            </a:extLst>
          </p:cNvPr>
          <p:cNvSpPr>
            <a:spLocks noGrp="1"/>
          </p:cNvSpPr>
          <p:nvPr/>
        </p:nvSpPr>
        <p:spPr>
          <a:xfrm>
            <a:off x="1754630" y="279232"/>
            <a:ext cx="10096500" cy="485775"/>
          </a:xfrm>
          <a:prstGeom prst="rect">
            <a:avLst/>
          </a:prstGeom>
          <a:noFill/>
          <a:ln w="0">
            <a:noFill/>
          </a:ln>
        </p:spPr>
        <p:txBody>
          <a:bodyPr lIns="57150" tIns="38100" rIns="57150" bIns="38100" anchor="ctr">
            <a:noAutofit/>
          </a:bodyPr>
          <a:lstStyle/>
          <a:p>
            <a:pPr algn="r" rtl="1">
              <a:defRPr sz="3100" b="1">
                <a:solidFill>
                  <a:srgbClr val="173E5A"/>
                </a:solidFill>
                <a:latin typeface="B Zar"/>
                <a:ea typeface="B Zar"/>
                <a:cs typeface="B Zar"/>
              </a:defRPr>
            </a:pPr>
            <a:r>
              <a:rPr lang="fa-IR" altLang="fa-IR" sz="3100" b="1" smtClean="0">
                <a:solidFill>
                  <a:srgbClr val="173E5A"/>
                </a:solidFill>
                <a:latin typeface="B Zar"/>
                <a:ea typeface="B Zar"/>
                <a:cs typeface="B Zar"/>
              </a:rPr>
              <a:t>توزیع شرایط محیطی در سه بخش</a:t>
            </a:r>
            <a:endParaRPr lang="fa-IR" altLang="fa-IR" sz="3100" b="1" dirty="0">
              <a:solidFill>
                <a:srgbClr val="173E5A"/>
              </a:solidFill>
              <a:latin typeface="B Zar"/>
              <a:ea typeface="B Zar"/>
              <a:cs typeface="B Zar"/>
            </a:endParaRPr>
          </a:p>
        </p:txBody>
      </p:sp>
      <p:sp>
        <p:nvSpPr>
          <p:cNvPr id="11" name="Rectangle 10">
            <a:extLst>
              <a:ext uri="{FF2B5EF4-FFF2-40B4-BE49-F238E27FC236}">
                <a16:creationId xmlns:a16="http://schemas.microsoft.com/office/drawing/2014/main" id="{79557625-46C9-46A3-9EE2-36AB81FD0C53}"/>
              </a:ext>
            </a:extLst>
          </p:cNvPr>
          <p:cNvSpPr>
            <a:spLocks noGrp="1"/>
          </p:cNvSpPr>
          <p:nvPr/>
        </p:nvSpPr>
        <p:spPr>
          <a:xfrm>
            <a:off x="1700732" y="5477180"/>
            <a:ext cx="2952750" cy="333375"/>
          </a:xfrm>
          <a:prstGeom prst="rect">
            <a:avLst/>
          </a:prstGeom>
          <a:noFill/>
          <a:ln w="0">
            <a:noFill/>
          </a:ln>
        </p:spPr>
        <p:txBody>
          <a:bodyPr lIns="57150" tIns="38100" rIns="57150" bIns="38100" anchor="ctr">
            <a:noAutofit/>
          </a:bodyPr>
          <a:lstStyle/>
          <a:p>
            <a:pPr algn="ctr" rtl="1">
              <a:defRPr sz="2000" b="1">
                <a:solidFill>
                  <a:srgbClr val="173E5A"/>
                </a:solidFill>
                <a:latin typeface="B Zar"/>
                <a:ea typeface="B Zar"/>
                <a:cs typeface="B Zar"/>
              </a:defRPr>
            </a:pPr>
            <a:r>
              <a:rPr lang="fa-IR" altLang="fa-IR" sz="2000" dirty="0" smtClean="0">
                <a:solidFill>
                  <a:srgbClr val="173E5A"/>
                </a:solidFill>
                <a:latin typeface="B Zar"/>
                <a:ea typeface="B Zar"/>
                <a:cs typeface="B Zar"/>
              </a:rPr>
              <a:t>توزیع شرایط محیطی</a:t>
            </a:r>
            <a:endParaRPr lang="fa-IR" altLang="fa-IR" sz="2000" dirty="0">
              <a:solidFill>
                <a:srgbClr val="173E5A"/>
              </a:solidFill>
              <a:latin typeface="B Zar"/>
              <a:ea typeface="B Zar"/>
              <a:cs typeface="B Zar"/>
            </a:endParaRPr>
          </a:p>
        </p:txBody>
      </p:sp>
      <p:sp>
        <p:nvSpPr>
          <p:cNvPr id="5" name="کد تجمیع شرایط محیطی"/>
          <p:cNvSpPr txBox="1"/>
          <p:nvPr/>
        </p:nvSpPr>
        <p:spPr>
          <a:xfrm>
            <a:off x="6905393" y="1790751"/>
            <a:ext cx="3801936" cy="1938992"/>
          </a:xfrm>
          <a:prstGeom prst="rect">
            <a:avLst/>
          </a:prstGeom>
          <a:noFill/>
        </p:spPr>
        <p:txBody>
          <a:bodyPr vert="horz" wrap="square" lIns="0" tIns="0" rIns="0" bIns="0" rtlCol="0">
            <a:spAutoFit/>
          </a:bodyPr>
          <a:lstStyle/>
          <a:p>
            <a:r>
              <a:rPr lang="en-US" dirty="0" smtClean="0">
                <a:solidFill>
                  <a:srgbClr val="1E3444"/>
                </a:solidFill>
                <a:latin typeface="Times New Roman" panose="02020603050405020304" pitchFamily="18" charset="0"/>
              </a:rPr>
              <a:t>S = {s: analyze(s) for s in SPLITS}</a:t>
            </a:r>
          </a:p>
          <a:p>
            <a:r>
              <a:rPr lang="en-US" dirty="0" smtClean="0">
                <a:solidFill>
                  <a:srgbClr val="1E3444"/>
                </a:solidFill>
                <a:latin typeface="Times New Roman" panose="02020603050405020304" pitchFamily="18" charset="0"/>
              </a:rPr>
              <a:t>counts = Counter()</a:t>
            </a:r>
          </a:p>
          <a:p>
            <a:r>
              <a:rPr lang="en-US" dirty="0" smtClean="0">
                <a:solidFill>
                  <a:srgbClr val="1E3444"/>
                </a:solidFill>
                <a:latin typeface="Times New Roman" panose="02020603050405020304" pitchFamily="18" charset="0"/>
              </a:rPr>
              <a:t>for s in SPLITS:</a:t>
            </a:r>
          </a:p>
          <a:p>
            <a:r>
              <a:rPr lang="en-US" dirty="0" smtClean="0">
                <a:solidFill>
                  <a:srgbClr val="1E3444"/>
                </a:solidFill>
                <a:latin typeface="Times New Roman" panose="02020603050405020304" pitchFamily="18" charset="0"/>
              </a:rPr>
              <a:t>    </a:t>
            </a:r>
            <a:r>
              <a:rPr lang="en-US" dirty="0" err="1" smtClean="0">
                <a:solidFill>
                  <a:srgbClr val="1E3444"/>
                </a:solidFill>
                <a:latin typeface="Times New Roman" panose="02020603050405020304" pitchFamily="18" charset="0"/>
              </a:rPr>
              <a:t>counts.update</a:t>
            </a:r>
            <a:r>
              <a:rPr lang="en-US" dirty="0" smtClean="0">
                <a:solidFill>
                  <a:srgbClr val="1E3444"/>
                </a:solidFill>
                <a:latin typeface="Times New Roman" panose="02020603050405020304" pitchFamily="18" charset="0"/>
              </a:rPr>
              <a:t>(S[s]["</a:t>
            </a:r>
            <a:r>
              <a:rPr lang="en-US" dirty="0" err="1" smtClean="0">
                <a:solidFill>
                  <a:srgbClr val="1E3444"/>
                </a:solidFill>
                <a:latin typeface="Times New Roman" panose="02020603050405020304" pitchFamily="18" charset="0"/>
              </a:rPr>
              <a:t>cond</a:t>
            </a:r>
            <a:r>
              <a:rPr lang="en-US" dirty="0" smtClean="0">
                <a:solidFill>
                  <a:srgbClr val="1E3444"/>
                </a:solidFill>
                <a:latin typeface="Times New Roman" panose="02020603050405020304" pitchFamily="18" charset="0"/>
              </a:rPr>
              <a:t>"])</a:t>
            </a:r>
          </a:p>
          <a:p>
            <a:r>
              <a:rPr lang="en-US" dirty="0" smtClean="0">
                <a:solidFill>
                  <a:srgbClr val="1E3444"/>
                </a:solidFill>
                <a:latin typeface="Times New Roman" panose="02020603050405020304" pitchFamily="18" charset="0"/>
              </a:rPr>
              <a:t>total = sum(</a:t>
            </a:r>
            <a:r>
              <a:rPr lang="en-US" dirty="0" err="1" smtClean="0">
                <a:solidFill>
                  <a:srgbClr val="1E3444"/>
                </a:solidFill>
                <a:latin typeface="Times New Roman" panose="02020603050405020304" pitchFamily="18" charset="0"/>
              </a:rPr>
              <a:t>counts.values</a:t>
            </a:r>
            <a:r>
              <a:rPr lang="en-US" dirty="0" smtClean="0">
                <a:solidFill>
                  <a:srgbClr val="1E3444"/>
                </a:solidFill>
                <a:latin typeface="Times New Roman" panose="02020603050405020304" pitchFamily="18" charset="0"/>
              </a:rPr>
              <a:t>())</a:t>
            </a:r>
          </a:p>
          <a:p>
            <a:r>
              <a:rPr lang="en-US" dirty="0" smtClean="0">
                <a:solidFill>
                  <a:srgbClr val="1E3444"/>
                </a:solidFill>
                <a:latin typeface="Times New Roman" panose="02020603050405020304" pitchFamily="18" charset="0"/>
              </a:rPr>
              <a:t>for c, n in </a:t>
            </a:r>
            <a:r>
              <a:rPr lang="en-US" dirty="0" err="1" smtClean="0">
                <a:solidFill>
                  <a:srgbClr val="1E3444"/>
                </a:solidFill>
                <a:latin typeface="Times New Roman" panose="02020603050405020304" pitchFamily="18" charset="0"/>
              </a:rPr>
              <a:t>counts.items</a:t>
            </a:r>
            <a:r>
              <a:rPr lang="en-US" dirty="0" smtClean="0">
                <a:solidFill>
                  <a:srgbClr val="1E3444"/>
                </a:solidFill>
                <a:latin typeface="Times New Roman" panose="02020603050405020304" pitchFamily="18" charset="0"/>
              </a:rPr>
              <a:t>():</a:t>
            </a:r>
          </a:p>
          <a:p>
            <a:r>
              <a:rPr lang="en-US" dirty="0" smtClean="0">
                <a:solidFill>
                  <a:srgbClr val="1E3444"/>
                </a:solidFill>
                <a:latin typeface="Times New Roman" panose="02020603050405020304" pitchFamily="18" charset="0"/>
              </a:rPr>
              <a:t>    print(c, round(100*n/total, 1))</a:t>
            </a:r>
            <a:endParaRPr lang="en-US" dirty="0">
              <a:solidFill>
                <a:srgbClr val="1E3444"/>
              </a:solidFill>
              <a:latin typeface="Times New Roman" panose="02020603050405020304" pitchFamily="18" charset="0"/>
            </a:endParaRPr>
          </a:p>
        </p:txBody>
      </p:sp>
      <p:sp>
        <p:nvSpPr>
          <p:cNvPr id="17" name="Round Same Side Corner Rectangle 16"/>
          <p:cNvSpPr/>
          <p:nvPr/>
        </p:nvSpPr>
        <p:spPr>
          <a:xfrm>
            <a:off x="6492240" y="1111283"/>
            <a:ext cx="5189220" cy="474099"/>
          </a:xfrm>
          <a:prstGeom prst="round2Same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p:cNvSpPr txBox="1"/>
          <p:nvPr/>
        </p:nvSpPr>
        <p:spPr>
          <a:xfrm>
            <a:off x="4011561" y="1667221"/>
            <a:ext cx="184731" cy="369332"/>
          </a:xfrm>
          <a:prstGeom prst="rect">
            <a:avLst/>
          </a:prstGeom>
          <a:noFill/>
        </p:spPr>
        <p:txBody>
          <a:bodyPr wrap="none" rtlCol="0">
            <a:spAutoFit/>
          </a:bodyPr>
          <a:lstStyle/>
          <a:p>
            <a:endParaRPr lang="en-US" dirty="0"/>
          </a:p>
        </p:txBody>
      </p:sp>
      <p:sp>
        <p:nvSpPr>
          <p:cNvPr id="20" name="TextBox 19"/>
          <p:cNvSpPr txBox="1"/>
          <p:nvPr/>
        </p:nvSpPr>
        <p:spPr>
          <a:xfrm>
            <a:off x="6580928" y="1144420"/>
            <a:ext cx="2663871" cy="707886"/>
          </a:xfrm>
          <a:prstGeom prst="rect">
            <a:avLst/>
          </a:prstGeom>
          <a:noFill/>
        </p:spPr>
        <p:txBody>
          <a:bodyPr wrap="none" rtlCol="0">
            <a:spAutoFit/>
          </a:bodyPr>
          <a:lstStyle/>
          <a:p>
            <a:r>
              <a:rPr lang="en-US" sz="2000" dirty="0">
                <a:solidFill>
                  <a:schemeClr val="bg1"/>
                </a:solidFill>
                <a:latin typeface="Times New Roman" panose="02020603050405020304" pitchFamily="18" charset="0"/>
              </a:rPr>
              <a:t>compute_v5_validity.py</a:t>
            </a:r>
            <a:endParaRPr lang="en-US" sz="2000" dirty="0">
              <a:solidFill>
                <a:schemeClr val="bg1"/>
              </a:solidFill>
            </a:endParaRPr>
          </a:p>
          <a:p>
            <a:endParaRPr lang="en-US" sz="2000" dirty="0"/>
          </a:p>
        </p:txBody>
      </p:sp>
      <p:sp>
        <p:nvSpPr>
          <p:cNvPr id="22" name="Down Arrow 21"/>
          <p:cNvSpPr/>
          <p:nvPr/>
        </p:nvSpPr>
        <p:spPr>
          <a:xfrm>
            <a:off x="8820140" y="4056735"/>
            <a:ext cx="533418" cy="549558"/>
          </a:xfrm>
          <a:prstGeom prst="downArrow">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جدول سهم شرایط محیطی از کل تصاویر"/>
          <p:cNvGraphicFramePr>
            <a:graphicFrameLocks noGrp="1"/>
          </p:cNvGraphicFramePr>
          <p:nvPr>
            <p:extLst>
              <p:ext uri="{D42A27DB-BD31-4B8C-83A1-F6EECF244321}">
                <p14:modId xmlns:p14="http://schemas.microsoft.com/office/powerpoint/2010/main" val="2844681220"/>
              </p:ext>
            </p:extLst>
          </p:nvPr>
        </p:nvGraphicFramePr>
        <p:xfrm>
          <a:off x="6336646" y="4614279"/>
          <a:ext cx="5500407" cy="2041240"/>
        </p:xfrm>
        <a:graphic>
          <a:graphicData uri="http://schemas.openxmlformats.org/drawingml/2006/table">
            <a:tbl>
              <a:tblPr firstRow="1" bandRow="1">
                <a:tableStyleId>{5C22544A-7EE6-4342-B048-85BDC9FD1C3A}</a:tableStyleId>
              </a:tblPr>
              <a:tblGrid>
                <a:gridCol w="1833469">
                  <a:extLst>
                    <a:ext uri="{9D8B030D-6E8A-4147-A177-3AD203B41FA5}">
                      <a16:colId xmlns:a16="http://schemas.microsoft.com/office/drawing/2014/main" val="15579552"/>
                    </a:ext>
                  </a:extLst>
                </a:gridCol>
                <a:gridCol w="1833469">
                  <a:extLst>
                    <a:ext uri="{9D8B030D-6E8A-4147-A177-3AD203B41FA5}">
                      <a16:colId xmlns:a16="http://schemas.microsoft.com/office/drawing/2014/main" val="1457872023"/>
                    </a:ext>
                  </a:extLst>
                </a:gridCol>
                <a:gridCol w="1833469">
                  <a:extLst>
                    <a:ext uri="{9D8B030D-6E8A-4147-A177-3AD203B41FA5}">
                      <a16:colId xmlns:a16="http://schemas.microsoft.com/office/drawing/2014/main" val="1270662150"/>
                    </a:ext>
                  </a:extLst>
                </a:gridCol>
              </a:tblGrid>
              <a:tr h="408248">
                <a:tc>
                  <a:txBody>
                    <a:bodyPr/>
                    <a:lstStyle/>
                    <a:p>
                      <a:pPr algn="ctr"/>
                      <a:r>
                        <a:rPr lang="fa-IR" sz="1900" b="1" dirty="0" smtClean="0">
                          <a:solidFill>
                            <a:srgbClr val="FFFFFF"/>
                          </a:solidFill>
                          <a:cs typeface="B Zar" panose="00000400000000000000" pitchFamily="50" charset="-78"/>
                        </a:rPr>
                        <a:t>سهم از کل تصاویر</a:t>
                      </a:r>
                      <a:endParaRPr lang="en-US" sz="1900" b="1" dirty="0">
                        <a:solidFill>
                          <a:srgbClr val="FFFFFF"/>
                        </a:solidFill>
                        <a:cs typeface="B Zar" panose="00000400000000000000" pitchFamily="50" charset="-78"/>
                      </a:endParaRPr>
                    </a:p>
                  </a:txBody>
                  <a:tcPr marL="27432" marR="27432" marT="0" marB="0" anchor="ctr">
                    <a:lnL w="9525" cap="flat" cmpd="sng" algn="ctr">
                      <a:solidFill>
                        <a:srgbClr val="384852"/>
                      </a:solidFill>
                      <a:prstDash val="solid"/>
                      <a:round/>
                      <a:headEnd type="none" w="med" len="med"/>
                      <a:tailEnd type="none" w="med" len="med"/>
                    </a:lnL>
                    <a:lnR w="9525" cmpd="sng">
                      <a:solidFill>
                        <a:srgbClr val="384852"/>
                      </a:solidFill>
                    </a:lnR>
                    <a:lnT w="9525" cmpd="sng">
                      <a:solidFill>
                        <a:srgbClr val="384852"/>
                      </a:solidFill>
                    </a:lnT>
                    <a:lnB w="9525" cap="flat" cmpd="sng" algn="ctr">
                      <a:solidFill>
                        <a:srgbClr val="384852"/>
                      </a:solidFill>
                      <a:prstDash val="solid"/>
                      <a:round/>
                      <a:headEnd type="none" w="med" len="med"/>
                      <a:tailEnd type="none" w="med" len="med"/>
                    </a:lnB>
                    <a:solidFill>
                      <a:srgbClr val="104966"/>
                    </a:solidFill>
                  </a:tcPr>
                </a:tc>
                <a:tc>
                  <a:txBody>
                    <a:bodyPr/>
                    <a:lstStyle/>
                    <a:p>
                      <a:pPr algn="ctr"/>
                      <a:r>
                        <a:rPr lang="fa-IR" sz="1900" b="1" dirty="0" smtClean="0">
                          <a:solidFill>
                            <a:srgbClr val="FFFFFF"/>
                          </a:solidFill>
                          <a:cs typeface="B Zar" panose="00000400000000000000" pitchFamily="50" charset="-78"/>
                        </a:rPr>
                        <a:t>تعداد تصاویر</a:t>
                      </a:r>
                      <a:endParaRPr lang="en-US" sz="1900" b="1" dirty="0">
                        <a:solidFill>
                          <a:srgbClr val="FFFFFF"/>
                        </a:solidFill>
                        <a:cs typeface="B Zar" panose="00000400000000000000" pitchFamily="50" charset="-78"/>
                      </a:endParaRPr>
                    </a:p>
                  </a:txBody>
                  <a:tcPr marL="27432" marR="27432" marT="0" marB="0" anchor="ctr">
                    <a:lnL w="9525" cmpd="sng">
                      <a:solidFill>
                        <a:srgbClr val="384852"/>
                      </a:solidFill>
                    </a:lnL>
                    <a:lnR w="9525" cap="flat" cmpd="sng" algn="ctr">
                      <a:solidFill>
                        <a:srgbClr val="384852"/>
                      </a:solidFill>
                      <a:prstDash val="solid"/>
                      <a:round/>
                      <a:headEnd type="none" w="med" len="med"/>
                      <a:tailEnd type="none" w="med" len="med"/>
                    </a:lnR>
                    <a:lnT w="9525" cmpd="sng">
                      <a:solidFill>
                        <a:srgbClr val="384852"/>
                      </a:solidFill>
                    </a:lnT>
                    <a:lnB w="9525" cap="flat" cmpd="sng" algn="ctr">
                      <a:solidFill>
                        <a:srgbClr val="384852"/>
                      </a:solidFill>
                      <a:prstDash val="solid"/>
                      <a:round/>
                      <a:headEnd type="none" w="med" len="med"/>
                      <a:tailEnd type="none" w="med" len="med"/>
                    </a:lnB>
                    <a:solidFill>
                      <a:srgbClr val="104966"/>
                    </a:solidFill>
                  </a:tcPr>
                </a:tc>
                <a:tc>
                  <a:txBody>
                    <a:bodyPr/>
                    <a:lstStyle/>
                    <a:p>
                      <a:pPr algn="ctr"/>
                      <a:r>
                        <a:rPr lang="fa-IR" sz="1900" b="1" dirty="0" smtClean="0">
                          <a:solidFill>
                            <a:srgbClr val="FFFFFF"/>
                          </a:solidFill>
                          <a:cs typeface="B Zar" panose="00000400000000000000" pitchFamily="50" charset="-78"/>
                        </a:rPr>
                        <a:t>شرایط</a:t>
                      </a:r>
                      <a:r>
                        <a:rPr lang="fa-IR" sz="1900" b="1" baseline="0" dirty="0" smtClean="0">
                          <a:solidFill>
                            <a:srgbClr val="FFFFFF"/>
                          </a:solidFill>
                          <a:cs typeface="B Zar" panose="00000400000000000000" pitchFamily="50" charset="-78"/>
                        </a:rPr>
                        <a:t> محیطی</a:t>
                      </a:r>
                      <a:endParaRPr lang="en-US" sz="1900" b="1" dirty="0">
                        <a:solidFill>
                          <a:srgbClr val="FFFFFF"/>
                        </a:solidFill>
                        <a:cs typeface="B Zar" panose="00000400000000000000" pitchFamily="50" charset="-78"/>
                      </a:endParaRPr>
                    </a:p>
                  </a:txBody>
                  <a:tcPr marL="27432" marR="27432" marT="0" marB="0" anchor="ctr">
                    <a:lnL w="9525" cmpd="sng">
                      <a:solidFill>
                        <a:srgbClr val="384852"/>
                      </a:solidFill>
                    </a:lnL>
                    <a:lnR w="9525" cmpd="sng">
                      <a:solidFill>
                        <a:srgbClr val="384852"/>
                      </a:solidFill>
                    </a:lnR>
                    <a:lnT w="9525" cmpd="sng">
                      <a:solidFill>
                        <a:srgbClr val="384852"/>
                      </a:solidFill>
                    </a:lnT>
                    <a:lnB w="9525" cmpd="sng">
                      <a:solidFill>
                        <a:srgbClr val="384852"/>
                      </a:solidFill>
                    </a:lnB>
                    <a:solidFill>
                      <a:srgbClr val="104966"/>
                    </a:solidFill>
                  </a:tcPr>
                </a:tc>
                <a:extLst>
                  <a:ext uri="{0D108BD9-81ED-4DB2-BD59-A6C34878D82A}">
                    <a16:rowId xmlns:a16="http://schemas.microsoft.com/office/drawing/2014/main" val="161541530"/>
                  </a:ext>
                </a:extLst>
              </a:tr>
              <a:tr h="408248">
                <a:tc>
                  <a:txBody>
                    <a:bodyPr/>
                    <a:lstStyle/>
                    <a:p>
                      <a:pPr algn="ctr"/>
                      <a:r>
                        <a:rPr lang="fa-IR" sz="1900" dirty="0" smtClean="0">
                          <a:solidFill>
                            <a:srgbClr val="19384E"/>
                          </a:solidFill>
                          <a:cs typeface="B Zar" panose="00000400000000000000" pitchFamily="50" charset="-78"/>
                        </a:rPr>
                        <a:t>۸۱٫۰٪</a:t>
                      </a:r>
                      <a:endParaRPr lang="en-US" sz="1900" dirty="0">
                        <a:solidFill>
                          <a:srgbClr val="19384E"/>
                        </a:solidFill>
                        <a:cs typeface="B Zar" panose="00000400000000000000" pitchFamily="50" charset="-78"/>
                      </a:endParaRPr>
                    </a:p>
                  </a:txBody>
                  <a:tcPr marL="27432" marR="27432" marT="0" marB="0" anchor="ctr">
                    <a:lnL w="9525" cap="flat" cmpd="sng" algn="ctr">
                      <a:solidFill>
                        <a:srgbClr val="384852"/>
                      </a:solidFill>
                      <a:prstDash val="solid"/>
                      <a:round/>
                      <a:headEnd type="none" w="med" len="med"/>
                      <a:tailEnd type="none" w="med" len="med"/>
                    </a:lnL>
                    <a:lnR w="9525" cmpd="sng">
                      <a:solidFill>
                        <a:srgbClr val="384852"/>
                      </a:solidFill>
                    </a:lnR>
                    <a:lnT w="9525" cap="flat" cmpd="sng" algn="ctr">
                      <a:solidFill>
                        <a:srgbClr val="384852"/>
                      </a:solidFill>
                      <a:prstDash val="solid"/>
                      <a:round/>
                      <a:headEnd type="none" w="med" len="med"/>
                      <a:tailEnd type="none" w="med" len="med"/>
                    </a:lnT>
                    <a:lnB w="9525" cap="flat" cmpd="sng" algn="ctr">
                      <a:solidFill>
                        <a:srgbClr val="384852"/>
                      </a:solidFill>
                      <a:prstDash val="solid"/>
                      <a:round/>
                      <a:headEnd type="none" w="med" len="med"/>
                      <a:tailEnd type="none" w="med" len="med"/>
                    </a:lnB>
                    <a:solidFill>
                      <a:srgbClr val="FFFFFF"/>
                    </a:solidFill>
                  </a:tcPr>
                </a:tc>
                <a:tc>
                  <a:txBody>
                    <a:bodyPr/>
                    <a:lstStyle/>
                    <a:p>
                      <a:pPr algn="ctr"/>
                      <a:r>
                        <a:rPr lang="fa-IR" sz="1900" b="1" dirty="0" smtClean="0">
                          <a:solidFill>
                            <a:srgbClr val="19384E"/>
                          </a:solidFill>
                          <a:cs typeface="B Zar" panose="00000400000000000000" pitchFamily="50" charset="-78"/>
                        </a:rPr>
                        <a:t>30</a:t>
                      </a:r>
                      <a:r>
                        <a:rPr lang="fa-IR" altLang="fa-IR" sz="1900" dirty="0" smtClean="0">
                          <a:solidFill>
                            <a:srgbClr val="17232C"/>
                          </a:solidFill>
                          <a:latin typeface="B Zar"/>
                          <a:ea typeface="B Zar"/>
                          <a:cs typeface="B Zar"/>
                        </a:rPr>
                        <a:t>٬067</a:t>
                      </a:r>
                      <a:endParaRPr lang="en-US" sz="1900" b="1" dirty="0">
                        <a:solidFill>
                          <a:srgbClr val="19384E"/>
                        </a:solidFill>
                        <a:cs typeface="B Zar" panose="00000400000000000000" pitchFamily="50" charset="-78"/>
                      </a:endParaRPr>
                    </a:p>
                  </a:txBody>
                  <a:tcPr marL="27432" marR="27432" marT="0" marB="0" anchor="ctr">
                    <a:lnL w="9525" cmpd="sng">
                      <a:solidFill>
                        <a:srgbClr val="384852"/>
                      </a:solidFill>
                    </a:lnL>
                    <a:lnR w="9525" cap="flat" cmpd="sng" algn="ctr">
                      <a:solidFill>
                        <a:srgbClr val="384852"/>
                      </a:solidFill>
                      <a:prstDash val="solid"/>
                      <a:round/>
                      <a:headEnd type="none" w="med" len="med"/>
                      <a:tailEnd type="none" w="med" len="med"/>
                    </a:lnR>
                    <a:lnT w="9525" cap="flat" cmpd="sng" algn="ctr">
                      <a:solidFill>
                        <a:srgbClr val="384852"/>
                      </a:solidFill>
                      <a:prstDash val="solid"/>
                      <a:round/>
                      <a:headEnd type="none" w="med" len="med"/>
                      <a:tailEnd type="none" w="med" len="med"/>
                    </a:lnT>
                    <a:lnB w="9525" cap="flat" cmpd="sng" algn="ctr">
                      <a:solidFill>
                        <a:srgbClr val="384852"/>
                      </a:solidFill>
                      <a:prstDash val="solid"/>
                      <a:round/>
                      <a:headEnd type="none" w="med" len="med"/>
                      <a:tailEnd type="none" w="med" len="med"/>
                    </a:lnB>
                    <a:solidFill>
                      <a:schemeClr val="bg1"/>
                    </a:solidFill>
                  </a:tcPr>
                </a:tc>
                <a:tc>
                  <a:txBody>
                    <a:bodyPr/>
                    <a:lstStyle/>
                    <a:p>
                      <a:pPr algn="ctr"/>
                      <a:r>
                        <a:rPr lang="fa-IR" sz="1900" b="1" dirty="0" smtClean="0">
                          <a:solidFill>
                            <a:srgbClr val="19384E"/>
                          </a:solidFill>
                          <a:cs typeface="B Zar" panose="00000400000000000000" pitchFamily="50" charset="-78"/>
                        </a:rPr>
                        <a:t>روز</a:t>
                      </a:r>
                      <a:endParaRPr lang="en-US" sz="1900" b="1" dirty="0">
                        <a:solidFill>
                          <a:srgbClr val="19384E"/>
                        </a:solidFill>
                        <a:cs typeface="B Zar" panose="00000400000000000000" pitchFamily="50" charset="-78"/>
                      </a:endParaRPr>
                    </a:p>
                  </a:txBody>
                  <a:tcPr marL="27432" marR="27432" marT="0" marB="0" anchor="ctr">
                    <a:lnL w="9525" cmpd="sng">
                      <a:solidFill>
                        <a:srgbClr val="384852"/>
                      </a:solidFill>
                    </a:lnL>
                    <a:lnR w="9525" cmpd="sng">
                      <a:solidFill>
                        <a:srgbClr val="384852"/>
                      </a:solidFill>
                    </a:lnR>
                    <a:lnT w="9525" cmpd="sng">
                      <a:solidFill>
                        <a:srgbClr val="384852"/>
                      </a:solidFill>
                    </a:lnT>
                    <a:lnB w="9525" cmpd="sng">
                      <a:solidFill>
                        <a:srgbClr val="384852"/>
                      </a:solidFill>
                    </a:lnB>
                    <a:solidFill>
                      <a:srgbClr val="CFE5F0"/>
                    </a:solidFill>
                  </a:tcPr>
                </a:tc>
                <a:extLst>
                  <a:ext uri="{0D108BD9-81ED-4DB2-BD59-A6C34878D82A}">
                    <a16:rowId xmlns:a16="http://schemas.microsoft.com/office/drawing/2014/main" val="2927307412"/>
                  </a:ext>
                </a:extLst>
              </a:tr>
              <a:tr h="408248">
                <a:tc>
                  <a:txBody>
                    <a:bodyPr/>
                    <a:lstStyle/>
                    <a:p>
                      <a:pPr algn="ctr"/>
                      <a:r>
                        <a:rPr lang="fa-IR" sz="1900" dirty="0" smtClean="0">
                          <a:solidFill>
                            <a:srgbClr val="19384E"/>
                          </a:solidFill>
                          <a:cs typeface="B Zar" panose="00000400000000000000" pitchFamily="50" charset="-78"/>
                        </a:rPr>
                        <a:t>۸٫۸٪</a:t>
                      </a:r>
                      <a:endParaRPr lang="en-US" sz="1900" dirty="0">
                        <a:solidFill>
                          <a:srgbClr val="19384E"/>
                        </a:solidFill>
                        <a:cs typeface="B Zar" panose="00000400000000000000" pitchFamily="50" charset="-78"/>
                      </a:endParaRPr>
                    </a:p>
                  </a:txBody>
                  <a:tcPr marL="27432" marR="27432" marT="0" marB="0" anchor="ctr">
                    <a:lnL w="9525" cap="flat" cmpd="sng" algn="ctr">
                      <a:solidFill>
                        <a:srgbClr val="384852"/>
                      </a:solidFill>
                      <a:prstDash val="solid"/>
                      <a:round/>
                      <a:headEnd type="none" w="med" len="med"/>
                      <a:tailEnd type="none" w="med" len="med"/>
                    </a:lnL>
                    <a:lnR w="9525" cmpd="sng">
                      <a:solidFill>
                        <a:srgbClr val="384852"/>
                      </a:solidFill>
                    </a:lnR>
                    <a:lnT w="9525" cap="flat" cmpd="sng" algn="ctr">
                      <a:solidFill>
                        <a:srgbClr val="384852"/>
                      </a:solidFill>
                      <a:prstDash val="solid"/>
                      <a:round/>
                      <a:headEnd type="none" w="med" len="med"/>
                      <a:tailEnd type="none" w="med" len="med"/>
                    </a:lnT>
                    <a:lnB w="9525" cap="flat" cmpd="sng" algn="ctr">
                      <a:solidFill>
                        <a:srgbClr val="384852"/>
                      </a:solidFill>
                      <a:prstDash val="solid"/>
                      <a:round/>
                      <a:headEnd type="none" w="med" len="med"/>
                      <a:tailEnd type="none" w="med" len="med"/>
                    </a:lnB>
                    <a:solidFill>
                      <a:srgbClr val="FFFFFF"/>
                    </a:solidFill>
                  </a:tcPr>
                </a:tc>
                <a:tc>
                  <a:txBody>
                    <a:bodyPr/>
                    <a:lstStyle/>
                    <a:p>
                      <a:pPr algn="ctr"/>
                      <a:r>
                        <a:rPr lang="fa-IR" sz="1900" b="1" dirty="0" smtClean="0">
                          <a:solidFill>
                            <a:srgbClr val="19384E"/>
                          </a:solidFill>
                          <a:cs typeface="B Zar" panose="00000400000000000000" pitchFamily="50" charset="-78"/>
                        </a:rPr>
                        <a:t>3</a:t>
                      </a:r>
                      <a:r>
                        <a:rPr lang="fa-IR" altLang="fa-IR" sz="1900" dirty="0" smtClean="0">
                          <a:solidFill>
                            <a:srgbClr val="17232C"/>
                          </a:solidFill>
                          <a:latin typeface="B Zar"/>
                          <a:ea typeface="B Zar"/>
                          <a:cs typeface="B Zar"/>
                        </a:rPr>
                        <a:t>٬285</a:t>
                      </a:r>
                      <a:endParaRPr lang="en-US" sz="1900" b="1" dirty="0">
                        <a:solidFill>
                          <a:srgbClr val="19384E"/>
                        </a:solidFill>
                        <a:cs typeface="B Zar" panose="00000400000000000000" pitchFamily="50" charset="-78"/>
                      </a:endParaRPr>
                    </a:p>
                  </a:txBody>
                  <a:tcPr marL="27432" marR="27432" marT="0" marB="0" anchor="ctr">
                    <a:lnL w="9525" cmpd="sng">
                      <a:solidFill>
                        <a:srgbClr val="384852"/>
                      </a:solidFill>
                    </a:lnL>
                    <a:lnR w="9525" cap="flat" cmpd="sng" algn="ctr">
                      <a:solidFill>
                        <a:srgbClr val="384852"/>
                      </a:solidFill>
                      <a:prstDash val="solid"/>
                      <a:round/>
                      <a:headEnd type="none" w="med" len="med"/>
                      <a:tailEnd type="none" w="med" len="med"/>
                    </a:lnR>
                    <a:lnT w="9525" cap="flat" cmpd="sng" algn="ctr">
                      <a:solidFill>
                        <a:srgbClr val="384852"/>
                      </a:solidFill>
                      <a:prstDash val="solid"/>
                      <a:round/>
                      <a:headEnd type="none" w="med" len="med"/>
                      <a:tailEnd type="none" w="med" len="med"/>
                    </a:lnT>
                    <a:lnB w="9525" cap="flat" cmpd="sng" algn="ctr">
                      <a:solidFill>
                        <a:srgbClr val="384852"/>
                      </a:solidFill>
                      <a:prstDash val="solid"/>
                      <a:round/>
                      <a:headEnd type="none" w="med" len="med"/>
                      <a:tailEnd type="none" w="med" len="med"/>
                    </a:lnB>
                    <a:solidFill>
                      <a:schemeClr val="bg1"/>
                    </a:solidFill>
                  </a:tcPr>
                </a:tc>
                <a:tc>
                  <a:txBody>
                    <a:bodyPr/>
                    <a:lstStyle/>
                    <a:p>
                      <a:pPr algn="ctr"/>
                      <a:r>
                        <a:rPr lang="fa-IR" sz="1900" b="1" smtClean="0">
                          <a:solidFill>
                            <a:srgbClr val="19384E"/>
                          </a:solidFill>
                          <a:cs typeface="B Zar" panose="00000400000000000000" pitchFamily="50" charset="-78"/>
                        </a:rPr>
                        <a:t>شب</a:t>
                      </a:r>
                      <a:endParaRPr lang="en-US" sz="1900" b="1">
                        <a:solidFill>
                          <a:srgbClr val="19384E"/>
                        </a:solidFill>
                        <a:cs typeface="B Zar" panose="00000400000000000000" pitchFamily="50" charset="-78"/>
                      </a:endParaRPr>
                    </a:p>
                  </a:txBody>
                  <a:tcPr marL="27432" marR="27432" marT="0" marB="0" anchor="ctr">
                    <a:lnL w="9525" cmpd="sng">
                      <a:solidFill>
                        <a:srgbClr val="384852"/>
                      </a:solidFill>
                    </a:lnL>
                    <a:lnR w="9525" cmpd="sng">
                      <a:solidFill>
                        <a:srgbClr val="384852"/>
                      </a:solidFill>
                    </a:lnR>
                    <a:lnT w="9525" cmpd="sng">
                      <a:solidFill>
                        <a:srgbClr val="384852"/>
                      </a:solidFill>
                    </a:lnT>
                    <a:lnB w="9525" cmpd="sng">
                      <a:solidFill>
                        <a:srgbClr val="384852"/>
                      </a:solidFill>
                    </a:lnB>
                    <a:solidFill>
                      <a:srgbClr val="CFE5F0"/>
                    </a:solidFill>
                  </a:tcPr>
                </a:tc>
                <a:extLst>
                  <a:ext uri="{0D108BD9-81ED-4DB2-BD59-A6C34878D82A}">
                    <a16:rowId xmlns:a16="http://schemas.microsoft.com/office/drawing/2014/main" val="3703672575"/>
                  </a:ext>
                </a:extLst>
              </a:tr>
              <a:tr h="408248">
                <a:tc>
                  <a:txBody>
                    <a:bodyPr/>
                    <a:lstStyle/>
                    <a:p>
                      <a:pPr algn="ctr"/>
                      <a:r>
                        <a:rPr lang="fa-IR" sz="1900" dirty="0" smtClean="0">
                          <a:solidFill>
                            <a:srgbClr val="19384E"/>
                          </a:solidFill>
                          <a:cs typeface="B Zar" panose="00000400000000000000" pitchFamily="50" charset="-78"/>
                        </a:rPr>
                        <a:t>۸٫۸٪</a:t>
                      </a:r>
                      <a:endParaRPr lang="en-US" sz="1900" dirty="0">
                        <a:solidFill>
                          <a:srgbClr val="19384E"/>
                        </a:solidFill>
                        <a:cs typeface="B Zar" panose="00000400000000000000" pitchFamily="50" charset="-78"/>
                      </a:endParaRPr>
                    </a:p>
                  </a:txBody>
                  <a:tcPr marL="27432" marR="27432" marT="0" marB="0" anchor="ctr">
                    <a:lnL w="9525" cap="flat" cmpd="sng" algn="ctr">
                      <a:solidFill>
                        <a:srgbClr val="384852"/>
                      </a:solidFill>
                      <a:prstDash val="solid"/>
                      <a:round/>
                      <a:headEnd type="none" w="med" len="med"/>
                      <a:tailEnd type="none" w="med" len="med"/>
                    </a:lnL>
                    <a:lnR w="9525" cmpd="sng">
                      <a:solidFill>
                        <a:srgbClr val="384852"/>
                      </a:solidFill>
                    </a:lnR>
                    <a:lnT w="9525" cap="flat" cmpd="sng" algn="ctr">
                      <a:solidFill>
                        <a:srgbClr val="384852"/>
                      </a:solidFill>
                      <a:prstDash val="solid"/>
                      <a:round/>
                      <a:headEnd type="none" w="med" len="med"/>
                      <a:tailEnd type="none" w="med" len="med"/>
                    </a:lnT>
                    <a:lnB w="9525" cap="flat" cmpd="sng" algn="ctr">
                      <a:solidFill>
                        <a:srgbClr val="384852"/>
                      </a:solidFill>
                      <a:prstDash val="solid"/>
                      <a:round/>
                      <a:headEnd type="none" w="med" len="med"/>
                      <a:tailEnd type="none" w="med" len="med"/>
                    </a:lnB>
                    <a:solidFill>
                      <a:srgbClr val="FFFFFF"/>
                    </a:solidFill>
                  </a:tcPr>
                </a:tc>
                <a:tc>
                  <a:txBody>
                    <a:bodyPr/>
                    <a:lstStyle/>
                    <a:p>
                      <a:pPr algn="ctr"/>
                      <a:r>
                        <a:rPr lang="fa-IR" sz="1900" b="1" dirty="0" smtClean="0">
                          <a:solidFill>
                            <a:srgbClr val="19384E"/>
                          </a:solidFill>
                          <a:cs typeface="B Zar" panose="00000400000000000000" pitchFamily="50" charset="-78"/>
                        </a:rPr>
                        <a:t>3</a:t>
                      </a:r>
                      <a:r>
                        <a:rPr lang="fa-IR" altLang="fa-IR" sz="1900" dirty="0" smtClean="0">
                          <a:solidFill>
                            <a:srgbClr val="17232C"/>
                          </a:solidFill>
                          <a:latin typeface="B Zar"/>
                          <a:ea typeface="B Zar"/>
                          <a:cs typeface="B Zar"/>
                        </a:rPr>
                        <a:t>٬276</a:t>
                      </a:r>
                      <a:endParaRPr lang="en-US" sz="1900" b="1" dirty="0">
                        <a:solidFill>
                          <a:srgbClr val="19384E"/>
                        </a:solidFill>
                        <a:cs typeface="B Zar" panose="00000400000000000000" pitchFamily="50" charset="-78"/>
                      </a:endParaRPr>
                    </a:p>
                  </a:txBody>
                  <a:tcPr marL="27432" marR="27432" marT="0" marB="0" anchor="ctr">
                    <a:lnL w="9525" cmpd="sng">
                      <a:solidFill>
                        <a:srgbClr val="384852"/>
                      </a:solidFill>
                    </a:lnL>
                    <a:lnR w="9525" cap="flat" cmpd="sng" algn="ctr">
                      <a:solidFill>
                        <a:srgbClr val="384852"/>
                      </a:solidFill>
                      <a:prstDash val="solid"/>
                      <a:round/>
                      <a:headEnd type="none" w="med" len="med"/>
                      <a:tailEnd type="none" w="med" len="med"/>
                    </a:lnR>
                    <a:lnT w="9525" cap="flat" cmpd="sng" algn="ctr">
                      <a:solidFill>
                        <a:srgbClr val="384852"/>
                      </a:solidFill>
                      <a:prstDash val="solid"/>
                      <a:round/>
                      <a:headEnd type="none" w="med" len="med"/>
                      <a:tailEnd type="none" w="med" len="med"/>
                    </a:lnT>
                    <a:lnB w="9525" cap="flat" cmpd="sng" algn="ctr">
                      <a:solidFill>
                        <a:srgbClr val="384852"/>
                      </a:solidFill>
                      <a:prstDash val="solid"/>
                      <a:round/>
                      <a:headEnd type="none" w="med" len="med"/>
                      <a:tailEnd type="none" w="med" len="med"/>
                    </a:lnB>
                    <a:solidFill>
                      <a:schemeClr val="bg1"/>
                    </a:solidFill>
                  </a:tcPr>
                </a:tc>
                <a:tc>
                  <a:txBody>
                    <a:bodyPr/>
                    <a:lstStyle/>
                    <a:p>
                      <a:pPr algn="ctr"/>
                      <a:r>
                        <a:rPr lang="fa-IR" sz="1900" b="1" smtClean="0">
                          <a:solidFill>
                            <a:srgbClr val="19384E"/>
                          </a:solidFill>
                          <a:cs typeface="B Zar" panose="00000400000000000000" pitchFamily="50" charset="-78"/>
                        </a:rPr>
                        <a:t>باران</a:t>
                      </a:r>
                      <a:endParaRPr lang="en-US" sz="1900" b="1">
                        <a:solidFill>
                          <a:srgbClr val="19384E"/>
                        </a:solidFill>
                        <a:cs typeface="B Zar" panose="00000400000000000000" pitchFamily="50" charset="-78"/>
                      </a:endParaRPr>
                    </a:p>
                  </a:txBody>
                  <a:tcPr marL="27432" marR="27432" marT="0" marB="0" anchor="ctr">
                    <a:lnL w="9525" cmpd="sng">
                      <a:solidFill>
                        <a:srgbClr val="384852"/>
                      </a:solidFill>
                    </a:lnL>
                    <a:lnR w="9525" cmpd="sng">
                      <a:solidFill>
                        <a:srgbClr val="384852"/>
                      </a:solidFill>
                    </a:lnR>
                    <a:lnT w="9525" cmpd="sng">
                      <a:solidFill>
                        <a:srgbClr val="384852"/>
                      </a:solidFill>
                    </a:lnT>
                    <a:lnB w="9525" cmpd="sng">
                      <a:solidFill>
                        <a:srgbClr val="384852"/>
                      </a:solidFill>
                    </a:lnB>
                    <a:solidFill>
                      <a:srgbClr val="CFE5F0"/>
                    </a:solidFill>
                  </a:tcPr>
                </a:tc>
                <a:extLst>
                  <a:ext uri="{0D108BD9-81ED-4DB2-BD59-A6C34878D82A}">
                    <a16:rowId xmlns:a16="http://schemas.microsoft.com/office/drawing/2014/main" val="1018294226"/>
                  </a:ext>
                </a:extLst>
              </a:tr>
              <a:tr h="408248">
                <a:tc>
                  <a:txBody>
                    <a:bodyPr/>
                    <a:lstStyle/>
                    <a:p>
                      <a:pPr algn="ctr"/>
                      <a:r>
                        <a:rPr lang="fa-IR" sz="1900" dirty="0" smtClean="0">
                          <a:solidFill>
                            <a:srgbClr val="19384E"/>
                          </a:solidFill>
                          <a:cs typeface="B Zar" panose="00000400000000000000" pitchFamily="50" charset="-78"/>
                        </a:rPr>
                        <a:t>۱٫۴٪</a:t>
                      </a:r>
                      <a:endParaRPr lang="en-US" sz="1900" dirty="0">
                        <a:solidFill>
                          <a:srgbClr val="19384E"/>
                        </a:solidFill>
                        <a:cs typeface="B Zar" panose="00000400000000000000" pitchFamily="50" charset="-78"/>
                      </a:endParaRPr>
                    </a:p>
                  </a:txBody>
                  <a:tcPr marL="27432" marR="27432" marT="0" marB="0" anchor="ctr">
                    <a:lnL w="9525" cap="flat" cmpd="sng" algn="ctr">
                      <a:solidFill>
                        <a:srgbClr val="384852"/>
                      </a:solidFill>
                      <a:prstDash val="solid"/>
                      <a:round/>
                      <a:headEnd type="none" w="med" len="med"/>
                      <a:tailEnd type="none" w="med" len="med"/>
                    </a:lnL>
                    <a:lnR w="9525" cmpd="sng">
                      <a:solidFill>
                        <a:srgbClr val="384852"/>
                      </a:solidFill>
                    </a:lnR>
                    <a:lnT w="9525" cap="flat" cmpd="sng" algn="ctr">
                      <a:solidFill>
                        <a:srgbClr val="384852"/>
                      </a:solidFill>
                      <a:prstDash val="solid"/>
                      <a:round/>
                      <a:headEnd type="none" w="med" len="med"/>
                      <a:tailEnd type="none" w="med" len="med"/>
                    </a:lnT>
                    <a:lnB w="9525" cmpd="sng">
                      <a:solidFill>
                        <a:srgbClr val="384852"/>
                      </a:solidFill>
                    </a:lnB>
                    <a:solidFill>
                      <a:srgbClr val="FFFFFF"/>
                    </a:solidFill>
                  </a:tcPr>
                </a:tc>
                <a:tc>
                  <a:txBody>
                    <a:bodyPr/>
                    <a:lstStyle/>
                    <a:p>
                      <a:pPr algn="ctr"/>
                      <a:r>
                        <a:rPr lang="fa-IR" sz="1900" b="1" dirty="0" smtClean="0">
                          <a:solidFill>
                            <a:srgbClr val="19384E"/>
                          </a:solidFill>
                          <a:cs typeface="B Zar" panose="00000400000000000000" pitchFamily="50" charset="-78"/>
                        </a:rPr>
                        <a:t>514</a:t>
                      </a:r>
                      <a:endParaRPr lang="en-US" sz="1900" b="1" dirty="0">
                        <a:solidFill>
                          <a:srgbClr val="19384E"/>
                        </a:solidFill>
                        <a:cs typeface="B Zar" panose="00000400000000000000" pitchFamily="50" charset="-78"/>
                      </a:endParaRPr>
                    </a:p>
                  </a:txBody>
                  <a:tcPr marL="27432" marR="27432" marT="0" marB="0" anchor="ctr">
                    <a:lnL w="9525" cmpd="sng">
                      <a:solidFill>
                        <a:srgbClr val="384852"/>
                      </a:solidFill>
                    </a:lnL>
                    <a:lnR w="9525" cap="flat" cmpd="sng" algn="ctr">
                      <a:solidFill>
                        <a:srgbClr val="384852"/>
                      </a:solidFill>
                      <a:prstDash val="solid"/>
                      <a:round/>
                      <a:headEnd type="none" w="med" len="med"/>
                      <a:tailEnd type="none" w="med" len="med"/>
                    </a:lnR>
                    <a:lnT w="9525" cap="flat" cmpd="sng" algn="ctr">
                      <a:solidFill>
                        <a:srgbClr val="384852"/>
                      </a:solidFill>
                      <a:prstDash val="solid"/>
                      <a:round/>
                      <a:headEnd type="none" w="med" len="med"/>
                      <a:tailEnd type="none" w="med" len="med"/>
                    </a:lnT>
                    <a:lnB w="9525" cmpd="sng">
                      <a:solidFill>
                        <a:srgbClr val="384852"/>
                      </a:solidFill>
                    </a:lnB>
                    <a:solidFill>
                      <a:schemeClr val="bg1"/>
                    </a:solidFill>
                  </a:tcPr>
                </a:tc>
                <a:tc>
                  <a:txBody>
                    <a:bodyPr/>
                    <a:lstStyle/>
                    <a:p>
                      <a:pPr algn="ctr"/>
                      <a:r>
                        <a:rPr lang="fa-IR" sz="1900" b="1" dirty="0" smtClean="0">
                          <a:solidFill>
                            <a:srgbClr val="19384E"/>
                          </a:solidFill>
                          <a:cs typeface="B Zar" panose="00000400000000000000" pitchFamily="50" charset="-78"/>
                        </a:rPr>
                        <a:t>ابری</a:t>
                      </a:r>
                      <a:endParaRPr lang="en-US" sz="1900" b="1" dirty="0">
                        <a:solidFill>
                          <a:srgbClr val="19384E"/>
                        </a:solidFill>
                        <a:cs typeface="B Zar" panose="00000400000000000000" pitchFamily="50" charset="-78"/>
                      </a:endParaRPr>
                    </a:p>
                  </a:txBody>
                  <a:tcPr marL="27432" marR="27432" marT="0" marB="0" anchor="ctr">
                    <a:lnL w="9525" cmpd="sng">
                      <a:solidFill>
                        <a:srgbClr val="384852"/>
                      </a:solidFill>
                    </a:lnL>
                    <a:lnR w="9525" cmpd="sng">
                      <a:solidFill>
                        <a:srgbClr val="384852"/>
                      </a:solidFill>
                    </a:lnR>
                    <a:lnT w="9525" cmpd="sng">
                      <a:solidFill>
                        <a:srgbClr val="384852"/>
                      </a:solidFill>
                    </a:lnT>
                    <a:lnB w="9525" cmpd="sng">
                      <a:solidFill>
                        <a:srgbClr val="384852"/>
                      </a:solidFill>
                    </a:lnB>
                    <a:solidFill>
                      <a:srgbClr val="CFE5F0"/>
                    </a:solidFill>
                  </a:tcPr>
                </a:tc>
                <a:extLst>
                  <a:ext uri="{0D108BD9-81ED-4DB2-BD59-A6C34878D82A}">
                    <a16:rowId xmlns:a16="http://schemas.microsoft.com/office/drawing/2014/main" val="4136796290"/>
                  </a:ext>
                </a:extLst>
              </a:tr>
            </a:tbl>
          </a:graphicData>
        </a:graphic>
      </p:graphicFrame>
    </p:spTree>
    <p:extLst>
      <p:ext uri="{BB962C8B-B14F-4D97-AF65-F5344CB8AC3E}">
        <p14:creationId xmlns:p14="http://schemas.microsoft.com/office/powerpoint/2010/main" val="3902921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7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331720"/>
            <a:ext cx="11057839" cy="1903085"/>
          </a:xfrm>
          <a:prstGeom prst="rect">
            <a:avLst/>
          </a:prstGeom>
          <a:noFill/>
        </p:spPr>
        <p:txBody>
          <a:bodyPr wrap="square" anchor="t">
            <a:spAutoFit/>
          </a:bodyPr>
          <a:lstStyle/>
          <a:p>
            <a:pPr algn="ctr" rtl="1">
              <a:spcAft>
                <a:spcPts val="1400"/>
              </a:spcAft>
            </a:pPr>
            <a:r>
              <a:rPr lang="fa-IR" sz="2600" b="1" dirty="0">
                <a:solidFill>
                  <a:srgbClr val="216BA5"/>
                </a:solidFill>
                <a:cs typeface="B Zar"/>
              </a:rPr>
              <a:t>بخش </a:t>
            </a:r>
            <a:r>
              <a:rPr lang="fa-IR" sz="2600" b="1" dirty="0" smtClean="0">
                <a:solidFill>
                  <a:srgbClr val="216BA5"/>
                </a:solidFill>
                <a:cs typeface="B Zar"/>
              </a:rPr>
              <a:t>3</a:t>
            </a:r>
            <a:endParaRPr lang="fa-IR" sz="2600" b="1" dirty="0">
              <a:solidFill>
                <a:srgbClr val="216BA5"/>
              </a:solidFill>
              <a:cs typeface="B Zar"/>
            </a:endParaRPr>
          </a:p>
          <a:p>
            <a:pPr algn="ctr" rtl="1">
              <a:spcAft>
                <a:spcPts val="1200"/>
              </a:spcAft>
            </a:pPr>
            <a:r>
              <a:rPr lang="fa-IR" sz="4600" b="1" dirty="0" smtClean="0">
                <a:solidFill>
                  <a:srgbClr val="1B4F72"/>
                </a:solidFill>
                <a:cs typeface="B Zar"/>
              </a:rPr>
              <a:t>آموزش و پیکربندی </a:t>
            </a:r>
            <a:r>
              <a:rPr lang="fa-IR" sz="4600" b="1" dirty="0">
                <a:solidFill>
                  <a:srgbClr val="1B4F72"/>
                </a:solidFill>
                <a:cs typeface="B Zar"/>
              </a:rPr>
              <a:t>نهایی </a:t>
            </a:r>
            <a:r>
              <a:rPr lang="fa-IR" sz="4600" b="1" dirty="0" smtClean="0">
                <a:solidFill>
                  <a:srgbClr val="1B4F72"/>
                </a:solidFill>
                <a:cs typeface="B Zar"/>
              </a:rPr>
              <a:t>مدل</a:t>
            </a:r>
          </a:p>
          <a:p>
            <a:pPr algn="ctr" rtl="1">
              <a:spcAft>
                <a:spcPts val="1200"/>
              </a:spcAft>
            </a:pPr>
            <a:r>
              <a:rPr lang="fa-IR" sz="2400" dirty="0">
                <a:solidFill>
                  <a:srgbClr val="4A5A66"/>
                </a:solidFill>
                <a:cs typeface="B Zar"/>
              </a:rPr>
              <a:t>مقایسه آموزش‌های انجام‌شده، بررسی ابرپارامترها، بهینه‌سازها و کد هسته آموزش</a:t>
            </a:r>
            <a:endParaRPr lang="fa-IR" sz="2400" b="0" dirty="0">
              <a:solidFill>
                <a:srgbClr val="4A5A66"/>
              </a:solidFill>
              <a:cs typeface="B Zar"/>
            </a:endParaRPr>
          </a:p>
        </p:txBody>
      </p:sp>
    </p:spTree>
    <p:extLst>
      <p:ext uri="{BB962C8B-B14F-4D97-AF65-F5344CB8AC3E}">
        <p14:creationId xmlns:p14="http://schemas.microsoft.com/office/powerpoint/2010/main" val="1549789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402265C-4CBB-45DC-98BB-A76162D949BB}"/>
              </a:ext>
            </a:extLst>
          </p:cNvPr>
          <p:cNvSpPr>
            <a:spLocks noGrp="1"/>
          </p:cNvSpPr>
          <p:nvPr/>
        </p:nvSpPr>
        <p:spPr>
          <a:xfrm>
            <a:off x="171450" y="6496050"/>
            <a:ext cx="1762125" cy="238125"/>
          </a:xfrm>
          <a:prstGeom prst="rect">
            <a:avLst/>
          </a:prstGeom>
          <a:noFill/>
          <a:ln w="0">
            <a:noFill/>
          </a:ln>
        </p:spPr>
        <p:txBody>
          <a:bodyPr lIns="57150" tIns="38100" rIns="57150" bIns="38100" anchor="ctr">
            <a:noAutofit/>
          </a:bodyPr>
          <a:lstStyle/>
          <a:p>
            <a:pPr algn="r" rtl="1">
              <a:defRPr sz="1600" b="0">
                <a:solidFill>
                  <a:srgbClr val="52626E"/>
                </a:solidFill>
                <a:latin typeface="B Zar"/>
                <a:ea typeface="B Zar"/>
                <a:cs typeface="B Zar"/>
              </a:defRPr>
            </a:pPr>
            <a:r>
              <a:rPr lang="fa-IR" altLang="fa-IR" sz="1600" b="0" smtClean="0">
                <a:solidFill>
                  <a:srgbClr val="52626E"/>
                </a:solidFill>
                <a:latin typeface="B Zar"/>
                <a:ea typeface="B Zar"/>
                <a:cs typeface="B Zar"/>
              </a:rPr>
              <a:t>صفحه ۲۱ از ۳۱</a:t>
            </a:r>
            <a:endParaRPr lang="fa-IR" altLang="fa-IR" sz="1600" b="0">
              <a:solidFill>
                <a:srgbClr val="52626E"/>
              </a:solidFill>
              <a:latin typeface="B Zar"/>
              <a:ea typeface="B Zar"/>
              <a:cs typeface="B Zar"/>
            </a:endParaRPr>
          </a:p>
        </p:txBody>
      </p:sp>
      <p:pic>
        <p:nvPicPr>
          <p:cNvPr id="17" name="Picture 16"/>
          <p:cNvPicPr>
            <a:picLocks noChangeAspect="1"/>
          </p:cNvPicPr>
          <p:nvPr/>
        </p:nvPicPr>
        <p:blipFill>
          <a:blip r:embed="rId3"/>
          <a:stretch/>
        </p:blipFill>
        <p:spPr>
          <a:xfrm>
            <a:off x="1682897" y="1184603"/>
            <a:ext cx="8826207" cy="4352925"/>
          </a:xfrm>
          <a:prstGeom prst="rect">
            <a:avLst/>
          </a:prstGeom>
          <a:ln>
            <a:solidFill>
              <a:schemeClr val="accent4">
                <a:lumMod val="50000"/>
              </a:schemeClr>
            </a:solidFill>
          </a:ln>
        </p:spPr>
      </p:pic>
      <p:pic>
        <p:nvPicPr>
          <p:cNvPr id="11" name="Picture 10"/>
          <p:cNvPicPr>
            <a:picLocks noChangeAspect="1"/>
          </p:cNvPicPr>
          <p:nvPr/>
        </p:nvPicPr>
        <p:blipFill>
          <a:blip r:embed="rId4"/>
          <a:stretch/>
        </p:blipFill>
        <p:spPr>
          <a:xfrm>
            <a:off x="428984" y="187916"/>
            <a:ext cx="535979" cy="628650"/>
          </a:xfrm>
          <a:prstGeom prst="rect">
            <a:avLst/>
          </a:prstGeom>
        </p:spPr>
      </p:pic>
      <p:sp>
        <p:nvSpPr>
          <p:cNvPr id="12" name="Rectangle 11">
            <a:extLst>
              <a:ext uri="{FF2B5EF4-FFF2-40B4-BE49-F238E27FC236}">
                <a16:creationId xmlns:a16="http://schemas.microsoft.com/office/drawing/2014/main" id="{C4452ECC-0329-42FD-A992-5D81CCFFD581}"/>
              </a:ext>
            </a:extLst>
          </p:cNvPr>
          <p:cNvSpPr>
            <a:spLocks noGrp="1"/>
          </p:cNvSpPr>
          <p:nvPr/>
        </p:nvSpPr>
        <p:spPr>
          <a:xfrm>
            <a:off x="1754630" y="279232"/>
            <a:ext cx="10096500" cy="485775"/>
          </a:xfrm>
          <a:prstGeom prst="rect">
            <a:avLst/>
          </a:prstGeom>
          <a:noFill/>
          <a:ln w="0">
            <a:noFill/>
          </a:ln>
        </p:spPr>
        <p:txBody>
          <a:bodyPr lIns="57150" tIns="38100" rIns="57150" bIns="38100" anchor="ctr">
            <a:noAutofit/>
          </a:bodyPr>
          <a:lstStyle/>
          <a:p>
            <a:pPr algn="r" rtl="1">
              <a:defRPr sz="3100" b="1">
                <a:solidFill>
                  <a:srgbClr val="173E5A"/>
                </a:solidFill>
                <a:latin typeface="B Zar"/>
                <a:ea typeface="B Zar"/>
                <a:cs typeface="B Zar"/>
              </a:defRPr>
            </a:pPr>
            <a:r>
              <a:rPr lang="fa-IR" altLang="fa-IR" sz="3100" b="1" dirty="0" smtClean="0">
                <a:solidFill>
                  <a:srgbClr val="173E5A"/>
                </a:solidFill>
                <a:latin typeface="B Zar"/>
                <a:ea typeface="B Zar"/>
                <a:cs typeface="B Zar"/>
              </a:rPr>
              <a:t>مقایسه نتایج آموزش‌ها </a:t>
            </a:r>
            <a:endParaRPr lang="fa-IR" altLang="fa-IR" sz="3100" b="1" dirty="0">
              <a:solidFill>
                <a:srgbClr val="173E5A"/>
              </a:solidFill>
              <a:latin typeface="B Zar"/>
              <a:ea typeface="B Zar"/>
              <a:cs typeface="B Zar"/>
            </a:endParaRPr>
          </a:p>
        </p:txBody>
      </p:sp>
      <p:sp>
        <p:nvSpPr>
          <p:cNvPr id="4" name="TextBox 3"/>
          <p:cNvSpPr txBox="1"/>
          <p:nvPr/>
        </p:nvSpPr>
        <p:spPr>
          <a:xfrm>
            <a:off x="68826" y="5798160"/>
            <a:ext cx="12123174" cy="646331"/>
          </a:xfrm>
          <a:prstGeom prst="rect">
            <a:avLst/>
          </a:prstGeom>
          <a:noFill/>
        </p:spPr>
        <p:txBody>
          <a:bodyPr wrap="square" rtlCol="0">
            <a:spAutoFit/>
          </a:bodyPr>
          <a:lstStyle/>
          <a:p>
            <a:pPr algn="ctr" rtl="1"/>
            <a:r>
              <a:rPr lang="fa-IR" altLang="fa-IR" b="1" dirty="0">
                <a:solidFill>
                  <a:schemeClr val="bg2">
                    <a:lumMod val="25000"/>
                  </a:schemeClr>
                </a:solidFill>
                <a:latin typeface="B Zar"/>
                <a:ea typeface="B Zar"/>
                <a:cs typeface="B Zar"/>
              </a:rPr>
              <a:t>نتیجه </a:t>
            </a:r>
            <a:r>
              <a:rPr lang="fa-IR" altLang="fa-IR" b="1" dirty="0" smtClean="0">
                <a:solidFill>
                  <a:schemeClr val="bg2">
                    <a:lumMod val="25000"/>
                  </a:schemeClr>
                </a:solidFill>
                <a:latin typeface="B Zar"/>
                <a:ea typeface="B Zar"/>
                <a:cs typeface="B Zar"/>
              </a:rPr>
              <a:t>بهترین دوره در هر یک از آموزش‌های انجام شده براساس معیار </a:t>
            </a:r>
            <a:r>
              <a:rPr lang="en-US" altLang="fa-IR" sz="1700" b="1" dirty="0" smtClean="0">
                <a:solidFill>
                  <a:schemeClr val="bg2">
                    <a:lumMod val="25000"/>
                  </a:schemeClr>
                </a:solidFill>
                <a:latin typeface="Times New Roman" panose="02020603050405020304" pitchFamily="18" charset="0"/>
                <a:ea typeface="B Zar"/>
                <a:cs typeface="Times New Roman" panose="02020603050405020304" pitchFamily="18" charset="0"/>
              </a:rPr>
              <a:t>mAP@0.5</a:t>
            </a:r>
            <a:r>
              <a:rPr lang="fa-IR" altLang="fa-IR" b="1" dirty="0" smtClean="0">
                <a:solidFill>
                  <a:schemeClr val="bg2">
                    <a:lumMod val="25000"/>
                  </a:schemeClr>
                </a:solidFill>
                <a:latin typeface="Times New Roman" panose="02020603050405020304" pitchFamily="18" charset="0"/>
                <a:ea typeface="B Zar"/>
                <a:cs typeface="Times New Roman" panose="02020603050405020304" pitchFamily="18" charset="0"/>
              </a:rPr>
              <a:t> </a:t>
            </a:r>
            <a:endParaRPr lang="fa-IR" altLang="fa-IR" b="1" dirty="0">
              <a:solidFill>
                <a:schemeClr val="bg2">
                  <a:lumMod val="25000"/>
                </a:schemeClr>
              </a:solidFill>
              <a:latin typeface="B Zar"/>
              <a:ea typeface="B Zar"/>
              <a:cs typeface="B Zar"/>
            </a:endParaRPr>
          </a:p>
          <a:p>
            <a:pPr algn="ctr" rtl="1"/>
            <a:endParaRPr lang="en-US" dirty="0"/>
          </a:p>
        </p:txBody>
      </p:sp>
    </p:spTree>
    <p:extLst>
      <p:ext uri="{BB962C8B-B14F-4D97-AF65-F5344CB8AC3E}">
        <p14:creationId xmlns:p14="http://schemas.microsoft.com/office/powerpoint/2010/main" val="2256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E045506-6997-4CDF-BDA1-F426B0106122}"/>
              </a:ext>
            </a:extLst>
          </p:cNvPr>
          <p:cNvSpPr>
            <a:spLocks noGrp="1"/>
          </p:cNvSpPr>
          <p:nvPr/>
        </p:nvSpPr>
        <p:spPr>
          <a:xfrm>
            <a:off x="171450" y="6496050"/>
            <a:ext cx="1762125" cy="238125"/>
          </a:xfrm>
          <a:prstGeom prst="rect">
            <a:avLst/>
          </a:prstGeom>
          <a:noFill/>
          <a:ln w="0">
            <a:noFill/>
          </a:ln>
        </p:spPr>
        <p:txBody>
          <a:bodyPr lIns="57150" tIns="38100" rIns="57150" bIns="38100" anchor="ctr">
            <a:noAutofit/>
          </a:bodyPr>
          <a:lstStyle/>
          <a:p>
            <a:pPr algn="r" rtl="1">
              <a:defRPr sz="1600" b="0">
                <a:solidFill>
                  <a:srgbClr val="52626E"/>
                </a:solidFill>
                <a:latin typeface="B Zar"/>
                <a:ea typeface="B Zar"/>
                <a:cs typeface="B Zar"/>
              </a:defRPr>
            </a:pPr>
            <a:r>
              <a:rPr lang="fa-IR" altLang="fa-IR" sz="1600" b="0" smtClean="0">
                <a:solidFill>
                  <a:srgbClr val="52626E"/>
                </a:solidFill>
                <a:latin typeface="B Zar"/>
                <a:ea typeface="B Zar"/>
                <a:cs typeface="B Zar"/>
              </a:rPr>
              <a:t>صفحه ۲۲ از ۳۱</a:t>
            </a:r>
            <a:endParaRPr lang="fa-IR" altLang="fa-IR" sz="1600" b="0">
              <a:solidFill>
                <a:srgbClr val="52626E"/>
              </a:solidFill>
              <a:latin typeface="B Zar"/>
              <a:ea typeface="B Zar"/>
              <a:cs typeface="B Zar"/>
            </a:endParaRPr>
          </a:p>
        </p:txBody>
      </p:sp>
      <p:graphicFrame>
        <p:nvGraphicFramePr>
          <p:cNvPr id="20" name="Table 19"/>
          <p:cNvGraphicFramePr/>
          <p:nvPr>
            <p:extLst>
              <p:ext uri="{D42A27DB-BD31-4B8C-83A1-F6EECF244321}">
                <p14:modId xmlns:p14="http://schemas.microsoft.com/office/powerpoint/2010/main" val="600489334"/>
              </p:ext>
            </p:extLst>
          </p:nvPr>
        </p:nvGraphicFramePr>
        <p:xfrm>
          <a:off x="523875" y="1190625"/>
          <a:ext cx="4762500" cy="4762503"/>
        </p:xfrm>
        <a:graphic>
          <a:graphicData uri="http://schemas.openxmlformats.org/drawingml/2006/table">
            <a:tbl>
              <a:tblPr/>
              <a:tblGrid>
                <a:gridCol w="20955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tblGrid>
              <a:tr h="529167">
                <a:tc>
                  <a:txBody>
                    <a:bodyPr/>
                    <a:lstStyle/>
                    <a:p>
                      <a:pPr algn="ctr" rtl="1"/>
                      <a:r>
                        <a:rPr lang="fa-IR" altLang="fa-IR" sz="1900" b="1" dirty="0">
                          <a:solidFill>
                            <a:srgbClr val="FFFFFF"/>
                          </a:solidFill>
                          <a:latin typeface="B Zar"/>
                          <a:ea typeface="B Zar"/>
                          <a:cs typeface="B Zar"/>
                        </a:rPr>
                        <a:t>مقدار</a:t>
                      </a:r>
                    </a:p>
                  </a:txBody>
                  <a:tcPr marL="66675" marR="66675" marT="57150" marB="57150" anchor="ctr">
                    <a:solidFill>
                      <a:schemeClr val="accent4">
                        <a:lumMod val="50000"/>
                      </a:schemeClr>
                    </a:solidFill>
                  </a:tcPr>
                </a:tc>
                <a:tc>
                  <a:txBody>
                    <a:bodyPr/>
                    <a:lstStyle/>
                    <a:p>
                      <a:pPr algn="ctr" rtl="1"/>
                      <a:r>
                        <a:rPr lang="fa-IR" altLang="fa-IR" sz="1900" b="1" dirty="0">
                          <a:solidFill>
                            <a:srgbClr val="FFFFFF"/>
                          </a:solidFill>
                          <a:latin typeface="B Zar"/>
                          <a:ea typeface="B Zar"/>
                          <a:cs typeface="B Zar"/>
                        </a:rPr>
                        <a:t>پارامتر</a:t>
                      </a:r>
                    </a:p>
                  </a:txBody>
                  <a:tcPr marL="66675" marR="66675" marT="57150" marB="57150" anchor="ctr">
                    <a:solidFill>
                      <a:schemeClr val="accent4">
                        <a:lumMod val="50000"/>
                      </a:schemeClr>
                    </a:solidFill>
                  </a:tcPr>
                </a:tc>
                <a:extLst>
                  <a:ext uri="{0D108BD9-81ED-4DB2-BD59-A6C34878D82A}">
                    <a16:rowId xmlns:a16="http://schemas.microsoft.com/office/drawing/2014/main" val="10000"/>
                  </a:ext>
                </a:extLst>
              </a:tr>
              <a:tr h="529167">
                <a:tc>
                  <a:txBody>
                    <a:bodyPr/>
                    <a:lstStyle/>
                    <a:p>
                      <a:pPr algn="ctr"/>
                      <a:r>
                        <a:rPr lang="en-US" altLang="fa-IR" sz="1800">
                          <a:solidFill>
                            <a:srgbClr val="17232C"/>
                          </a:solidFill>
                          <a:latin typeface="Times New Roman"/>
                          <a:ea typeface="Times New Roman"/>
                          <a:cs typeface="Times New Roman"/>
                        </a:rPr>
                        <a:t>YOLOv11s</a:t>
                      </a:r>
                    </a:p>
                  </a:txBody>
                  <a:tcPr marL="66675" marR="66675" marT="57150" marB="57150" anchor="ctr">
                    <a:solidFill>
                      <a:srgbClr val="FFFFFF"/>
                    </a:solidFill>
                  </a:tcPr>
                </a:tc>
                <a:tc>
                  <a:txBody>
                    <a:bodyPr/>
                    <a:lstStyle/>
                    <a:p>
                      <a:pPr algn="ctr" rtl="1"/>
                      <a:r>
                        <a:rPr lang="fa-IR" altLang="fa-IR" sz="1900" b="1">
                          <a:solidFill>
                            <a:srgbClr val="173E5A"/>
                          </a:solidFill>
                          <a:latin typeface="B Zar"/>
                          <a:ea typeface="B Zar"/>
                          <a:cs typeface="B Zar"/>
                        </a:rPr>
                        <a:t>معماری</a:t>
                      </a:r>
                    </a:p>
                  </a:txBody>
                  <a:tcPr marL="66675" marR="66675" marT="57150" marB="57150" anchor="ctr">
                    <a:solidFill>
                      <a:schemeClr val="accent4">
                        <a:lumMod val="20000"/>
                        <a:lumOff val="80000"/>
                      </a:schemeClr>
                    </a:solidFill>
                  </a:tcPr>
                </a:tc>
                <a:extLst>
                  <a:ext uri="{0D108BD9-81ED-4DB2-BD59-A6C34878D82A}">
                    <a16:rowId xmlns:a16="http://schemas.microsoft.com/office/drawing/2014/main" val="10001"/>
                  </a:ext>
                </a:extLst>
              </a:tr>
              <a:tr h="529167">
                <a:tc>
                  <a:txBody>
                    <a:bodyPr/>
                    <a:lstStyle/>
                    <a:p>
                      <a:pPr algn="ctr" rtl="1"/>
                      <a:r>
                        <a:rPr lang="fa-IR" altLang="fa-IR" sz="1900" dirty="0" smtClean="0">
                          <a:solidFill>
                            <a:srgbClr val="17232C"/>
                          </a:solidFill>
                          <a:latin typeface="B Zar"/>
                          <a:ea typeface="B Zar"/>
                          <a:cs typeface="B Zar"/>
                        </a:rPr>
                        <a:t>۱۲۸۰</a:t>
                      </a:r>
                      <a:endParaRPr lang="fa-IR" altLang="fa-IR" sz="1900" dirty="0">
                        <a:solidFill>
                          <a:srgbClr val="17232C"/>
                        </a:solidFill>
                        <a:latin typeface="B Zar"/>
                        <a:ea typeface="B Zar"/>
                        <a:cs typeface="B Zar"/>
                      </a:endParaRPr>
                    </a:p>
                  </a:txBody>
                  <a:tcPr marL="66675" marR="66675" marT="57150" marB="57150" anchor="ctr">
                    <a:solidFill>
                      <a:srgbClr val="F1F3F5"/>
                    </a:solidFill>
                  </a:tcPr>
                </a:tc>
                <a:tc>
                  <a:txBody>
                    <a:bodyPr/>
                    <a:lstStyle/>
                    <a:p>
                      <a:pPr algn="ctr" rtl="1"/>
                      <a:r>
                        <a:rPr lang="fa-IR" altLang="fa-IR" sz="1900" b="1">
                          <a:solidFill>
                            <a:srgbClr val="173E5A"/>
                          </a:solidFill>
                          <a:latin typeface="B Zar"/>
                          <a:ea typeface="B Zar"/>
                          <a:cs typeface="B Zar"/>
                        </a:rPr>
                        <a:t>اندازه ورودی</a:t>
                      </a:r>
                    </a:p>
                  </a:txBody>
                  <a:tcPr marL="66675" marR="66675" marT="57150" marB="57150" anchor="ctr">
                    <a:solidFill>
                      <a:schemeClr val="accent4">
                        <a:lumMod val="20000"/>
                        <a:lumOff val="80000"/>
                      </a:schemeClr>
                    </a:solidFill>
                  </a:tcPr>
                </a:tc>
                <a:extLst>
                  <a:ext uri="{0D108BD9-81ED-4DB2-BD59-A6C34878D82A}">
                    <a16:rowId xmlns:a16="http://schemas.microsoft.com/office/drawing/2014/main" val="10002"/>
                  </a:ext>
                </a:extLst>
              </a:tr>
              <a:tr h="529167">
                <a:tc>
                  <a:txBody>
                    <a:bodyPr/>
                    <a:lstStyle/>
                    <a:p>
                      <a:pPr algn="ctr" rtl="1"/>
                      <a:r>
                        <a:rPr lang="fa-IR" altLang="fa-IR" sz="1900">
                          <a:solidFill>
                            <a:srgbClr val="17232C"/>
                          </a:solidFill>
                          <a:latin typeface="B Zar"/>
                          <a:ea typeface="B Zar"/>
                          <a:cs typeface="B Zar"/>
                        </a:rPr>
                        <a:t>۱۲</a:t>
                      </a:r>
                    </a:p>
                  </a:txBody>
                  <a:tcPr marL="66675" marR="66675" marT="57150" marB="57150" anchor="ctr">
                    <a:solidFill>
                      <a:srgbClr val="FFFFFF"/>
                    </a:solidFill>
                  </a:tcPr>
                </a:tc>
                <a:tc>
                  <a:txBody>
                    <a:bodyPr/>
                    <a:lstStyle/>
                    <a:p>
                      <a:pPr algn="ctr" rtl="1"/>
                      <a:r>
                        <a:rPr lang="fa-IR" altLang="fa-IR" sz="1900" b="1">
                          <a:solidFill>
                            <a:srgbClr val="173E5A"/>
                          </a:solidFill>
                          <a:latin typeface="B Zar"/>
                          <a:ea typeface="B Zar"/>
                          <a:cs typeface="B Zar"/>
                        </a:rPr>
                        <a:t>اندازه دسته</a:t>
                      </a:r>
                    </a:p>
                  </a:txBody>
                  <a:tcPr marL="66675" marR="66675" marT="57150" marB="57150" anchor="ctr">
                    <a:solidFill>
                      <a:schemeClr val="accent4">
                        <a:lumMod val="20000"/>
                        <a:lumOff val="80000"/>
                      </a:schemeClr>
                    </a:solidFill>
                  </a:tcPr>
                </a:tc>
                <a:extLst>
                  <a:ext uri="{0D108BD9-81ED-4DB2-BD59-A6C34878D82A}">
                    <a16:rowId xmlns:a16="http://schemas.microsoft.com/office/drawing/2014/main" val="10003"/>
                  </a:ext>
                </a:extLst>
              </a:tr>
              <a:tr h="529167">
                <a:tc>
                  <a:txBody>
                    <a:bodyPr/>
                    <a:lstStyle/>
                    <a:p>
                      <a:pPr algn="ctr"/>
                      <a:r>
                        <a:rPr lang="en-US" altLang="fa-IR" sz="1800">
                          <a:solidFill>
                            <a:srgbClr val="17232C"/>
                          </a:solidFill>
                          <a:latin typeface="Times New Roman"/>
                          <a:ea typeface="Times New Roman"/>
                          <a:cs typeface="Times New Roman"/>
                        </a:rPr>
                        <a:t>AdamW</a:t>
                      </a:r>
                    </a:p>
                  </a:txBody>
                  <a:tcPr marL="66675" marR="66675" marT="57150" marB="57150" anchor="ctr">
                    <a:solidFill>
                      <a:srgbClr val="F1F3F5"/>
                    </a:solidFill>
                  </a:tcPr>
                </a:tc>
                <a:tc>
                  <a:txBody>
                    <a:bodyPr/>
                    <a:lstStyle/>
                    <a:p>
                      <a:pPr algn="ctr" rtl="1"/>
                      <a:r>
                        <a:rPr lang="fa-IR" altLang="fa-IR" sz="1900" b="1">
                          <a:solidFill>
                            <a:srgbClr val="173E5A"/>
                          </a:solidFill>
                          <a:latin typeface="B Zar"/>
                          <a:ea typeface="B Zar"/>
                          <a:cs typeface="B Zar"/>
                        </a:rPr>
                        <a:t>بهینه‌ساز</a:t>
                      </a:r>
                    </a:p>
                  </a:txBody>
                  <a:tcPr marL="66675" marR="66675" marT="57150" marB="57150" anchor="ctr">
                    <a:solidFill>
                      <a:schemeClr val="accent4">
                        <a:lumMod val="20000"/>
                        <a:lumOff val="80000"/>
                      </a:schemeClr>
                    </a:solidFill>
                  </a:tcPr>
                </a:tc>
                <a:extLst>
                  <a:ext uri="{0D108BD9-81ED-4DB2-BD59-A6C34878D82A}">
                    <a16:rowId xmlns:a16="http://schemas.microsoft.com/office/drawing/2014/main" val="10004"/>
                  </a:ext>
                </a:extLst>
              </a:tr>
              <a:tr h="529167">
                <a:tc>
                  <a:txBody>
                    <a:bodyPr/>
                    <a:lstStyle/>
                    <a:p>
                      <a:pPr algn="ctr" rtl="1"/>
                      <a:r>
                        <a:rPr lang="fa-IR" altLang="fa-IR" sz="1900">
                          <a:solidFill>
                            <a:srgbClr val="17232C"/>
                          </a:solidFill>
                          <a:latin typeface="B Zar"/>
                          <a:ea typeface="B Zar"/>
                          <a:cs typeface="B Zar"/>
                        </a:rPr>
                        <a:t>۰٫۰۰۱</a:t>
                      </a:r>
                    </a:p>
                  </a:txBody>
                  <a:tcPr marL="66675" marR="66675" marT="57150" marB="57150" anchor="ctr">
                    <a:solidFill>
                      <a:srgbClr val="FFFFFF"/>
                    </a:solidFill>
                  </a:tcPr>
                </a:tc>
                <a:tc>
                  <a:txBody>
                    <a:bodyPr/>
                    <a:lstStyle/>
                    <a:p>
                      <a:pPr algn="ctr" rtl="1"/>
                      <a:r>
                        <a:rPr lang="fa-IR" altLang="fa-IR" sz="1900" b="1">
                          <a:solidFill>
                            <a:srgbClr val="173E5A"/>
                          </a:solidFill>
                          <a:latin typeface="B Zar"/>
                          <a:ea typeface="B Zar"/>
                          <a:cs typeface="B Zar"/>
                        </a:rPr>
                        <a:t>نرخ یادگیری اولیه</a:t>
                      </a:r>
                    </a:p>
                  </a:txBody>
                  <a:tcPr marL="66675" marR="66675" marT="57150" marB="57150" anchor="ctr">
                    <a:solidFill>
                      <a:schemeClr val="accent4">
                        <a:lumMod val="20000"/>
                        <a:lumOff val="80000"/>
                      </a:schemeClr>
                    </a:solidFill>
                  </a:tcPr>
                </a:tc>
                <a:extLst>
                  <a:ext uri="{0D108BD9-81ED-4DB2-BD59-A6C34878D82A}">
                    <a16:rowId xmlns:a16="http://schemas.microsoft.com/office/drawing/2014/main" val="10005"/>
                  </a:ext>
                </a:extLst>
              </a:tr>
              <a:tr h="529167">
                <a:tc>
                  <a:txBody>
                    <a:bodyPr/>
                    <a:lstStyle/>
                    <a:p>
                      <a:pPr algn="ctr" rtl="1"/>
                      <a:r>
                        <a:rPr lang="fa-IR" altLang="fa-IR" sz="1900">
                          <a:solidFill>
                            <a:srgbClr val="17232C"/>
                          </a:solidFill>
                          <a:latin typeface="B Zar"/>
                          <a:ea typeface="B Zar"/>
                          <a:cs typeface="B Zar"/>
                        </a:rPr>
                        <a:t>کسینوسی</a:t>
                      </a:r>
                    </a:p>
                  </a:txBody>
                  <a:tcPr marL="66675" marR="66675" marT="57150" marB="57150" anchor="ctr">
                    <a:solidFill>
                      <a:srgbClr val="F1F3F5"/>
                    </a:solidFill>
                  </a:tcPr>
                </a:tc>
                <a:tc>
                  <a:txBody>
                    <a:bodyPr/>
                    <a:lstStyle/>
                    <a:p>
                      <a:pPr algn="ctr" rtl="1"/>
                      <a:r>
                        <a:rPr lang="fa-IR" altLang="fa-IR" sz="1900" b="1">
                          <a:solidFill>
                            <a:srgbClr val="173E5A"/>
                          </a:solidFill>
                          <a:latin typeface="B Zar"/>
                          <a:ea typeface="B Zar"/>
                          <a:cs typeface="B Zar"/>
                        </a:rPr>
                        <a:t>زمان‌بند</a:t>
                      </a:r>
                    </a:p>
                  </a:txBody>
                  <a:tcPr marL="66675" marR="66675" marT="57150" marB="57150" anchor="ctr">
                    <a:solidFill>
                      <a:schemeClr val="accent4">
                        <a:lumMod val="20000"/>
                        <a:lumOff val="80000"/>
                      </a:schemeClr>
                    </a:solidFill>
                  </a:tcPr>
                </a:tc>
                <a:extLst>
                  <a:ext uri="{0D108BD9-81ED-4DB2-BD59-A6C34878D82A}">
                    <a16:rowId xmlns:a16="http://schemas.microsoft.com/office/drawing/2014/main" val="10006"/>
                  </a:ext>
                </a:extLst>
              </a:tr>
              <a:tr h="529167">
                <a:tc>
                  <a:txBody>
                    <a:bodyPr/>
                    <a:lstStyle/>
                    <a:p>
                      <a:pPr algn="ctr" rtl="1"/>
                      <a:r>
                        <a:rPr lang="fa-IR" altLang="fa-IR" sz="1900">
                          <a:solidFill>
                            <a:srgbClr val="17232C"/>
                          </a:solidFill>
                          <a:latin typeface="B Zar"/>
                          <a:ea typeface="B Zar"/>
                          <a:cs typeface="B Zar"/>
                        </a:rPr>
                        <a:t>۱۵۰</a:t>
                      </a:r>
                    </a:p>
                  </a:txBody>
                  <a:tcPr marL="66675" marR="66675" marT="57150" marB="57150" anchor="ctr">
                    <a:solidFill>
                      <a:srgbClr val="FFFFFF"/>
                    </a:solidFill>
                  </a:tcPr>
                </a:tc>
                <a:tc>
                  <a:txBody>
                    <a:bodyPr/>
                    <a:lstStyle/>
                    <a:p>
                      <a:pPr algn="ctr" rtl="1"/>
                      <a:r>
                        <a:rPr lang="fa-IR" altLang="fa-IR" sz="1900" b="1" dirty="0">
                          <a:solidFill>
                            <a:srgbClr val="173E5A"/>
                          </a:solidFill>
                          <a:latin typeface="B Zar"/>
                          <a:ea typeface="B Zar"/>
                          <a:cs typeface="B Zar"/>
                        </a:rPr>
                        <a:t>بیشینه </a:t>
                      </a:r>
                      <a:r>
                        <a:rPr lang="fa-IR" altLang="fa-IR" sz="1900" b="1" dirty="0" smtClean="0">
                          <a:solidFill>
                            <a:srgbClr val="173E5A"/>
                          </a:solidFill>
                          <a:latin typeface="B Zar"/>
                          <a:ea typeface="B Zar"/>
                          <a:cs typeface="B Zar"/>
                        </a:rPr>
                        <a:t>دوره آموزش</a:t>
                      </a:r>
                      <a:endParaRPr lang="fa-IR" altLang="fa-IR" sz="1900" b="1" dirty="0">
                        <a:solidFill>
                          <a:srgbClr val="173E5A"/>
                        </a:solidFill>
                        <a:latin typeface="B Zar"/>
                        <a:ea typeface="B Zar"/>
                        <a:cs typeface="B Zar"/>
                      </a:endParaRPr>
                    </a:p>
                  </a:txBody>
                  <a:tcPr marL="66675" marR="66675" marT="57150" marB="57150" anchor="ctr">
                    <a:solidFill>
                      <a:schemeClr val="accent4">
                        <a:lumMod val="20000"/>
                        <a:lumOff val="80000"/>
                      </a:schemeClr>
                    </a:solidFill>
                  </a:tcPr>
                </a:tc>
                <a:extLst>
                  <a:ext uri="{0D108BD9-81ED-4DB2-BD59-A6C34878D82A}">
                    <a16:rowId xmlns:a16="http://schemas.microsoft.com/office/drawing/2014/main" val="10007"/>
                  </a:ext>
                </a:extLst>
              </a:tr>
              <a:tr h="529167">
                <a:tc>
                  <a:txBody>
                    <a:bodyPr/>
                    <a:lstStyle/>
                    <a:p>
                      <a:pPr algn="ctr" rtl="1"/>
                      <a:r>
                        <a:rPr lang="fa-IR" altLang="fa-IR" sz="1900">
                          <a:solidFill>
                            <a:srgbClr val="17232C"/>
                          </a:solidFill>
                          <a:latin typeface="B Zar"/>
                          <a:ea typeface="B Zar"/>
                          <a:cs typeface="B Zar"/>
                        </a:rPr>
                        <a:t>۱۰</a:t>
                      </a:r>
                    </a:p>
                  </a:txBody>
                  <a:tcPr marL="66675" marR="66675" marT="57150" marB="57150" anchor="ctr">
                    <a:solidFill>
                      <a:srgbClr val="F1F3F5"/>
                    </a:solidFill>
                  </a:tcPr>
                </a:tc>
                <a:tc>
                  <a:txBody>
                    <a:bodyPr/>
                    <a:lstStyle/>
                    <a:p>
                      <a:pPr algn="ctr" rtl="1"/>
                      <a:r>
                        <a:rPr lang="fa-IR" altLang="fa-IR" sz="1900" b="1" dirty="0" smtClean="0">
                          <a:solidFill>
                            <a:srgbClr val="173E5A"/>
                          </a:solidFill>
                          <a:latin typeface="B Zar"/>
                          <a:ea typeface="B Zar"/>
                          <a:cs typeface="B Zar"/>
                        </a:rPr>
                        <a:t>توقف</a:t>
                      </a:r>
                      <a:r>
                        <a:rPr lang="fa-IR" altLang="fa-IR" sz="1900" b="1" baseline="0" dirty="0" smtClean="0">
                          <a:solidFill>
                            <a:srgbClr val="173E5A"/>
                          </a:solidFill>
                          <a:latin typeface="B Zar"/>
                          <a:ea typeface="B Zar"/>
                          <a:cs typeface="B Zar"/>
                        </a:rPr>
                        <a:t> زودهنگام</a:t>
                      </a:r>
                      <a:endParaRPr lang="fa-IR" altLang="fa-IR" sz="1900" b="1" dirty="0">
                        <a:solidFill>
                          <a:srgbClr val="173E5A"/>
                        </a:solidFill>
                        <a:latin typeface="B Zar"/>
                        <a:ea typeface="B Zar"/>
                        <a:cs typeface="B Zar"/>
                      </a:endParaRPr>
                    </a:p>
                  </a:txBody>
                  <a:tcPr marL="66675" marR="66675" marT="57150" marB="57150" anchor="ctr">
                    <a:solidFill>
                      <a:schemeClr val="accent4">
                        <a:lumMod val="20000"/>
                        <a:lumOff val="80000"/>
                      </a:schemeClr>
                    </a:solidFill>
                  </a:tcPr>
                </a:tc>
                <a:extLst>
                  <a:ext uri="{0D108BD9-81ED-4DB2-BD59-A6C34878D82A}">
                    <a16:rowId xmlns:a16="http://schemas.microsoft.com/office/drawing/2014/main" val="10008"/>
                  </a:ext>
                </a:extLst>
              </a:tr>
            </a:tbl>
          </a:graphicData>
        </a:graphic>
      </p:graphicFrame>
      <p:sp>
        <p:nvSpPr>
          <p:cNvPr id="9" name="Rounded Rectangle 8">
            <a:extLst>
              <a:ext uri="{FF2B5EF4-FFF2-40B4-BE49-F238E27FC236}">
                <a16:creationId xmlns:a16="http://schemas.microsoft.com/office/drawing/2014/main" id="{1140F6A7-45D5-47C8-91C7-7F2BB3C6065E}"/>
              </a:ext>
            </a:extLst>
          </p:cNvPr>
          <p:cNvSpPr>
            <a:spLocks noGrp="1"/>
          </p:cNvSpPr>
          <p:nvPr/>
        </p:nvSpPr>
        <p:spPr>
          <a:xfrm>
            <a:off x="5715000" y="1285875"/>
            <a:ext cx="5810250" cy="2955284"/>
          </a:xfrm>
          <a:prstGeom prst="roundRect">
            <a:avLst>
              <a:gd name="adj" fmla="val 2667"/>
            </a:avLst>
          </a:prstGeom>
          <a:solidFill>
            <a:srgbClr val="F1F3F5"/>
          </a:solidFill>
          <a:ln w="11430">
            <a:solidFill>
              <a:srgbClr val="9BACB8"/>
            </a:solidFill>
          </a:ln>
        </p:spPr>
        <p:txBody>
          <a:bodyPr/>
          <a:lstStyle/>
          <a:p>
            <a:endParaRPr/>
          </a:p>
        </p:txBody>
      </p:sp>
      <p:sp>
        <p:nvSpPr>
          <p:cNvPr id="10" name="Rectangle 9">
            <a:extLst>
              <a:ext uri="{FF2B5EF4-FFF2-40B4-BE49-F238E27FC236}">
                <a16:creationId xmlns:a16="http://schemas.microsoft.com/office/drawing/2014/main" id="{06884730-1C0F-4A13-83FE-05241201F8E3}"/>
              </a:ext>
            </a:extLst>
          </p:cNvPr>
          <p:cNvSpPr>
            <a:spLocks noGrp="1"/>
          </p:cNvSpPr>
          <p:nvPr/>
        </p:nvSpPr>
        <p:spPr>
          <a:xfrm>
            <a:off x="5953125" y="1779637"/>
            <a:ext cx="5381625" cy="2428875"/>
          </a:xfrm>
          <a:prstGeom prst="rect">
            <a:avLst/>
          </a:prstGeom>
          <a:noFill/>
          <a:ln w="0">
            <a:noFill/>
          </a:ln>
        </p:spPr>
        <p:txBody>
          <a:bodyPr lIns="38100" tIns="28575" rIns="38100" bIns="28575" anchor="t">
            <a:noAutofit/>
          </a:bodyPr>
          <a:lstStyle/>
          <a:p>
            <a:pPr algn="l">
              <a:lnSpc>
                <a:spcPct val="150000"/>
              </a:lnSpc>
              <a:defRPr sz="1900" b="0">
                <a:solidFill>
                  <a:srgbClr val="243642"/>
                </a:solidFill>
                <a:latin typeface="Times New Roman"/>
                <a:ea typeface="Times New Roman"/>
                <a:cs typeface="Times New Roman"/>
              </a:defRPr>
            </a:pPr>
            <a:r>
              <a:rPr lang="en-US" altLang="fa-IR" sz="1900" b="0" dirty="0">
                <a:solidFill>
                  <a:srgbClr val="243642"/>
                </a:solidFill>
                <a:latin typeface="Times New Roman"/>
                <a:ea typeface="Times New Roman"/>
                <a:cs typeface="Times New Roman"/>
              </a:rPr>
              <a:t>model = YOLO('yolo11s.pt')
</a:t>
            </a:r>
            <a:r>
              <a:rPr lang="en-US" altLang="fa-IR" sz="1900" b="0" dirty="0" err="1">
                <a:solidFill>
                  <a:srgbClr val="243642"/>
                </a:solidFill>
                <a:latin typeface="Times New Roman"/>
                <a:ea typeface="Times New Roman"/>
                <a:cs typeface="Times New Roman"/>
              </a:rPr>
              <a:t>model.train</a:t>
            </a:r>
            <a:r>
              <a:rPr lang="en-US" altLang="fa-IR" sz="1900" b="0" dirty="0">
                <a:solidFill>
                  <a:srgbClr val="243642"/>
                </a:solidFill>
                <a:latin typeface="Times New Roman"/>
                <a:ea typeface="Times New Roman"/>
                <a:cs typeface="Times New Roman"/>
              </a:rPr>
              <a:t>(data='iadd_subset_v5/</a:t>
            </a:r>
            <a:r>
              <a:rPr lang="en-US" altLang="fa-IR" sz="1900" b="0" dirty="0" err="1">
                <a:solidFill>
                  <a:srgbClr val="243642"/>
                </a:solidFill>
                <a:latin typeface="Times New Roman"/>
                <a:ea typeface="Times New Roman"/>
                <a:cs typeface="Times New Roman"/>
              </a:rPr>
              <a:t>data.yaml</a:t>
            </a:r>
            <a:r>
              <a:rPr lang="en-US" altLang="fa-IR" sz="1900" b="0" dirty="0">
                <a:solidFill>
                  <a:srgbClr val="243642"/>
                </a:solidFill>
                <a:latin typeface="Times New Roman"/>
                <a:ea typeface="Times New Roman"/>
                <a:cs typeface="Times New Roman"/>
              </a:rPr>
              <a:t>',
  epochs=150, patience=10, </a:t>
            </a:r>
            <a:r>
              <a:rPr lang="en-US" altLang="fa-IR" sz="1900" b="0" dirty="0" err="1">
                <a:solidFill>
                  <a:srgbClr val="243642"/>
                </a:solidFill>
                <a:latin typeface="Times New Roman"/>
                <a:ea typeface="Times New Roman"/>
                <a:cs typeface="Times New Roman"/>
              </a:rPr>
              <a:t>imgsz</a:t>
            </a:r>
            <a:r>
              <a:rPr lang="en-US" altLang="fa-IR" sz="1900" b="0" dirty="0">
                <a:solidFill>
                  <a:srgbClr val="243642"/>
                </a:solidFill>
                <a:latin typeface="Times New Roman"/>
                <a:ea typeface="Times New Roman"/>
                <a:cs typeface="Times New Roman"/>
              </a:rPr>
              <a:t>=1280, batch=12,
  optimizer='</a:t>
            </a:r>
            <a:r>
              <a:rPr lang="en-US" altLang="fa-IR" sz="1900" b="0" dirty="0" err="1">
                <a:solidFill>
                  <a:srgbClr val="243642"/>
                </a:solidFill>
                <a:latin typeface="Times New Roman"/>
                <a:ea typeface="Times New Roman"/>
                <a:cs typeface="Times New Roman"/>
              </a:rPr>
              <a:t>AdamW</a:t>
            </a:r>
            <a:r>
              <a:rPr lang="en-US" altLang="fa-IR" sz="1900" b="0" dirty="0">
                <a:solidFill>
                  <a:srgbClr val="243642"/>
                </a:solidFill>
                <a:latin typeface="Times New Roman"/>
                <a:ea typeface="Times New Roman"/>
                <a:cs typeface="Times New Roman"/>
              </a:rPr>
              <a:t>', lr0=0.001, </a:t>
            </a:r>
            <a:r>
              <a:rPr lang="en-US" altLang="fa-IR" sz="1900" b="0" dirty="0" err="1">
                <a:solidFill>
                  <a:srgbClr val="243642"/>
                </a:solidFill>
                <a:latin typeface="Times New Roman"/>
                <a:ea typeface="Times New Roman"/>
                <a:cs typeface="Times New Roman"/>
              </a:rPr>
              <a:t>cos_lr</a:t>
            </a:r>
            <a:r>
              <a:rPr lang="en-US" altLang="fa-IR" sz="1900" b="0" dirty="0">
                <a:solidFill>
                  <a:srgbClr val="243642"/>
                </a:solidFill>
                <a:latin typeface="Times New Roman"/>
                <a:ea typeface="Times New Roman"/>
                <a:cs typeface="Times New Roman"/>
              </a:rPr>
              <a:t>=True,
  </a:t>
            </a:r>
            <a:r>
              <a:rPr lang="en-US" altLang="fa-IR" sz="1900" b="0" dirty="0" err="1">
                <a:solidFill>
                  <a:srgbClr val="243642"/>
                </a:solidFill>
                <a:latin typeface="Times New Roman"/>
                <a:ea typeface="Times New Roman"/>
                <a:cs typeface="Times New Roman"/>
              </a:rPr>
              <a:t>mixup</a:t>
            </a:r>
            <a:r>
              <a:rPr lang="en-US" altLang="fa-IR" sz="1900" b="0" dirty="0">
                <a:solidFill>
                  <a:srgbClr val="243642"/>
                </a:solidFill>
                <a:latin typeface="Times New Roman"/>
                <a:ea typeface="Times New Roman"/>
                <a:cs typeface="Times New Roman"/>
              </a:rPr>
              <a:t>=0.1, </a:t>
            </a:r>
            <a:r>
              <a:rPr lang="en-US" altLang="fa-IR" sz="1900" b="0" dirty="0" err="1">
                <a:solidFill>
                  <a:srgbClr val="243642"/>
                </a:solidFill>
                <a:latin typeface="Times New Roman"/>
                <a:ea typeface="Times New Roman"/>
                <a:cs typeface="Times New Roman"/>
              </a:rPr>
              <a:t>hsv_v</a:t>
            </a:r>
            <a:r>
              <a:rPr lang="en-US" altLang="fa-IR" sz="1900" b="0" dirty="0">
                <a:solidFill>
                  <a:srgbClr val="243642"/>
                </a:solidFill>
                <a:latin typeface="Times New Roman"/>
                <a:ea typeface="Times New Roman"/>
                <a:cs typeface="Times New Roman"/>
              </a:rPr>
              <a:t>=0.4, degrees=5.0)</a:t>
            </a:r>
          </a:p>
        </p:txBody>
      </p:sp>
      <p:sp>
        <p:nvSpPr>
          <p:cNvPr id="11" name="Rectangle 10">
            <a:extLst>
              <a:ext uri="{FF2B5EF4-FFF2-40B4-BE49-F238E27FC236}">
                <a16:creationId xmlns:a16="http://schemas.microsoft.com/office/drawing/2014/main" id="{5F8BE70A-CB95-4B5C-9798-D8A4A1A8CBB7}"/>
              </a:ext>
            </a:extLst>
          </p:cNvPr>
          <p:cNvSpPr>
            <a:spLocks noGrp="1"/>
          </p:cNvSpPr>
          <p:nvPr/>
        </p:nvSpPr>
        <p:spPr>
          <a:xfrm>
            <a:off x="5857875" y="4463845"/>
            <a:ext cx="5476875" cy="1907458"/>
          </a:xfrm>
          <a:prstGeom prst="rect">
            <a:avLst/>
          </a:prstGeom>
          <a:noFill/>
          <a:ln w="0">
            <a:noFill/>
          </a:ln>
        </p:spPr>
        <p:txBody>
          <a:bodyPr lIns="76200" tIns="47625" rIns="76200" bIns="47625" anchor="t">
            <a:noAutofit/>
          </a:bodyPr>
          <a:lstStyle/>
          <a:p>
            <a:pPr marL="285750" marR="317500" indent="-285750" algn="r" rtl="1">
              <a:spcAft>
                <a:spcPts val="800"/>
              </a:spcAft>
              <a:buChar char="•"/>
              <a:defRPr sz="2100">
                <a:solidFill>
                  <a:srgbClr val="17232C"/>
                </a:solidFill>
                <a:latin typeface="B Zar"/>
                <a:ea typeface="B Zar"/>
                <a:cs typeface="B Zar"/>
              </a:defRPr>
            </a:pPr>
            <a:r>
              <a:rPr lang="fa-IR" altLang="fa-IR" sz="2100" b="0" dirty="0" smtClean="0">
                <a:solidFill>
                  <a:srgbClr val="17232C"/>
                </a:solidFill>
                <a:latin typeface="B Zar"/>
                <a:ea typeface="B Zar"/>
                <a:cs typeface="B Zar"/>
              </a:rPr>
              <a:t>آغاز از وزن‌های از پیش آموزش‌دیده </a:t>
            </a:r>
            <a:r>
              <a:rPr lang="en-US" altLang="fa-IR" sz="2000" b="0" dirty="0" smtClean="0">
                <a:solidFill>
                  <a:srgbClr val="17232C"/>
                </a:solidFill>
                <a:latin typeface="Times New Roman"/>
                <a:ea typeface="Times New Roman"/>
                <a:cs typeface="Times New Roman"/>
              </a:rPr>
              <a:t>COCO</a:t>
            </a:r>
          </a:p>
          <a:p>
            <a:pPr marL="285750" marR="317500" indent="-285750" algn="r" rtl="1">
              <a:spcAft>
                <a:spcPts val="800"/>
              </a:spcAft>
              <a:buChar char="•"/>
              <a:defRPr sz="2100">
                <a:solidFill>
                  <a:srgbClr val="17232C"/>
                </a:solidFill>
                <a:latin typeface="B Zar"/>
                <a:ea typeface="B Zar"/>
                <a:cs typeface="B Zar"/>
              </a:defRPr>
            </a:pPr>
            <a:r>
              <a:rPr lang="fa-IR" altLang="fa-IR" sz="2100" b="0" dirty="0" smtClean="0">
                <a:solidFill>
                  <a:srgbClr val="17232C"/>
                </a:solidFill>
                <a:latin typeface="B Zar"/>
                <a:ea typeface="B Zar"/>
                <a:cs typeface="B Zar"/>
              </a:rPr>
              <a:t>انتخاب بهترین وزن با اعتبارسنجی</a:t>
            </a:r>
          </a:p>
          <a:p>
            <a:pPr marL="285750" marR="317500" indent="-285750" algn="r" rtl="1">
              <a:spcAft>
                <a:spcPts val="800"/>
              </a:spcAft>
              <a:buChar char="•"/>
              <a:defRPr sz="2100">
                <a:solidFill>
                  <a:srgbClr val="17232C"/>
                </a:solidFill>
                <a:latin typeface="B Zar"/>
                <a:ea typeface="B Zar"/>
                <a:cs typeface="B Zar"/>
              </a:defRPr>
            </a:pPr>
            <a:r>
              <a:rPr lang="fa-IR" altLang="fa-IR" sz="2100" b="0" dirty="0" smtClean="0">
                <a:solidFill>
                  <a:srgbClr val="17232C"/>
                </a:solidFill>
                <a:latin typeface="B Zar"/>
                <a:ea typeface="B Zar"/>
                <a:cs typeface="B Zar"/>
              </a:rPr>
              <a:t>ارزیابی آزمون پس از پایان تنظیمات</a:t>
            </a:r>
            <a:endParaRPr lang="fa-IR" altLang="fa-IR" sz="2100" b="0" dirty="0">
              <a:solidFill>
                <a:srgbClr val="17232C"/>
              </a:solidFill>
              <a:latin typeface="B Zar"/>
              <a:ea typeface="B Zar"/>
              <a:cs typeface="B Zar"/>
            </a:endParaRPr>
          </a:p>
        </p:txBody>
      </p:sp>
      <p:pic>
        <p:nvPicPr>
          <p:cNvPr id="14" name="Picture 13"/>
          <p:cNvPicPr>
            <a:picLocks noChangeAspect="1"/>
          </p:cNvPicPr>
          <p:nvPr/>
        </p:nvPicPr>
        <p:blipFill>
          <a:blip r:embed="rId3"/>
          <a:stretch/>
        </p:blipFill>
        <p:spPr>
          <a:xfrm>
            <a:off x="428984" y="187916"/>
            <a:ext cx="535979" cy="628650"/>
          </a:xfrm>
          <a:prstGeom prst="rect">
            <a:avLst/>
          </a:prstGeom>
        </p:spPr>
      </p:pic>
      <p:sp>
        <p:nvSpPr>
          <p:cNvPr id="15" name="Rectangle 14">
            <a:extLst>
              <a:ext uri="{FF2B5EF4-FFF2-40B4-BE49-F238E27FC236}">
                <a16:creationId xmlns:a16="http://schemas.microsoft.com/office/drawing/2014/main" id="{C4452ECC-0329-42FD-A992-5D81CCFFD581}"/>
              </a:ext>
            </a:extLst>
          </p:cNvPr>
          <p:cNvSpPr>
            <a:spLocks noGrp="1"/>
          </p:cNvSpPr>
          <p:nvPr/>
        </p:nvSpPr>
        <p:spPr>
          <a:xfrm>
            <a:off x="1754630" y="279232"/>
            <a:ext cx="10096500" cy="485775"/>
          </a:xfrm>
          <a:prstGeom prst="rect">
            <a:avLst/>
          </a:prstGeom>
          <a:noFill/>
          <a:ln w="0">
            <a:noFill/>
          </a:ln>
        </p:spPr>
        <p:txBody>
          <a:bodyPr lIns="57150" tIns="38100" rIns="57150" bIns="38100" anchor="ctr">
            <a:noAutofit/>
          </a:bodyPr>
          <a:lstStyle/>
          <a:p>
            <a:pPr algn="r" rtl="1">
              <a:defRPr sz="3100" b="1">
                <a:solidFill>
                  <a:srgbClr val="173E5A"/>
                </a:solidFill>
                <a:latin typeface="B Zar"/>
                <a:ea typeface="B Zar"/>
                <a:cs typeface="B Zar"/>
              </a:defRPr>
            </a:pPr>
            <a:r>
              <a:rPr lang="fa-IR" altLang="fa-IR" sz="3100" b="1" dirty="0">
                <a:solidFill>
                  <a:srgbClr val="173E5A"/>
                </a:solidFill>
                <a:latin typeface="B Zar"/>
                <a:ea typeface="B Zar"/>
                <a:cs typeface="B Zar"/>
              </a:rPr>
              <a:t>پیکربندی و کد آموزش نهایی</a:t>
            </a:r>
          </a:p>
        </p:txBody>
      </p:sp>
      <p:sp>
        <p:nvSpPr>
          <p:cNvPr id="2" name="Round Same Side Corner Rectangle 1"/>
          <p:cNvSpPr/>
          <p:nvPr/>
        </p:nvSpPr>
        <p:spPr>
          <a:xfrm>
            <a:off x="5715001" y="1285874"/>
            <a:ext cx="5810250" cy="474099"/>
          </a:xfrm>
          <a:prstGeom prst="round2Same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5781369" y="1307552"/>
            <a:ext cx="4355690" cy="400110"/>
          </a:xfrm>
          <a:prstGeom prst="rect">
            <a:avLst/>
          </a:prstGeom>
        </p:spPr>
        <p:txBody>
          <a:bodyPr wrap="square">
            <a:spAutoFit/>
          </a:bodyPr>
          <a:lstStyle/>
          <a:p>
            <a:pPr marR="317500" algn="r">
              <a:spcAft>
                <a:spcPts val="800"/>
              </a:spcAft>
              <a:defRPr sz="2100">
                <a:solidFill>
                  <a:srgbClr val="17232C"/>
                </a:solidFill>
                <a:latin typeface="B Zar"/>
                <a:ea typeface="B Zar"/>
                <a:cs typeface="B Zar"/>
              </a:defRPr>
            </a:pPr>
            <a:r>
              <a:rPr lang="en-US" altLang="fa-IR" sz="2000" dirty="0" smtClean="0">
                <a:solidFill>
                  <a:schemeClr val="bg1"/>
                </a:solidFill>
                <a:latin typeface="Times New Roman" panose="02020603050405020304" pitchFamily="18" charset="0"/>
                <a:ea typeface="Times New Roman"/>
                <a:cs typeface="Times New Roman"/>
              </a:rPr>
              <a:t>IADD_YOLOv11_Colab_run8.ipynb</a:t>
            </a:r>
            <a:endParaRPr lang="en-US" altLang="fa-IR" sz="2000" dirty="0">
              <a:solidFill>
                <a:schemeClr val="bg1"/>
              </a:solidFill>
              <a:latin typeface="Times New Roman" panose="02020603050405020304" pitchFamily="18" charset="0"/>
              <a:ea typeface="Times New Roman"/>
              <a:cs typeface="Times New Roman"/>
            </a:endParaRPr>
          </a:p>
        </p:txBody>
      </p:sp>
    </p:spTree>
    <p:extLst>
      <p:ext uri="{BB962C8B-B14F-4D97-AF65-F5344CB8AC3E}">
        <p14:creationId xmlns:p14="http://schemas.microsoft.com/office/powerpoint/2010/main" val="1444449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ounded Rectangle 22"/>
          <p:cNvSpPr/>
          <p:nvPr/>
        </p:nvSpPr>
        <p:spPr>
          <a:xfrm>
            <a:off x="6821958" y="4589660"/>
            <a:ext cx="4634253" cy="1319527"/>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32AA3B7-BAD5-4166-B9F7-777FDB2CB8EC}"/>
              </a:ext>
            </a:extLst>
          </p:cNvPr>
          <p:cNvSpPr>
            <a:spLocks noGrp="1"/>
          </p:cNvSpPr>
          <p:nvPr/>
        </p:nvSpPr>
        <p:spPr>
          <a:xfrm>
            <a:off x="171450" y="6496050"/>
            <a:ext cx="1762125" cy="238125"/>
          </a:xfrm>
          <a:prstGeom prst="rect">
            <a:avLst/>
          </a:prstGeom>
          <a:noFill/>
          <a:ln w="0">
            <a:noFill/>
          </a:ln>
        </p:spPr>
        <p:txBody>
          <a:bodyPr lIns="57150" tIns="38100" rIns="57150" bIns="38100" anchor="ctr">
            <a:noAutofit/>
          </a:bodyPr>
          <a:lstStyle/>
          <a:p>
            <a:pPr algn="r" rtl="1">
              <a:defRPr sz="1600" b="0">
                <a:solidFill>
                  <a:srgbClr val="52626E"/>
                </a:solidFill>
                <a:latin typeface="B Zar"/>
                <a:ea typeface="B Zar"/>
                <a:cs typeface="B Zar"/>
              </a:defRPr>
            </a:pPr>
            <a:r>
              <a:rPr lang="fa-IR" altLang="fa-IR" sz="1600" b="0" smtClean="0">
                <a:solidFill>
                  <a:srgbClr val="52626E"/>
                </a:solidFill>
                <a:latin typeface="B Zar"/>
                <a:ea typeface="B Zar"/>
                <a:cs typeface="B Zar"/>
              </a:rPr>
              <a:t>صفحه ۲۳ از ۳۱</a:t>
            </a:r>
            <a:endParaRPr lang="fa-IR" altLang="fa-IR" sz="1600" b="0">
              <a:solidFill>
                <a:srgbClr val="52626E"/>
              </a:solidFill>
              <a:latin typeface="B Zar"/>
              <a:ea typeface="B Zar"/>
              <a:cs typeface="B Zar"/>
            </a:endParaRPr>
          </a:p>
        </p:txBody>
      </p:sp>
      <p:pic>
        <p:nvPicPr>
          <p:cNvPr id="21" name="Picture 20"/>
          <p:cNvPicPr>
            <a:picLocks noChangeAspect="1"/>
          </p:cNvPicPr>
          <p:nvPr/>
        </p:nvPicPr>
        <p:blipFill>
          <a:blip r:embed="rId3"/>
          <a:stretch/>
        </p:blipFill>
        <p:spPr>
          <a:xfrm>
            <a:off x="523874" y="1285875"/>
            <a:ext cx="5696941" cy="4554486"/>
          </a:xfrm>
          <a:prstGeom prst="rect">
            <a:avLst/>
          </a:prstGeom>
        </p:spPr>
      </p:pic>
      <p:pic>
        <p:nvPicPr>
          <p:cNvPr id="15" name="Picture 14"/>
          <p:cNvPicPr>
            <a:picLocks noChangeAspect="1"/>
          </p:cNvPicPr>
          <p:nvPr/>
        </p:nvPicPr>
        <p:blipFill>
          <a:blip r:embed="rId4"/>
          <a:stretch/>
        </p:blipFill>
        <p:spPr>
          <a:xfrm>
            <a:off x="428984" y="187916"/>
            <a:ext cx="535979" cy="628650"/>
          </a:xfrm>
          <a:prstGeom prst="rect">
            <a:avLst/>
          </a:prstGeom>
        </p:spPr>
      </p:pic>
      <p:sp>
        <p:nvSpPr>
          <p:cNvPr id="16" name="Rectangle 15">
            <a:extLst>
              <a:ext uri="{FF2B5EF4-FFF2-40B4-BE49-F238E27FC236}">
                <a16:creationId xmlns:a16="http://schemas.microsoft.com/office/drawing/2014/main" id="{C4452ECC-0329-42FD-A992-5D81CCFFD581}"/>
              </a:ext>
            </a:extLst>
          </p:cNvPr>
          <p:cNvSpPr>
            <a:spLocks noGrp="1"/>
          </p:cNvSpPr>
          <p:nvPr/>
        </p:nvSpPr>
        <p:spPr>
          <a:xfrm>
            <a:off x="1754630" y="279232"/>
            <a:ext cx="10096500" cy="485775"/>
          </a:xfrm>
          <a:prstGeom prst="rect">
            <a:avLst/>
          </a:prstGeom>
          <a:noFill/>
          <a:ln w="0">
            <a:noFill/>
          </a:ln>
        </p:spPr>
        <p:txBody>
          <a:bodyPr lIns="57150" tIns="38100" rIns="57150" bIns="38100" anchor="ctr">
            <a:noAutofit/>
          </a:bodyPr>
          <a:lstStyle/>
          <a:p>
            <a:pPr algn="r" rtl="1">
              <a:defRPr sz="3100" b="1">
                <a:solidFill>
                  <a:srgbClr val="173E5A"/>
                </a:solidFill>
                <a:latin typeface="B Zar"/>
                <a:ea typeface="B Zar"/>
                <a:cs typeface="B Zar"/>
              </a:defRPr>
            </a:pPr>
            <a:r>
              <a:rPr lang="fa-IR" altLang="fa-IR" sz="3100" b="1" dirty="0" smtClean="0">
                <a:solidFill>
                  <a:srgbClr val="173E5A"/>
                </a:solidFill>
                <a:latin typeface="B Zar"/>
                <a:ea typeface="B Zar"/>
                <a:cs typeface="B Zar"/>
              </a:rPr>
              <a:t>آزمایش مقایسه‌ای انتخاب بهینه‌ساز</a:t>
            </a:r>
            <a:endParaRPr lang="fa-IR" altLang="fa-IR" sz="3100" b="1" dirty="0">
              <a:solidFill>
                <a:srgbClr val="173E5A"/>
              </a:solidFill>
              <a:latin typeface="B Zar"/>
              <a:ea typeface="B Zar"/>
              <a:cs typeface="B Zar"/>
            </a:endParaRPr>
          </a:p>
        </p:txBody>
      </p:sp>
      <p:sp>
        <p:nvSpPr>
          <p:cNvPr id="9" name="TextBox 8"/>
          <p:cNvSpPr txBox="1"/>
          <p:nvPr/>
        </p:nvSpPr>
        <p:spPr>
          <a:xfrm>
            <a:off x="6194323" y="1578691"/>
            <a:ext cx="5322511" cy="2631490"/>
          </a:xfrm>
          <a:prstGeom prst="rect">
            <a:avLst/>
          </a:prstGeom>
          <a:noFill/>
        </p:spPr>
        <p:txBody>
          <a:bodyPr wrap="square" rtlCol="0">
            <a:spAutoFit/>
          </a:bodyPr>
          <a:lstStyle/>
          <a:p>
            <a:pPr marL="342900" indent="-342900" algn="just" rtl="1">
              <a:lnSpc>
                <a:spcPct val="150000"/>
              </a:lnSpc>
              <a:buFont typeface="Arial" panose="020B0604020202020204" pitchFamily="34" charset="0"/>
              <a:buChar char="•"/>
            </a:pPr>
            <a:r>
              <a:rPr lang="fa-IR" sz="2100" b="1" dirty="0" smtClean="0">
                <a:cs typeface="B Zar" panose="00000400000000000000" pitchFamily="50" charset="-78"/>
              </a:rPr>
              <a:t>عوامل متغیر</a:t>
            </a:r>
            <a:r>
              <a:rPr lang="fa-IR" sz="2100" b="1" dirty="0">
                <a:cs typeface="B Zar" panose="00000400000000000000" pitchFamily="50" charset="-78"/>
              </a:rPr>
              <a:t>: </a:t>
            </a:r>
            <a:r>
              <a:rPr lang="fa-IR" sz="2100" dirty="0" smtClean="0">
                <a:cs typeface="B Zar" panose="00000400000000000000" pitchFamily="50" charset="-78"/>
              </a:rPr>
              <a:t>نوع</a:t>
            </a:r>
            <a:r>
              <a:rPr lang="fa-IR" sz="2100" b="1" dirty="0" smtClean="0">
                <a:cs typeface="B Zar" panose="00000400000000000000" pitchFamily="50" charset="-78"/>
              </a:rPr>
              <a:t> </a:t>
            </a:r>
            <a:r>
              <a:rPr lang="fa-IR" sz="2200" dirty="0" smtClean="0">
                <a:cs typeface="B Zar" panose="00000400000000000000" pitchFamily="50" charset="-78"/>
              </a:rPr>
              <a:t>بهینه‌ساز و زمان‌بند</a:t>
            </a:r>
            <a:endParaRPr lang="fa-IR" sz="2200" dirty="0">
              <a:cs typeface="B Zar" panose="00000400000000000000" pitchFamily="50" charset="-78"/>
            </a:endParaRPr>
          </a:p>
          <a:p>
            <a:pPr marL="342900" indent="-342900" algn="just" rtl="1">
              <a:lnSpc>
                <a:spcPct val="150000"/>
              </a:lnSpc>
              <a:buFont typeface="Arial" panose="020B0604020202020204" pitchFamily="34" charset="0"/>
              <a:buChar char="•"/>
            </a:pPr>
            <a:r>
              <a:rPr lang="fa-IR" sz="2100" b="1" dirty="0" smtClean="0">
                <a:cs typeface="B Zar" panose="00000400000000000000" pitchFamily="50" charset="-78"/>
              </a:rPr>
              <a:t>پیکربندی </a:t>
            </a:r>
            <a:r>
              <a:rPr lang="fa-IR" sz="2100" b="1" dirty="0">
                <a:cs typeface="B Zar" panose="00000400000000000000" pitchFamily="50" charset="-78"/>
              </a:rPr>
              <a:t>۱: </a:t>
            </a:r>
            <a:r>
              <a:rPr lang="en-US" sz="2100" dirty="0" smtClean="0">
                <a:latin typeface="Times New Roman" panose="02020603050405020304" pitchFamily="18" charset="0"/>
                <a:cs typeface="Times New Roman" panose="02020603050405020304" pitchFamily="18" charset="0"/>
              </a:rPr>
              <a:t>SGD</a:t>
            </a:r>
            <a:r>
              <a:rPr lang="fa-IR" sz="2200" dirty="0">
                <a:cs typeface="B Zar" panose="00000400000000000000" pitchFamily="50" charset="-78"/>
              </a:rPr>
              <a:t> </a:t>
            </a:r>
            <a:r>
              <a:rPr lang="fa-IR" sz="2200" dirty="0" smtClean="0">
                <a:cs typeface="B Zar" panose="00000400000000000000" pitchFamily="50" charset="-78"/>
              </a:rPr>
              <a:t>+ زمان‌بند خطی</a:t>
            </a:r>
            <a:endParaRPr lang="fa-IR" sz="2200" dirty="0">
              <a:cs typeface="B Zar" panose="00000400000000000000" pitchFamily="50" charset="-78"/>
            </a:endParaRPr>
          </a:p>
          <a:p>
            <a:pPr marL="342900" indent="-342900" algn="just" rtl="1">
              <a:lnSpc>
                <a:spcPct val="150000"/>
              </a:lnSpc>
              <a:buFont typeface="Arial" panose="020B0604020202020204" pitchFamily="34" charset="0"/>
              <a:buChar char="•"/>
            </a:pPr>
            <a:r>
              <a:rPr lang="fa-IR" sz="2100" b="1" dirty="0" smtClean="0">
                <a:cs typeface="B Zar" panose="00000400000000000000" pitchFamily="50" charset="-78"/>
              </a:rPr>
              <a:t>پیکربندی </a:t>
            </a:r>
            <a:r>
              <a:rPr lang="fa-IR" sz="2100" b="1" dirty="0">
                <a:cs typeface="B Zar" panose="00000400000000000000" pitchFamily="50" charset="-78"/>
              </a:rPr>
              <a:t>۲: </a:t>
            </a:r>
            <a:r>
              <a:rPr lang="en-US" sz="2100" dirty="0" err="1" smtClean="0">
                <a:latin typeface="Times New Roman" panose="02020603050405020304" pitchFamily="18" charset="0"/>
                <a:cs typeface="Times New Roman" panose="02020603050405020304" pitchFamily="18" charset="0"/>
              </a:rPr>
              <a:t>AdamW</a:t>
            </a:r>
            <a:r>
              <a:rPr lang="fa-IR" sz="2200" dirty="0" smtClean="0">
                <a:cs typeface="B Zar" panose="00000400000000000000" pitchFamily="50" charset="-78"/>
              </a:rPr>
              <a:t> + زمان‌بند کسینوسی</a:t>
            </a:r>
            <a:endParaRPr lang="fa-IR" sz="2200" dirty="0">
              <a:cs typeface="B Zar" panose="00000400000000000000" pitchFamily="50" charset="-78"/>
            </a:endParaRPr>
          </a:p>
          <a:p>
            <a:pPr marL="342900" indent="-342900" algn="just" rtl="1">
              <a:lnSpc>
                <a:spcPct val="150000"/>
              </a:lnSpc>
              <a:buFont typeface="Arial" panose="020B0604020202020204" pitchFamily="34" charset="0"/>
              <a:buChar char="•"/>
            </a:pPr>
            <a:r>
              <a:rPr lang="fa-IR" sz="2200" dirty="0" smtClean="0">
                <a:cs typeface="B Zar" panose="00000400000000000000" pitchFamily="50" charset="-78"/>
              </a:rPr>
              <a:t>شرایط </a:t>
            </a:r>
            <a:r>
              <a:rPr lang="fa-IR" sz="2200" dirty="0">
                <a:cs typeface="B Zar" panose="00000400000000000000" pitchFamily="50" charset="-78"/>
              </a:rPr>
              <a:t>آموزش و افزایش داده </a:t>
            </a:r>
            <a:r>
              <a:rPr lang="fa-IR" sz="2200" dirty="0" smtClean="0">
                <a:cs typeface="B Zar" panose="00000400000000000000" pitchFamily="50" charset="-78"/>
              </a:rPr>
              <a:t>یکسان</a:t>
            </a:r>
            <a:endParaRPr lang="fa-IR" sz="2200" dirty="0">
              <a:cs typeface="B Zar" panose="00000400000000000000" pitchFamily="50" charset="-78"/>
            </a:endParaRPr>
          </a:p>
          <a:p>
            <a:pPr marL="342900" indent="-342900" algn="just" rtl="1">
              <a:lnSpc>
                <a:spcPct val="150000"/>
              </a:lnSpc>
              <a:buFont typeface="Arial" panose="020B0604020202020204" pitchFamily="34" charset="0"/>
              <a:buChar char="•"/>
            </a:pPr>
            <a:r>
              <a:rPr lang="fa-IR" sz="2200" dirty="0" smtClean="0">
                <a:cs typeface="B Zar" panose="00000400000000000000" pitchFamily="50" charset="-78"/>
              </a:rPr>
              <a:t>عملکرد </a:t>
            </a:r>
            <a:r>
              <a:rPr lang="fa-IR" sz="2200" dirty="0">
                <a:cs typeface="B Zar" panose="00000400000000000000" pitchFamily="50" charset="-78"/>
              </a:rPr>
              <a:t>بهتر </a:t>
            </a:r>
            <a:r>
              <a:rPr lang="en-US" sz="2100" dirty="0" err="1" smtClean="0">
                <a:latin typeface="Times New Roman" panose="02020603050405020304" pitchFamily="18" charset="0"/>
                <a:cs typeface="Times New Roman" panose="02020603050405020304" pitchFamily="18" charset="0"/>
              </a:rPr>
              <a:t>AdamW</a:t>
            </a:r>
            <a:r>
              <a:rPr lang="fa-IR" sz="2200" dirty="0" smtClean="0">
                <a:cs typeface="B Zar" panose="00000400000000000000" pitchFamily="50" charset="-78"/>
              </a:rPr>
              <a:t> در </a:t>
            </a:r>
            <a:r>
              <a:rPr lang="fa-IR" sz="2200" dirty="0">
                <a:cs typeface="B Zar" panose="00000400000000000000" pitchFamily="50" charset="-78"/>
              </a:rPr>
              <a:t>اعتبارسنجی و </a:t>
            </a:r>
            <a:r>
              <a:rPr lang="fa-IR" sz="2200" dirty="0" smtClean="0">
                <a:cs typeface="B Zar" panose="00000400000000000000" pitchFamily="50" charset="-78"/>
              </a:rPr>
              <a:t>آزمون</a:t>
            </a:r>
            <a:endParaRPr lang="fa-IR" sz="2200" dirty="0">
              <a:cs typeface="B Zar" panose="00000400000000000000" pitchFamily="50" charset="-78"/>
            </a:endParaRPr>
          </a:p>
        </p:txBody>
      </p:sp>
      <p:sp>
        <p:nvSpPr>
          <p:cNvPr id="20" name="Rectangle 19"/>
          <p:cNvSpPr/>
          <p:nvPr/>
        </p:nvSpPr>
        <p:spPr>
          <a:xfrm>
            <a:off x="7098891" y="4638820"/>
            <a:ext cx="4080388" cy="1200329"/>
          </a:xfrm>
          <a:prstGeom prst="rect">
            <a:avLst/>
          </a:prstGeom>
        </p:spPr>
        <p:txBody>
          <a:bodyPr wrap="square">
            <a:spAutoFit/>
          </a:bodyPr>
          <a:lstStyle/>
          <a:p>
            <a:pPr algn="just" rtl="1">
              <a:lnSpc>
                <a:spcPct val="150000"/>
              </a:lnSpc>
            </a:pPr>
            <a:r>
              <a:rPr lang="fa-IR" sz="2400" b="1" dirty="0">
                <a:solidFill>
                  <a:schemeClr val="accent3">
                    <a:lumMod val="75000"/>
                  </a:schemeClr>
                </a:solidFill>
                <a:cs typeface="B Zar" panose="00000400000000000000" pitchFamily="50" charset="-78"/>
              </a:rPr>
              <a:t>نتیجه: </a:t>
            </a:r>
            <a:r>
              <a:rPr lang="en-US" sz="2400" b="1" dirty="0" err="1">
                <a:latin typeface="Times New Roman" panose="02020603050405020304" pitchFamily="18" charset="0"/>
                <a:cs typeface="Times New Roman" panose="02020603050405020304" pitchFamily="18" charset="0"/>
              </a:rPr>
              <a:t>AdamW</a:t>
            </a:r>
            <a:r>
              <a:rPr lang="en-US" sz="2400" b="1" dirty="0">
                <a:latin typeface="Times New Roman" panose="02020603050405020304" pitchFamily="18" charset="0"/>
                <a:cs typeface="Times New Roman" panose="02020603050405020304" pitchFamily="18" charset="0"/>
              </a:rPr>
              <a:t> + Cosine</a:t>
            </a:r>
            <a:r>
              <a:rPr lang="fa-IR" sz="2400" b="1" dirty="0">
                <a:latin typeface="Times New Roman" panose="02020603050405020304" pitchFamily="18" charset="0"/>
                <a:cs typeface="Times New Roman" panose="02020603050405020304" pitchFamily="18" charset="0"/>
              </a:rPr>
              <a:t>  </a:t>
            </a:r>
          </a:p>
          <a:p>
            <a:pPr algn="just" rtl="1">
              <a:lnSpc>
                <a:spcPct val="150000"/>
              </a:lnSpc>
            </a:pPr>
            <a:r>
              <a:rPr lang="fa-IR" sz="2400" dirty="0" smtClean="0">
                <a:cs typeface="B Zar" panose="00000400000000000000" pitchFamily="50" charset="-78"/>
              </a:rPr>
              <a:t>   به عنوان پیکربندی برنده انتخاب شد</a:t>
            </a:r>
            <a:endParaRPr lang="en-US" sz="2400" dirty="0">
              <a:cs typeface="B Zar" panose="00000400000000000000" pitchFamily="50" charset="-78"/>
            </a:endParaRPr>
          </a:p>
        </p:txBody>
      </p:sp>
    </p:spTree>
    <p:extLst>
      <p:ext uri="{BB962C8B-B14F-4D97-AF65-F5344CB8AC3E}">
        <p14:creationId xmlns:p14="http://schemas.microsoft.com/office/powerpoint/2010/main" val="1361744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7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331720"/>
            <a:ext cx="11057839" cy="1903085"/>
          </a:xfrm>
          <a:prstGeom prst="rect">
            <a:avLst/>
          </a:prstGeom>
          <a:noFill/>
        </p:spPr>
        <p:txBody>
          <a:bodyPr wrap="square" anchor="t">
            <a:spAutoFit/>
          </a:bodyPr>
          <a:lstStyle/>
          <a:p>
            <a:pPr algn="ctr" rtl="1">
              <a:spcAft>
                <a:spcPts val="1400"/>
              </a:spcAft>
            </a:pPr>
            <a:r>
              <a:rPr lang="fa-IR" sz="2600" b="1" dirty="0">
                <a:solidFill>
                  <a:srgbClr val="216BA5"/>
                </a:solidFill>
                <a:cs typeface="B Zar"/>
              </a:rPr>
              <a:t>بخش </a:t>
            </a:r>
            <a:r>
              <a:rPr lang="fa-IR" sz="2600" b="1" dirty="0" smtClean="0">
                <a:solidFill>
                  <a:srgbClr val="216BA5"/>
                </a:solidFill>
                <a:cs typeface="B Zar"/>
              </a:rPr>
              <a:t>4</a:t>
            </a:r>
            <a:endParaRPr lang="fa-IR" sz="2600" b="1" dirty="0">
              <a:solidFill>
                <a:srgbClr val="216BA5"/>
              </a:solidFill>
              <a:cs typeface="B Zar"/>
            </a:endParaRPr>
          </a:p>
          <a:p>
            <a:pPr algn="ctr" rtl="1">
              <a:spcAft>
                <a:spcPts val="1200"/>
              </a:spcAft>
            </a:pPr>
            <a:r>
              <a:rPr lang="fa-IR" sz="4600" b="1" dirty="0" smtClean="0">
                <a:solidFill>
                  <a:srgbClr val="1B4F72"/>
                </a:solidFill>
                <a:cs typeface="B Zar"/>
              </a:rPr>
              <a:t>بررسی نتایج و جمع‌بندی</a:t>
            </a:r>
          </a:p>
          <a:p>
            <a:pPr algn="ctr" rtl="1">
              <a:spcAft>
                <a:spcPts val="1200"/>
              </a:spcAft>
            </a:pPr>
            <a:r>
              <a:rPr lang="fa-IR" sz="2400" dirty="0" smtClean="0">
                <a:solidFill>
                  <a:srgbClr val="4A5A66"/>
                </a:solidFill>
                <a:cs typeface="B Zar"/>
              </a:rPr>
              <a:t>نمایش نمودارها و تصاویر خروجی، نتیجه‌گیری و پیشنهادات برای پژوهش‌های آینده</a:t>
            </a:r>
            <a:endParaRPr lang="fa-IR" sz="2400" b="0" dirty="0">
              <a:solidFill>
                <a:srgbClr val="4A5A66"/>
              </a:solidFill>
              <a:cs typeface="B Zar"/>
            </a:endParaRPr>
          </a:p>
        </p:txBody>
      </p:sp>
    </p:spTree>
    <p:extLst>
      <p:ext uri="{BB962C8B-B14F-4D97-AF65-F5344CB8AC3E}">
        <p14:creationId xmlns:p14="http://schemas.microsoft.com/office/powerpoint/2010/main" val="2460137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16D89-BF1B-4B6B-862A-41098D665409}"/>
              </a:ext>
            </a:extLst>
          </p:cNvPr>
          <p:cNvSpPr>
            <a:spLocks noGrp="1"/>
          </p:cNvSpPr>
          <p:nvPr/>
        </p:nvSpPr>
        <p:spPr>
          <a:xfrm>
            <a:off x="171450" y="6496050"/>
            <a:ext cx="1762125" cy="238125"/>
          </a:xfrm>
          <a:prstGeom prst="rect">
            <a:avLst/>
          </a:prstGeom>
          <a:noFill/>
          <a:ln w="0">
            <a:noFill/>
          </a:ln>
        </p:spPr>
        <p:txBody>
          <a:bodyPr lIns="57150" tIns="38100" rIns="57150" bIns="38100" anchor="ctr">
            <a:noAutofit/>
          </a:bodyPr>
          <a:lstStyle/>
          <a:p>
            <a:pPr algn="r" rtl="1">
              <a:defRPr sz="1600" b="0">
                <a:solidFill>
                  <a:srgbClr val="52626E"/>
                </a:solidFill>
                <a:latin typeface="B Zar"/>
                <a:ea typeface="B Zar"/>
                <a:cs typeface="B Zar"/>
              </a:defRPr>
            </a:pPr>
            <a:r>
              <a:rPr lang="fa-IR" altLang="fa-IR" sz="1600" b="0" smtClean="0">
                <a:solidFill>
                  <a:srgbClr val="52626E"/>
                </a:solidFill>
                <a:latin typeface="B Zar"/>
                <a:ea typeface="B Zar"/>
                <a:cs typeface="B Zar"/>
              </a:rPr>
              <a:t>صفحه ۲۵ از ۳۱</a:t>
            </a:r>
            <a:endParaRPr lang="fa-IR" altLang="fa-IR" sz="1600" b="0">
              <a:solidFill>
                <a:srgbClr val="52626E"/>
              </a:solidFill>
              <a:latin typeface="B Zar"/>
              <a:ea typeface="B Zar"/>
              <a:cs typeface="B Zar"/>
            </a:endParaRPr>
          </a:p>
        </p:txBody>
      </p:sp>
      <p:pic>
        <p:nvPicPr>
          <p:cNvPr id="23" name="Picture 22"/>
          <p:cNvPicPr>
            <a:picLocks noChangeAspect="1"/>
          </p:cNvPicPr>
          <p:nvPr/>
        </p:nvPicPr>
        <p:blipFill>
          <a:blip r:embed="rId3"/>
          <a:stretch/>
        </p:blipFill>
        <p:spPr>
          <a:xfrm>
            <a:off x="1294651" y="1020004"/>
            <a:ext cx="5351956" cy="5221049"/>
          </a:xfrm>
          <a:prstGeom prst="rect">
            <a:avLst/>
          </a:prstGeom>
        </p:spPr>
      </p:pic>
      <p:sp>
        <p:nvSpPr>
          <p:cNvPr id="9" name="Rounded Rectangle 8">
            <a:extLst>
              <a:ext uri="{FF2B5EF4-FFF2-40B4-BE49-F238E27FC236}">
                <a16:creationId xmlns:a16="http://schemas.microsoft.com/office/drawing/2014/main" id="{BE8C9CC0-6630-4BF5-8856-9645F2C6B547}"/>
              </a:ext>
            </a:extLst>
          </p:cNvPr>
          <p:cNvSpPr>
            <a:spLocks noGrp="1"/>
          </p:cNvSpPr>
          <p:nvPr/>
        </p:nvSpPr>
        <p:spPr>
          <a:xfrm>
            <a:off x="7537962" y="1535366"/>
            <a:ext cx="3145094" cy="1866593"/>
          </a:xfrm>
          <a:prstGeom prst="roundRect">
            <a:avLst>
              <a:gd name="adj" fmla="val 5161"/>
            </a:avLst>
          </a:prstGeom>
          <a:solidFill>
            <a:srgbClr val="E7F0F7"/>
          </a:solidFill>
          <a:ln w="11430">
            <a:solidFill>
              <a:srgbClr val="216BA5"/>
            </a:solidFill>
          </a:ln>
        </p:spPr>
        <p:txBody>
          <a:bodyPr/>
          <a:lstStyle/>
          <a:p>
            <a:endParaRPr/>
          </a:p>
        </p:txBody>
      </p:sp>
      <p:sp>
        <p:nvSpPr>
          <p:cNvPr id="10" name="Rectangle 9">
            <a:extLst>
              <a:ext uri="{FF2B5EF4-FFF2-40B4-BE49-F238E27FC236}">
                <a16:creationId xmlns:a16="http://schemas.microsoft.com/office/drawing/2014/main" id="{A846A9D6-B029-47AD-A207-A9EA63CCAC00}"/>
              </a:ext>
            </a:extLst>
          </p:cNvPr>
          <p:cNvSpPr>
            <a:spLocks noGrp="1"/>
          </p:cNvSpPr>
          <p:nvPr/>
        </p:nvSpPr>
        <p:spPr>
          <a:xfrm>
            <a:off x="7823710" y="1824186"/>
            <a:ext cx="2516075" cy="782765"/>
          </a:xfrm>
          <a:prstGeom prst="rect">
            <a:avLst/>
          </a:prstGeom>
          <a:noFill/>
          <a:ln w="0">
            <a:noFill/>
          </a:ln>
        </p:spPr>
        <p:txBody>
          <a:bodyPr lIns="57150" tIns="38100" rIns="57150" bIns="38100" anchor="ctr">
            <a:noAutofit/>
          </a:bodyPr>
          <a:lstStyle/>
          <a:p>
            <a:pPr algn="ctr" rtl="1">
              <a:defRPr sz="4200" b="1">
                <a:solidFill>
                  <a:srgbClr val="216BA5"/>
                </a:solidFill>
                <a:latin typeface="B Zar"/>
                <a:ea typeface="B Zar"/>
                <a:cs typeface="B Zar"/>
              </a:defRPr>
            </a:pPr>
            <a:r>
              <a:rPr lang="fa-IR" altLang="fa-IR" sz="4800" b="1" dirty="0">
                <a:solidFill>
                  <a:srgbClr val="216BA5"/>
                </a:solidFill>
                <a:latin typeface="B Zar"/>
                <a:ea typeface="B Zar"/>
                <a:cs typeface="B Zar"/>
              </a:rPr>
              <a:t>۰٫۸۷۴</a:t>
            </a:r>
          </a:p>
        </p:txBody>
      </p:sp>
      <p:sp>
        <p:nvSpPr>
          <p:cNvPr id="11" name="Rectangle 10">
            <a:extLst>
              <a:ext uri="{FF2B5EF4-FFF2-40B4-BE49-F238E27FC236}">
                <a16:creationId xmlns:a16="http://schemas.microsoft.com/office/drawing/2014/main" id="{CAC8722F-D4B8-437E-BE86-E8CD08767A58}"/>
              </a:ext>
            </a:extLst>
          </p:cNvPr>
          <p:cNvSpPr>
            <a:spLocks noGrp="1"/>
          </p:cNvSpPr>
          <p:nvPr/>
        </p:nvSpPr>
        <p:spPr>
          <a:xfrm>
            <a:off x="7928547" y="2659803"/>
            <a:ext cx="2306402" cy="433531"/>
          </a:xfrm>
          <a:prstGeom prst="rect">
            <a:avLst/>
          </a:prstGeom>
          <a:noFill/>
          <a:ln w="0">
            <a:noFill/>
          </a:ln>
        </p:spPr>
        <p:txBody>
          <a:bodyPr lIns="38100" tIns="28575" rIns="38100" bIns="28575" anchor="ctr">
            <a:noAutofit/>
          </a:bodyPr>
          <a:lstStyle/>
          <a:p>
            <a:pPr algn="ctr">
              <a:defRPr sz="2200" b="1">
                <a:solidFill>
                  <a:srgbClr val="173E5A"/>
                </a:solidFill>
                <a:latin typeface="Times New Roman"/>
                <a:ea typeface="Times New Roman"/>
                <a:cs typeface="Times New Roman"/>
              </a:defRPr>
            </a:pPr>
            <a:r>
              <a:rPr lang="en-US" altLang="fa-IR" sz="2400" b="1" dirty="0">
                <a:solidFill>
                  <a:srgbClr val="173E5A"/>
                </a:solidFill>
                <a:latin typeface="Times New Roman"/>
                <a:ea typeface="Times New Roman"/>
                <a:cs typeface="Times New Roman"/>
              </a:rPr>
              <a:t>mAP@0.5</a:t>
            </a:r>
          </a:p>
        </p:txBody>
      </p:sp>
      <p:sp>
        <p:nvSpPr>
          <p:cNvPr id="12" name="Rounded Rectangle 11">
            <a:extLst>
              <a:ext uri="{FF2B5EF4-FFF2-40B4-BE49-F238E27FC236}">
                <a16:creationId xmlns:a16="http://schemas.microsoft.com/office/drawing/2014/main" id="{BCD05252-5D53-40A4-9E6D-DC208C2BC12C}"/>
              </a:ext>
            </a:extLst>
          </p:cNvPr>
          <p:cNvSpPr>
            <a:spLocks noGrp="1"/>
          </p:cNvSpPr>
          <p:nvPr/>
        </p:nvSpPr>
        <p:spPr>
          <a:xfrm>
            <a:off x="7537962" y="3699352"/>
            <a:ext cx="3145094" cy="1787046"/>
          </a:xfrm>
          <a:prstGeom prst="roundRect">
            <a:avLst>
              <a:gd name="adj" fmla="val 5161"/>
            </a:avLst>
          </a:prstGeom>
          <a:solidFill>
            <a:srgbClr val="E7F4EA"/>
          </a:solidFill>
          <a:ln w="11430">
            <a:solidFill>
              <a:srgbClr val="25834A"/>
            </a:solidFill>
          </a:ln>
        </p:spPr>
        <p:txBody>
          <a:bodyPr/>
          <a:lstStyle/>
          <a:p>
            <a:endParaRPr/>
          </a:p>
        </p:txBody>
      </p:sp>
      <p:sp>
        <p:nvSpPr>
          <p:cNvPr id="13" name="Rectangle 12">
            <a:extLst>
              <a:ext uri="{FF2B5EF4-FFF2-40B4-BE49-F238E27FC236}">
                <a16:creationId xmlns:a16="http://schemas.microsoft.com/office/drawing/2014/main" id="{ED0F99F8-386F-4BAA-A83E-AC90EBF5F235}"/>
              </a:ext>
            </a:extLst>
          </p:cNvPr>
          <p:cNvSpPr>
            <a:spLocks noGrp="1"/>
          </p:cNvSpPr>
          <p:nvPr/>
        </p:nvSpPr>
        <p:spPr>
          <a:xfrm>
            <a:off x="7823709" y="3945344"/>
            <a:ext cx="2516075" cy="749406"/>
          </a:xfrm>
          <a:prstGeom prst="rect">
            <a:avLst/>
          </a:prstGeom>
          <a:noFill/>
          <a:ln w="0">
            <a:noFill/>
          </a:ln>
        </p:spPr>
        <p:txBody>
          <a:bodyPr lIns="57150" tIns="38100" rIns="57150" bIns="38100" anchor="ctr">
            <a:noAutofit/>
          </a:bodyPr>
          <a:lstStyle/>
          <a:p>
            <a:pPr algn="ctr" rtl="1">
              <a:defRPr sz="4200" b="1">
                <a:solidFill>
                  <a:srgbClr val="25834A"/>
                </a:solidFill>
                <a:latin typeface="B Zar"/>
                <a:ea typeface="B Zar"/>
                <a:cs typeface="B Zar"/>
              </a:defRPr>
            </a:pPr>
            <a:r>
              <a:rPr lang="fa-IR" altLang="fa-IR" sz="4800" b="1" dirty="0">
                <a:solidFill>
                  <a:srgbClr val="25834A"/>
                </a:solidFill>
                <a:latin typeface="B Zar"/>
                <a:ea typeface="B Zar"/>
                <a:cs typeface="B Zar"/>
              </a:rPr>
              <a:t>۰٫۷۰۷</a:t>
            </a:r>
          </a:p>
        </p:txBody>
      </p:sp>
      <p:sp>
        <p:nvSpPr>
          <p:cNvPr id="14" name="Rectangle 13">
            <a:extLst>
              <a:ext uri="{FF2B5EF4-FFF2-40B4-BE49-F238E27FC236}">
                <a16:creationId xmlns:a16="http://schemas.microsoft.com/office/drawing/2014/main" id="{7328F3A8-2508-48AF-9DB5-38703E152140}"/>
              </a:ext>
            </a:extLst>
          </p:cNvPr>
          <p:cNvSpPr>
            <a:spLocks noGrp="1"/>
          </p:cNvSpPr>
          <p:nvPr/>
        </p:nvSpPr>
        <p:spPr>
          <a:xfrm>
            <a:off x="7666453" y="4733214"/>
            <a:ext cx="2830585" cy="415056"/>
          </a:xfrm>
          <a:prstGeom prst="rect">
            <a:avLst/>
          </a:prstGeom>
          <a:noFill/>
          <a:ln w="0">
            <a:noFill/>
          </a:ln>
        </p:spPr>
        <p:txBody>
          <a:bodyPr lIns="38100" tIns="28575" rIns="38100" bIns="28575" anchor="ctr">
            <a:noAutofit/>
          </a:bodyPr>
          <a:lstStyle/>
          <a:p>
            <a:pPr algn="ctr">
              <a:defRPr sz="2100" b="1">
                <a:solidFill>
                  <a:srgbClr val="173E5A"/>
                </a:solidFill>
                <a:latin typeface="Times New Roman"/>
                <a:ea typeface="Times New Roman"/>
                <a:cs typeface="Times New Roman"/>
              </a:defRPr>
            </a:pPr>
            <a:r>
              <a:rPr lang="en-US" altLang="fa-IR" sz="2400" b="1" dirty="0">
                <a:solidFill>
                  <a:srgbClr val="173E5A"/>
                </a:solidFill>
                <a:latin typeface="Times New Roman"/>
                <a:ea typeface="Times New Roman"/>
                <a:cs typeface="Times New Roman"/>
              </a:rPr>
              <a:t>mAP@0.5:0.95</a:t>
            </a:r>
          </a:p>
        </p:txBody>
      </p:sp>
      <p:pic>
        <p:nvPicPr>
          <p:cNvPr id="17" name="Picture 16"/>
          <p:cNvPicPr>
            <a:picLocks noChangeAspect="1"/>
          </p:cNvPicPr>
          <p:nvPr/>
        </p:nvPicPr>
        <p:blipFill>
          <a:blip r:embed="rId4"/>
          <a:stretch/>
        </p:blipFill>
        <p:spPr>
          <a:xfrm>
            <a:off x="428984" y="187916"/>
            <a:ext cx="535979" cy="628650"/>
          </a:xfrm>
          <a:prstGeom prst="rect">
            <a:avLst/>
          </a:prstGeom>
        </p:spPr>
      </p:pic>
      <p:sp>
        <p:nvSpPr>
          <p:cNvPr id="18" name="Rectangle 17">
            <a:extLst>
              <a:ext uri="{FF2B5EF4-FFF2-40B4-BE49-F238E27FC236}">
                <a16:creationId xmlns:a16="http://schemas.microsoft.com/office/drawing/2014/main" id="{C4452ECC-0329-42FD-A992-5D81CCFFD581}"/>
              </a:ext>
            </a:extLst>
          </p:cNvPr>
          <p:cNvSpPr>
            <a:spLocks noGrp="1"/>
          </p:cNvSpPr>
          <p:nvPr/>
        </p:nvSpPr>
        <p:spPr>
          <a:xfrm>
            <a:off x="1754630" y="279232"/>
            <a:ext cx="10096500" cy="485775"/>
          </a:xfrm>
          <a:prstGeom prst="rect">
            <a:avLst/>
          </a:prstGeom>
          <a:noFill/>
          <a:ln w="0">
            <a:noFill/>
          </a:ln>
        </p:spPr>
        <p:txBody>
          <a:bodyPr lIns="57150" tIns="38100" rIns="57150" bIns="38100" anchor="ctr">
            <a:noAutofit/>
          </a:bodyPr>
          <a:lstStyle/>
          <a:p>
            <a:pPr algn="r" rtl="1">
              <a:defRPr sz="3100" b="1">
                <a:solidFill>
                  <a:srgbClr val="173E5A"/>
                </a:solidFill>
                <a:latin typeface="B Zar"/>
                <a:ea typeface="B Zar"/>
                <a:cs typeface="B Zar"/>
              </a:defRPr>
            </a:pPr>
            <a:r>
              <a:rPr lang="fa-IR" altLang="fa-IR" sz="3100" b="1" dirty="0">
                <a:solidFill>
                  <a:srgbClr val="173E5A"/>
                </a:solidFill>
                <a:latin typeface="B Zar"/>
                <a:ea typeface="B Zar"/>
                <a:cs typeface="B Zar"/>
              </a:rPr>
              <a:t>ارزیابی نهایی روی بخش آزمون</a:t>
            </a:r>
          </a:p>
        </p:txBody>
      </p:sp>
    </p:spTree>
    <p:extLst>
      <p:ext uri="{BB962C8B-B14F-4D97-AF65-F5344CB8AC3E}">
        <p14:creationId xmlns:p14="http://schemas.microsoft.com/office/powerpoint/2010/main" val="1643007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FA1A54A-0121-42A9-8FAB-11D1BB7383A1}"/>
              </a:ext>
            </a:extLst>
          </p:cNvPr>
          <p:cNvSpPr>
            <a:spLocks noGrp="1"/>
          </p:cNvSpPr>
          <p:nvPr/>
        </p:nvSpPr>
        <p:spPr>
          <a:xfrm>
            <a:off x="124132" y="819150"/>
            <a:ext cx="10096500" cy="485775"/>
          </a:xfrm>
          <a:prstGeom prst="rect">
            <a:avLst/>
          </a:prstGeom>
          <a:noFill/>
          <a:ln w="0">
            <a:noFill/>
          </a:ln>
        </p:spPr>
        <p:txBody>
          <a:bodyPr lIns="57150" tIns="38100" rIns="57150" bIns="38100" anchor="ctr">
            <a:noAutofit/>
          </a:bodyPr>
          <a:lstStyle/>
          <a:p>
            <a:pPr algn="r" rtl="1">
              <a:defRPr sz="3100" b="1">
                <a:solidFill>
                  <a:srgbClr val="173E5A"/>
                </a:solidFill>
                <a:latin typeface="B Zar"/>
                <a:ea typeface="B Zar"/>
                <a:cs typeface="B Zar"/>
              </a:defRPr>
            </a:pPr>
            <a:endParaRPr lang="fa-IR" altLang="fa-IR" sz="3100" b="1" dirty="0">
              <a:solidFill>
                <a:srgbClr val="173E5A"/>
              </a:solidFill>
              <a:latin typeface="B Zar"/>
              <a:ea typeface="B Zar"/>
              <a:cs typeface="B Zar"/>
            </a:endParaRPr>
          </a:p>
        </p:txBody>
      </p:sp>
      <p:sp>
        <p:nvSpPr>
          <p:cNvPr id="7" name="Rectangle 6">
            <a:extLst>
              <a:ext uri="{FF2B5EF4-FFF2-40B4-BE49-F238E27FC236}">
                <a16:creationId xmlns:a16="http://schemas.microsoft.com/office/drawing/2014/main" id="{CF23AE8C-969A-42C3-929A-E02446ABFA39}"/>
              </a:ext>
            </a:extLst>
          </p:cNvPr>
          <p:cNvSpPr>
            <a:spLocks noGrp="1"/>
          </p:cNvSpPr>
          <p:nvPr/>
        </p:nvSpPr>
        <p:spPr>
          <a:xfrm>
            <a:off x="171450" y="6496050"/>
            <a:ext cx="1762125" cy="238125"/>
          </a:xfrm>
          <a:prstGeom prst="rect">
            <a:avLst/>
          </a:prstGeom>
          <a:noFill/>
          <a:ln w="0">
            <a:noFill/>
          </a:ln>
        </p:spPr>
        <p:txBody>
          <a:bodyPr lIns="57150" tIns="38100" rIns="57150" bIns="38100" anchor="ctr">
            <a:noAutofit/>
          </a:bodyPr>
          <a:lstStyle/>
          <a:p>
            <a:pPr algn="r" rtl="1">
              <a:defRPr sz="1600" b="0">
                <a:solidFill>
                  <a:srgbClr val="52626E"/>
                </a:solidFill>
                <a:latin typeface="B Zar"/>
                <a:ea typeface="B Zar"/>
                <a:cs typeface="B Zar"/>
              </a:defRPr>
            </a:pPr>
            <a:r>
              <a:rPr lang="fa-IR" altLang="fa-IR" sz="1600" b="0" smtClean="0">
                <a:solidFill>
                  <a:srgbClr val="52626E"/>
                </a:solidFill>
                <a:latin typeface="B Zar"/>
                <a:ea typeface="B Zar"/>
                <a:cs typeface="B Zar"/>
              </a:rPr>
              <a:t>صفحه ۲۶ از ۳۱</a:t>
            </a:r>
            <a:endParaRPr lang="fa-IR" altLang="fa-IR" sz="1600" b="0">
              <a:solidFill>
                <a:srgbClr val="52626E"/>
              </a:solidFill>
              <a:latin typeface="B Zar"/>
              <a:ea typeface="B Zar"/>
              <a:cs typeface="B Zar"/>
            </a:endParaRPr>
          </a:p>
        </p:txBody>
      </p:sp>
      <p:pic>
        <p:nvPicPr>
          <p:cNvPr id="18" name="Picture 17"/>
          <p:cNvPicPr>
            <a:picLocks noChangeAspect="1"/>
          </p:cNvPicPr>
          <p:nvPr/>
        </p:nvPicPr>
        <p:blipFill>
          <a:blip r:embed="rId3"/>
          <a:stretch/>
        </p:blipFill>
        <p:spPr>
          <a:xfrm>
            <a:off x="388706" y="1338035"/>
            <a:ext cx="6656079" cy="4383271"/>
          </a:xfrm>
          <a:prstGeom prst="rect">
            <a:avLst/>
          </a:prstGeom>
          <a:noFill/>
          <a:ln>
            <a:noFill/>
          </a:ln>
        </p:spPr>
        <p:style>
          <a:lnRef idx="0">
            <a:scrgbClr r="0" g="0" b="0"/>
          </a:lnRef>
          <a:fillRef idx="0">
            <a:scrgbClr r="0" g="0" b="0"/>
          </a:fillRef>
          <a:effectRef idx="0">
            <a:scrgbClr r="0" g="0" b="0"/>
          </a:effectRef>
          <a:fontRef idx="minor">
            <a:schemeClr val="dk1"/>
          </a:fontRef>
        </p:style>
      </p:pic>
      <p:sp>
        <p:nvSpPr>
          <p:cNvPr id="9" name="Rectangle 8">
            <a:extLst>
              <a:ext uri="{FF2B5EF4-FFF2-40B4-BE49-F238E27FC236}">
                <a16:creationId xmlns:a16="http://schemas.microsoft.com/office/drawing/2014/main" id="{48761416-00BD-4A93-8464-6A1492F2E2A6}"/>
              </a:ext>
            </a:extLst>
          </p:cNvPr>
          <p:cNvSpPr>
            <a:spLocks noGrp="1"/>
          </p:cNvSpPr>
          <p:nvPr/>
        </p:nvSpPr>
        <p:spPr>
          <a:xfrm>
            <a:off x="7125339" y="1179652"/>
            <a:ext cx="4725791" cy="5083496"/>
          </a:xfrm>
          <a:prstGeom prst="rect">
            <a:avLst/>
          </a:prstGeom>
          <a:noFill/>
          <a:ln>
            <a:noFill/>
          </a:ln>
        </p:spPr>
        <p:style>
          <a:lnRef idx="0">
            <a:scrgbClr r="0" g="0" b="0"/>
          </a:lnRef>
          <a:fillRef idx="0">
            <a:scrgbClr r="0" g="0" b="0"/>
          </a:fillRef>
          <a:effectRef idx="0">
            <a:scrgbClr r="0" g="0" b="0"/>
          </a:effectRef>
          <a:fontRef idx="minor">
            <a:schemeClr val="dk1"/>
          </a:fontRef>
        </p:style>
        <p:txBody>
          <a:bodyPr lIns="76200" tIns="47625" rIns="76200" bIns="47625" anchor="t">
            <a:noAutofit/>
          </a:bodyPr>
          <a:lstStyle/>
          <a:p>
            <a:pPr marL="342900" marR="317500" indent="-342900" algn="just" rtl="1">
              <a:spcBef>
                <a:spcPts val="1000"/>
              </a:spcBef>
              <a:spcAft>
                <a:spcPts val="1000"/>
              </a:spcAft>
              <a:buFont typeface="Arial" panose="020B0604020202020204" pitchFamily="34" charset="0"/>
              <a:buChar char="•"/>
              <a:defRPr sz="2000">
                <a:solidFill>
                  <a:srgbClr val="17232C"/>
                </a:solidFill>
                <a:latin typeface="B Zar"/>
                <a:ea typeface="B Zar"/>
                <a:cs typeface="B Zar"/>
              </a:defRPr>
            </a:pPr>
            <a:r>
              <a:rPr lang="fa-IR" altLang="fa-IR" sz="2000" b="1" dirty="0" smtClean="0">
                <a:solidFill>
                  <a:srgbClr val="17232C"/>
                </a:solidFill>
                <a:latin typeface="B Zar"/>
                <a:ea typeface="B Zar"/>
                <a:cs typeface="B Zar"/>
              </a:rPr>
              <a:t>بهترین </a:t>
            </a:r>
            <a:r>
              <a:rPr lang="fa-IR" altLang="fa-IR" sz="2000" b="1" dirty="0">
                <a:solidFill>
                  <a:srgbClr val="17232C"/>
                </a:solidFill>
                <a:latin typeface="B Zar"/>
                <a:ea typeface="B Zar"/>
                <a:cs typeface="B Zar"/>
              </a:rPr>
              <a:t>عملکرد: </a:t>
            </a:r>
            <a:r>
              <a:rPr lang="fa-IR" altLang="fa-IR" sz="2000" dirty="0">
                <a:solidFill>
                  <a:srgbClr val="17232C"/>
                </a:solidFill>
                <a:latin typeface="B Zar"/>
                <a:ea typeface="B Zar"/>
                <a:cs typeface="B Zar"/>
              </a:rPr>
              <a:t>خودروی سبک</a:t>
            </a:r>
          </a:p>
          <a:p>
            <a:pPr marL="342900" marR="317500" indent="-342900" algn="just" rtl="1">
              <a:spcBef>
                <a:spcPts val="1000"/>
              </a:spcBef>
              <a:spcAft>
                <a:spcPts val="1000"/>
              </a:spcAft>
              <a:buFont typeface="Arial" panose="020B0604020202020204" pitchFamily="34" charset="0"/>
              <a:buChar char="•"/>
              <a:defRPr sz="2000">
                <a:solidFill>
                  <a:srgbClr val="17232C"/>
                </a:solidFill>
                <a:latin typeface="B Zar"/>
                <a:ea typeface="B Zar"/>
                <a:cs typeface="B Zar"/>
              </a:defRPr>
            </a:pPr>
            <a:r>
              <a:rPr lang="fa-IR" altLang="fa-IR" sz="2000" dirty="0" smtClean="0">
                <a:solidFill>
                  <a:srgbClr val="17232C"/>
                </a:solidFill>
                <a:latin typeface="B Zar"/>
                <a:ea typeface="B Zar"/>
                <a:cs typeface="B Zar"/>
              </a:rPr>
              <a:t>موتورسیکلت </a:t>
            </a:r>
            <a:r>
              <a:rPr lang="fa-IR" altLang="fa-IR" sz="2000" dirty="0">
                <a:solidFill>
                  <a:srgbClr val="17232C"/>
                </a:solidFill>
                <a:latin typeface="B Zar"/>
                <a:ea typeface="B Zar"/>
                <a:cs typeface="B Zar"/>
              </a:rPr>
              <a:t>با وجود کم‌نمونه بودن، عملکرد خوبی دارد</a:t>
            </a:r>
          </a:p>
          <a:p>
            <a:pPr marL="342900" marR="317500" indent="-342900" algn="just" rtl="1">
              <a:spcBef>
                <a:spcPts val="1000"/>
              </a:spcBef>
              <a:spcAft>
                <a:spcPts val="1000"/>
              </a:spcAft>
              <a:buFont typeface="Arial" panose="020B0604020202020204" pitchFamily="34" charset="0"/>
              <a:buChar char="•"/>
              <a:defRPr sz="2000">
                <a:solidFill>
                  <a:srgbClr val="17232C"/>
                </a:solidFill>
                <a:latin typeface="B Zar"/>
                <a:ea typeface="B Zar"/>
                <a:cs typeface="B Zar"/>
              </a:defRPr>
            </a:pPr>
            <a:r>
              <a:rPr lang="fa-IR" altLang="fa-IR" sz="2000" b="1" dirty="0" smtClean="0">
                <a:solidFill>
                  <a:srgbClr val="17232C"/>
                </a:solidFill>
                <a:latin typeface="B Zar"/>
                <a:ea typeface="B Zar"/>
                <a:cs typeface="B Zar"/>
              </a:rPr>
              <a:t>ضعیف‌ترین </a:t>
            </a:r>
            <a:r>
              <a:rPr lang="fa-IR" altLang="fa-IR" sz="2000" b="1" dirty="0">
                <a:solidFill>
                  <a:srgbClr val="17232C"/>
                </a:solidFill>
                <a:latin typeface="B Zar"/>
                <a:ea typeface="B Zar"/>
                <a:cs typeface="B Zar"/>
              </a:rPr>
              <a:t>رده: </a:t>
            </a:r>
            <a:r>
              <a:rPr lang="fa-IR" altLang="fa-IR" sz="2000" dirty="0">
                <a:solidFill>
                  <a:srgbClr val="17232C"/>
                </a:solidFill>
                <a:latin typeface="B Zar"/>
                <a:ea typeface="B Zar"/>
                <a:cs typeface="B Zar"/>
              </a:rPr>
              <a:t>اتوبوس، به‌ویژه از نظر فراخوانی</a:t>
            </a:r>
          </a:p>
          <a:p>
            <a:pPr marL="342900" marR="317500" indent="-342900" algn="just" rtl="1">
              <a:spcBef>
                <a:spcPts val="1000"/>
              </a:spcBef>
              <a:spcAft>
                <a:spcPts val="1000"/>
              </a:spcAft>
              <a:buFont typeface="Arial" panose="020B0604020202020204" pitchFamily="34" charset="0"/>
              <a:buChar char="•"/>
              <a:defRPr sz="2000">
                <a:solidFill>
                  <a:srgbClr val="17232C"/>
                </a:solidFill>
                <a:latin typeface="B Zar"/>
                <a:ea typeface="B Zar"/>
                <a:cs typeface="B Zar"/>
              </a:defRPr>
            </a:pPr>
            <a:r>
              <a:rPr lang="fa-IR" altLang="fa-IR" sz="2000" b="1" dirty="0" smtClean="0">
                <a:solidFill>
                  <a:srgbClr val="17232C"/>
                </a:solidFill>
                <a:latin typeface="B Zar"/>
                <a:ea typeface="B Zar"/>
                <a:cs typeface="B Zar"/>
              </a:rPr>
              <a:t>علت </a:t>
            </a:r>
            <a:r>
              <a:rPr lang="fa-IR" altLang="fa-IR" sz="2000" b="1" dirty="0">
                <a:solidFill>
                  <a:srgbClr val="17232C"/>
                </a:solidFill>
                <a:latin typeface="B Zar"/>
                <a:ea typeface="B Zar"/>
                <a:cs typeface="B Zar"/>
              </a:rPr>
              <a:t>ضعف اتوبوس:</a:t>
            </a:r>
            <a:r>
              <a:rPr lang="fa-IR" altLang="fa-IR" sz="2000" dirty="0">
                <a:solidFill>
                  <a:srgbClr val="17232C"/>
                </a:solidFill>
                <a:latin typeface="B Zar"/>
                <a:ea typeface="B Zar"/>
                <a:cs typeface="B Zar"/>
              </a:rPr>
              <a:t> کم‌بودن نمونه و شباهت ظاهری به خودروی باری</a:t>
            </a:r>
          </a:p>
          <a:p>
            <a:pPr marL="342900" marR="317500" indent="-342900" algn="just" rtl="1">
              <a:spcBef>
                <a:spcPts val="1000"/>
              </a:spcBef>
              <a:spcAft>
                <a:spcPts val="1000"/>
              </a:spcAft>
              <a:buFont typeface="Arial" panose="020B0604020202020204" pitchFamily="34" charset="0"/>
              <a:buChar char="•"/>
              <a:defRPr sz="2000">
                <a:solidFill>
                  <a:srgbClr val="17232C"/>
                </a:solidFill>
                <a:latin typeface="B Zar"/>
                <a:ea typeface="B Zar"/>
                <a:cs typeface="B Zar"/>
              </a:defRPr>
            </a:pPr>
            <a:r>
              <a:rPr lang="fa-IR" altLang="fa-IR" sz="2000" dirty="0" smtClean="0">
                <a:solidFill>
                  <a:srgbClr val="17232C"/>
                </a:solidFill>
                <a:latin typeface="B Zar"/>
                <a:ea typeface="B Zar"/>
                <a:cs typeface="B Zar"/>
              </a:rPr>
              <a:t>چراغ </a:t>
            </a:r>
            <a:r>
              <a:rPr lang="fa-IR" altLang="fa-IR" sz="2000" dirty="0">
                <a:solidFill>
                  <a:srgbClr val="17232C"/>
                </a:solidFill>
                <a:latin typeface="B Zar"/>
                <a:ea typeface="B Zar"/>
                <a:cs typeface="B Zar"/>
              </a:rPr>
              <a:t>راهنمایی تحت تأثیر کوچک‌بودن اندازه شیء قرار گرفته است</a:t>
            </a:r>
          </a:p>
          <a:p>
            <a:pPr marL="342900" marR="317500" indent="-342900" algn="just" rtl="1">
              <a:spcBef>
                <a:spcPts val="1000"/>
              </a:spcBef>
              <a:spcAft>
                <a:spcPts val="1000"/>
              </a:spcAft>
              <a:buFont typeface="Arial" panose="020B0604020202020204" pitchFamily="34" charset="0"/>
              <a:buChar char="•"/>
              <a:defRPr sz="2000">
                <a:solidFill>
                  <a:srgbClr val="17232C"/>
                </a:solidFill>
                <a:latin typeface="B Zar"/>
                <a:ea typeface="B Zar"/>
                <a:cs typeface="B Zar"/>
              </a:defRPr>
            </a:pPr>
            <a:r>
              <a:rPr lang="fa-IR" sz="2000" dirty="0"/>
              <a:t>عملکرد وابسته به تعداد نمونه، اندازه شیء و شباهت بصری بین رده‌ها است</a:t>
            </a:r>
            <a:endParaRPr lang="fa-IR" altLang="fa-IR" sz="2000" dirty="0">
              <a:solidFill>
                <a:srgbClr val="17232C"/>
              </a:solidFill>
              <a:latin typeface="B Zar"/>
              <a:ea typeface="B Zar"/>
              <a:cs typeface="B Zar"/>
            </a:endParaRPr>
          </a:p>
        </p:txBody>
      </p:sp>
      <p:pic>
        <p:nvPicPr>
          <p:cNvPr id="12" name="Picture 11"/>
          <p:cNvPicPr>
            <a:picLocks noChangeAspect="1"/>
          </p:cNvPicPr>
          <p:nvPr/>
        </p:nvPicPr>
        <p:blipFill>
          <a:blip r:embed="rId4"/>
          <a:stretch/>
        </p:blipFill>
        <p:spPr>
          <a:xfrm>
            <a:off x="428984" y="187916"/>
            <a:ext cx="535979" cy="628650"/>
          </a:xfrm>
          <a:prstGeom prst="rect">
            <a:avLst/>
          </a:prstGeom>
        </p:spPr>
      </p:pic>
      <p:sp>
        <p:nvSpPr>
          <p:cNvPr id="13" name="Rectangle 12">
            <a:extLst>
              <a:ext uri="{FF2B5EF4-FFF2-40B4-BE49-F238E27FC236}">
                <a16:creationId xmlns:a16="http://schemas.microsoft.com/office/drawing/2014/main" id="{C4452ECC-0329-42FD-A992-5D81CCFFD581}"/>
              </a:ext>
            </a:extLst>
          </p:cNvPr>
          <p:cNvSpPr>
            <a:spLocks noGrp="1"/>
          </p:cNvSpPr>
          <p:nvPr/>
        </p:nvSpPr>
        <p:spPr>
          <a:xfrm>
            <a:off x="1754630" y="279232"/>
            <a:ext cx="10096500" cy="485775"/>
          </a:xfrm>
          <a:prstGeom prst="rect">
            <a:avLst/>
          </a:prstGeom>
          <a:noFill/>
          <a:ln w="0">
            <a:noFill/>
          </a:ln>
        </p:spPr>
        <p:txBody>
          <a:bodyPr lIns="57150" tIns="38100" rIns="57150" bIns="38100" anchor="ctr">
            <a:noAutofit/>
          </a:bodyPr>
          <a:lstStyle/>
          <a:p>
            <a:pPr algn="r" rtl="1">
              <a:defRPr sz="3100" b="1">
                <a:solidFill>
                  <a:srgbClr val="173E5A"/>
                </a:solidFill>
                <a:latin typeface="B Zar"/>
                <a:ea typeface="B Zar"/>
                <a:cs typeface="B Zar"/>
              </a:defRPr>
            </a:pPr>
            <a:r>
              <a:rPr lang="fa-IR" altLang="fa-IR" sz="3100" b="1" dirty="0">
                <a:solidFill>
                  <a:srgbClr val="173E5A"/>
                </a:solidFill>
                <a:latin typeface="B Zar"/>
                <a:ea typeface="B Zar"/>
                <a:cs typeface="B Zar"/>
              </a:rPr>
              <a:t>عملکرد به تفکیک رده</a:t>
            </a:r>
          </a:p>
        </p:txBody>
      </p:sp>
      <p:sp>
        <p:nvSpPr>
          <p:cNvPr id="8" name="Rectangle 7"/>
          <p:cNvSpPr/>
          <p:nvPr/>
        </p:nvSpPr>
        <p:spPr>
          <a:xfrm>
            <a:off x="348430" y="1179652"/>
            <a:ext cx="6736633" cy="47000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5599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p:cNvSpPr/>
          <p:nvPr/>
        </p:nvSpPr>
        <p:spPr>
          <a:xfrm>
            <a:off x="7570838" y="4321049"/>
            <a:ext cx="3588775" cy="1052052"/>
          </a:xfrm>
          <a:prstGeom prst="rect">
            <a:avLst/>
          </a:prstGeom>
          <a:solidFill>
            <a:schemeClr val="accent2">
              <a:lumMod val="40000"/>
              <a:lumOff val="6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CE7EF13-B395-486B-94E9-7A1CE40E4B84}"/>
              </a:ext>
            </a:extLst>
          </p:cNvPr>
          <p:cNvSpPr>
            <a:spLocks noGrp="1"/>
          </p:cNvSpPr>
          <p:nvPr/>
        </p:nvSpPr>
        <p:spPr>
          <a:xfrm>
            <a:off x="171450" y="6496050"/>
            <a:ext cx="1762125" cy="238125"/>
          </a:xfrm>
          <a:prstGeom prst="rect">
            <a:avLst/>
          </a:prstGeom>
          <a:noFill/>
          <a:ln w="0">
            <a:noFill/>
          </a:ln>
        </p:spPr>
        <p:txBody>
          <a:bodyPr lIns="57150" tIns="38100" rIns="57150" bIns="38100" anchor="ctr">
            <a:noAutofit/>
          </a:bodyPr>
          <a:lstStyle/>
          <a:p>
            <a:pPr algn="r" rtl="1">
              <a:defRPr sz="1600" b="0">
                <a:solidFill>
                  <a:srgbClr val="52626E"/>
                </a:solidFill>
                <a:latin typeface="B Zar"/>
                <a:ea typeface="B Zar"/>
                <a:cs typeface="B Zar"/>
              </a:defRPr>
            </a:pPr>
            <a:r>
              <a:rPr lang="fa-IR" altLang="fa-IR" sz="1600" b="0" smtClean="0">
                <a:solidFill>
                  <a:srgbClr val="52626E"/>
                </a:solidFill>
                <a:latin typeface="B Zar"/>
                <a:ea typeface="B Zar"/>
                <a:cs typeface="B Zar"/>
              </a:rPr>
              <a:t>صفحه ۲۷ از ۳۱</a:t>
            </a:r>
            <a:endParaRPr lang="fa-IR" altLang="fa-IR" sz="1600" b="0">
              <a:solidFill>
                <a:srgbClr val="52626E"/>
              </a:solidFill>
              <a:latin typeface="B Zar"/>
              <a:ea typeface="B Zar"/>
              <a:cs typeface="B Zar"/>
            </a:endParaRPr>
          </a:p>
        </p:txBody>
      </p:sp>
      <p:pic>
        <p:nvPicPr>
          <p:cNvPr id="18" name="Picture 17"/>
          <p:cNvPicPr>
            <a:picLocks noChangeAspect="1"/>
          </p:cNvPicPr>
          <p:nvPr/>
        </p:nvPicPr>
        <p:blipFill>
          <a:blip r:embed="rId3"/>
          <a:stretch/>
        </p:blipFill>
        <p:spPr>
          <a:xfrm>
            <a:off x="171450" y="922814"/>
            <a:ext cx="6809453" cy="5438597"/>
          </a:xfrm>
          <a:prstGeom prst="rect">
            <a:avLst/>
          </a:prstGeom>
        </p:spPr>
      </p:pic>
      <p:pic>
        <p:nvPicPr>
          <p:cNvPr id="12" name="Picture 11"/>
          <p:cNvPicPr>
            <a:picLocks noChangeAspect="1"/>
          </p:cNvPicPr>
          <p:nvPr/>
        </p:nvPicPr>
        <p:blipFill>
          <a:blip r:embed="rId4"/>
          <a:stretch/>
        </p:blipFill>
        <p:spPr>
          <a:xfrm>
            <a:off x="428984" y="187916"/>
            <a:ext cx="535979" cy="628650"/>
          </a:xfrm>
          <a:prstGeom prst="rect">
            <a:avLst/>
          </a:prstGeom>
        </p:spPr>
      </p:pic>
      <p:sp>
        <p:nvSpPr>
          <p:cNvPr id="13" name="Rectangle 12">
            <a:extLst>
              <a:ext uri="{FF2B5EF4-FFF2-40B4-BE49-F238E27FC236}">
                <a16:creationId xmlns:a16="http://schemas.microsoft.com/office/drawing/2014/main" id="{C4452ECC-0329-42FD-A992-5D81CCFFD581}"/>
              </a:ext>
            </a:extLst>
          </p:cNvPr>
          <p:cNvSpPr>
            <a:spLocks noGrp="1"/>
          </p:cNvSpPr>
          <p:nvPr/>
        </p:nvSpPr>
        <p:spPr>
          <a:xfrm>
            <a:off x="1754630" y="279232"/>
            <a:ext cx="10096500" cy="485775"/>
          </a:xfrm>
          <a:prstGeom prst="rect">
            <a:avLst/>
          </a:prstGeom>
          <a:noFill/>
          <a:ln w="0">
            <a:noFill/>
          </a:ln>
        </p:spPr>
        <p:txBody>
          <a:bodyPr lIns="57150" tIns="38100" rIns="57150" bIns="38100" anchor="ctr">
            <a:noAutofit/>
          </a:bodyPr>
          <a:lstStyle/>
          <a:p>
            <a:pPr algn="r" rtl="1">
              <a:defRPr sz="3100" b="1">
                <a:solidFill>
                  <a:srgbClr val="173E5A"/>
                </a:solidFill>
                <a:latin typeface="B Zar"/>
                <a:ea typeface="B Zar"/>
                <a:cs typeface="B Zar"/>
              </a:defRPr>
            </a:pPr>
            <a:r>
              <a:rPr lang="fa-IR" altLang="fa-IR" sz="3100" b="1" dirty="0">
                <a:solidFill>
                  <a:srgbClr val="173E5A"/>
                </a:solidFill>
                <a:latin typeface="B Zar"/>
                <a:ea typeface="B Zar"/>
                <a:cs typeface="B Zar"/>
              </a:rPr>
              <a:t>ماتریس درهم‌ریختگی</a:t>
            </a:r>
          </a:p>
        </p:txBody>
      </p:sp>
      <p:sp>
        <p:nvSpPr>
          <p:cNvPr id="20" name="TextBox 19"/>
          <p:cNvSpPr txBox="1"/>
          <p:nvPr/>
        </p:nvSpPr>
        <p:spPr>
          <a:xfrm>
            <a:off x="7492180" y="1490296"/>
            <a:ext cx="4090219" cy="2631490"/>
          </a:xfrm>
          <a:prstGeom prst="rect">
            <a:avLst/>
          </a:prstGeom>
          <a:noFill/>
        </p:spPr>
        <p:txBody>
          <a:bodyPr wrap="square" rtlCol="0">
            <a:spAutoFit/>
          </a:bodyPr>
          <a:lstStyle/>
          <a:p>
            <a:pPr marL="342900" indent="-342900" algn="just" rtl="1">
              <a:lnSpc>
                <a:spcPct val="150000"/>
              </a:lnSpc>
              <a:buFont typeface="Arial" panose="020B0604020202020204" pitchFamily="34" charset="0"/>
              <a:buChar char="•"/>
            </a:pPr>
            <a:r>
              <a:rPr lang="fa-IR" sz="2200" dirty="0" smtClean="0">
                <a:cs typeface="B Zar" panose="00000400000000000000" pitchFamily="50" charset="-78"/>
              </a:rPr>
              <a:t>بیشترین </a:t>
            </a:r>
            <a:r>
              <a:rPr lang="fa-IR" sz="2200" dirty="0">
                <a:cs typeface="B Zar" panose="00000400000000000000" pitchFamily="50" charset="-78"/>
              </a:rPr>
              <a:t>خطا بین </a:t>
            </a:r>
            <a:r>
              <a:rPr lang="fa-IR" sz="2200" dirty="0" smtClean="0">
                <a:cs typeface="B Zar" panose="00000400000000000000" pitchFamily="50" charset="-78"/>
              </a:rPr>
              <a:t>اتوبوس </a:t>
            </a:r>
            <a:r>
              <a:rPr lang="fa-IR" sz="2200" dirty="0">
                <a:cs typeface="B Zar" panose="00000400000000000000" pitchFamily="50" charset="-78"/>
              </a:rPr>
              <a:t>و خودروی </a:t>
            </a:r>
            <a:r>
              <a:rPr lang="fa-IR" sz="2200" dirty="0" smtClean="0">
                <a:cs typeface="B Zar" panose="00000400000000000000" pitchFamily="50" charset="-78"/>
              </a:rPr>
              <a:t>باری</a:t>
            </a:r>
            <a:endParaRPr lang="en-US" sz="2200" dirty="0" smtClean="0">
              <a:cs typeface="B Zar" panose="00000400000000000000" pitchFamily="50" charset="-78"/>
            </a:endParaRPr>
          </a:p>
          <a:p>
            <a:pPr marL="342900" indent="-342900" algn="just" rtl="1">
              <a:lnSpc>
                <a:spcPct val="150000"/>
              </a:lnSpc>
              <a:buFont typeface="Arial" panose="020B0604020202020204" pitchFamily="34" charset="0"/>
              <a:buChar char="•"/>
            </a:pPr>
            <a:r>
              <a:rPr lang="fa-IR" sz="2200" dirty="0" smtClean="0">
                <a:cs typeface="B Zar" panose="00000400000000000000" pitchFamily="50" charset="-78"/>
              </a:rPr>
              <a:t>بخشی </a:t>
            </a:r>
            <a:r>
              <a:rPr lang="fa-IR" sz="2200" dirty="0">
                <a:cs typeface="B Zar" panose="00000400000000000000" pitchFamily="50" charset="-78"/>
              </a:rPr>
              <a:t>از </a:t>
            </a:r>
            <a:r>
              <a:rPr lang="fa-IR" sz="2200" dirty="0" smtClean="0">
                <a:cs typeface="B Zar" panose="00000400000000000000" pitchFamily="50" charset="-78"/>
              </a:rPr>
              <a:t>چراغ‌های راهنمایی به‌صورت </a:t>
            </a:r>
            <a:r>
              <a:rPr lang="fa-IR" sz="2200" dirty="0">
                <a:cs typeface="B Zar" panose="00000400000000000000" pitchFamily="50" charset="-78"/>
              </a:rPr>
              <a:t>پس‌زمینه تشخیص داده </a:t>
            </a:r>
            <a:r>
              <a:rPr lang="fa-IR" sz="2200" dirty="0" smtClean="0">
                <a:cs typeface="B Zar" panose="00000400000000000000" pitchFamily="50" charset="-78"/>
              </a:rPr>
              <a:t>شده‌اند</a:t>
            </a:r>
            <a:endParaRPr lang="en-US" sz="2200" dirty="0" smtClean="0">
              <a:cs typeface="B Zar" panose="00000400000000000000" pitchFamily="50" charset="-78"/>
            </a:endParaRPr>
          </a:p>
          <a:p>
            <a:pPr marL="342900" indent="-342900" algn="just" rtl="1">
              <a:lnSpc>
                <a:spcPct val="150000"/>
              </a:lnSpc>
              <a:buFont typeface="Arial" panose="020B0604020202020204" pitchFamily="34" charset="0"/>
              <a:buChar char="•"/>
            </a:pPr>
            <a:r>
              <a:rPr lang="fa-IR" sz="2200" b="1" dirty="0" smtClean="0">
                <a:cs typeface="B Zar" panose="00000400000000000000" pitchFamily="50" charset="-78"/>
              </a:rPr>
              <a:t>چالش‌های </a:t>
            </a:r>
            <a:r>
              <a:rPr lang="fa-IR" sz="2200" b="1" dirty="0">
                <a:cs typeface="B Zar" panose="00000400000000000000" pitchFamily="50" charset="-78"/>
              </a:rPr>
              <a:t>اصلی: </a:t>
            </a:r>
            <a:r>
              <a:rPr lang="fa-IR" sz="2200" dirty="0" smtClean="0">
                <a:cs typeface="B Zar" panose="00000400000000000000" pitchFamily="50" charset="-78"/>
              </a:rPr>
              <a:t>شباهت </a:t>
            </a:r>
            <a:r>
              <a:rPr lang="fa-IR" sz="2200" dirty="0">
                <a:cs typeface="B Zar" panose="00000400000000000000" pitchFamily="50" charset="-78"/>
              </a:rPr>
              <a:t>ظاهری </a:t>
            </a:r>
            <a:r>
              <a:rPr lang="fa-IR" sz="2200" dirty="0" smtClean="0">
                <a:cs typeface="B Zar" panose="00000400000000000000" pitchFamily="50" charset="-78"/>
              </a:rPr>
              <a:t>رده‌ها </a:t>
            </a:r>
            <a:r>
              <a:rPr lang="fa-IR" sz="2200" dirty="0">
                <a:cs typeface="B Zar" panose="00000400000000000000" pitchFamily="50" charset="-78"/>
              </a:rPr>
              <a:t>و </a:t>
            </a:r>
            <a:r>
              <a:rPr lang="fa-IR" sz="2200" dirty="0" smtClean="0">
                <a:cs typeface="B Zar" panose="00000400000000000000" pitchFamily="50" charset="-78"/>
              </a:rPr>
              <a:t>اشیای کوچک</a:t>
            </a:r>
            <a:endParaRPr lang="en-US" sz="2200" dirty="0">
              <a:cs typeface="B Zar" panose="00000400000000000000" pitchFamily="50" charset="-78"/>
            </a:endParaRPr>
          </a:p>
        </p:txBody>
      </p:sp>
      <p:sp>
        <p:nvSpPr>
          <p:cNvPr id="21" name="TextBox 20"/>
          <p:cNvSpPr txBox="1"/>
          <p:nvPr/>
        </p:nvSpPr>
        <p:spPr>
          <a:xfrm>
            <a:off x="7775687" y="4616242"/>
            <a:ext cx="3179075" cy="461665"/>
          </a:xfrm>
          <a:prstGeom prst="rect">
            <a:avLst/>
          </a:prstGeom>
          <a:noFill/>
        </p:spPr>
        <p:txBody>
          <a:bodyPr wrap="none" rtlCol="0">
            <a:spAutoFit/>
          </a:bodyPr>
          <a:lstStyle/>
          <a:p>
            <a:pPr algn="r" rtl="1"/>
            <a:r>
              <a:rPr lang="fa-IR" sz="2400" b="1" dirty="0">
                <a:cs typeface="B Zar" panose="00000400000000000000" pitchFamily="50" charset="-78"/>
              </a:rPr>
              <a:t>آستانه اطمینان بهینه: 0.406 </a:t>
            </a:r>
            <a:endParaRPr lang="en-US" sz="2400" b="1" dirty="0">
              <a:cs typeface="B Zar" panose="00000400000000000000" pitchFamily="50" charset="-78"/>
            </a:endParaRPr>
          </a:p>
        </p:txBody>
      </p:sp>
    </p:spTree>
    <p:extLst>
      <p:ext uri="{BB962C8B-B14F-4D97-AF65-F5344CB8AC3E}">
        <p14:creationId xmlns:p14="http://schemas.microsoft.com/office/powerpoint/2010/main" val="346383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0C5C63F-A01C-481C-AD14-23F9AF9DD372}"/>
              </a:ext>
            </a:extLst>
          </p:cNvPr>
          <p:cNvSpPr>
            <a:spLocks noGrp="1"/>
          </p:cNvSpPr>
          <p:nvPr/>
        </p:nvSpPr>
        <p:spPr>
          <a:xfrm>
            <a:off x="171450" y="6496050"/>
            <a:ext cx="1762125" cy="238125"/>
          </a:xfrm>
          <a:prstGeom prst="rect">
            <a:avLst/>
          </a:prstGeom>
          <a:noFill/>
          <a:ln w="0">
            <a:noFill/>
          </a:ln>
        </p:spPr>
        <p:txBody>
          <a:bodyPr lIns="57150" tIns="38100" rIns="57150" bIns="38100" anchor="ctr">
            <a:noAutofit/>
          </a:bodyPr>
          <a:lstStyle/>
          <a:p>
            <a:pPr algn="r" rtl="1">
              <a:defRPr sz="1600" b="0">
                <a:solidFill>
                  <a:srgbClr val="52626E"/>
                </a:solidFill>
                <a:latin typeface="B Zar"/>
                <a:ea typeface="B Zar"/>
                <a:cs typeface="B Zar"/>
              </a:defRPr>
            </a:pPr>
            <a:r>
              <a:rPr lang="fa-IR" altLang="fa-IR" sz="1600" b="0" smtClean="0">
                <a:solidFill>
                  <a:srgbClr val="52626E"/>
                </a:solidFill>
                <a:latin typeface="B Zar"/>
                <a:ea typeface="B Zar"/>
                <a:cs typeface="B Zar"/>
              </a:rPr>
              <a:t>صفحه ۲۸ از ۳۱</a:t>
            </a:r>
            <a:endParaRPr lang="fa-IR" altLang="fa-IR" sz="1600" b="0">
              <a:solidFill>
                <a:srgbClr val="52626E"/>
              </a:solidFill>
              <a:latin typeface="B Zar"/>
              <a:ea typeface="B Zar"/>
              <a:cs typeface="B Zar"/>
            </a:endParaRPr>
          </a:p>
        </p:txBody>
      </p:sp>
      <p:pic>
        <p:nvPicPr>
          <p:cNvPr id="19" name="Picture 18"/>
          <p:cNvPicPr>
            <a:picLocks noChangeAspect="1"/>
          </p:cNvPicPr>
          <p:nvPr/>
        </p:nvPicPr>
        <p:blipFill>
          <a:blip r:embed="rId3"/>
          <a:stretch/>
        </p:blipFill>
        <p:spPr>
          <a:xfrm>
            <a:off x="29496" y="1079310"/>
            <a:ext cx="12125672" cy="5043421"/>
          </a:xfrm>
          <a:prstGeom prst="rect">
            <a:avLst/>
          </a:prstGeom>
        </p:spPr>
      </p:pic>
      <p:sp>
        <p:nvSpPr>
          <p:cNvPr id="10" name="Rectangle 9">
            <a:extLst>
              <a:ext uri="{FF2B5EF4-FFF2-40B4-BE49-F238E27FC236}">
                <a16:creationId xmlns:a16="http://schemas.microsoft.com/office/drawing/2014/main" id="{72F67C08-3FB2-4104-8FD1-5EE7EDC20420}"/>
              </a:ext>
            </a:extLst>
          </p:cNvPr>
          <p:cNvSpPr>
            <a:spLocks noGrp="1"/>
          </p:cNvSpPr>
          <p:nvPr/>
        </p:nvSpPr>
        <p:spPr>
          <a:xfrm>
            <a:off x="1630156" y="5709316"/>
            <a:ext cx="2857500" cy="285750"/>
          </a:xfrm>
          <a:prstGeom prst="rect">
            <a:avLst/>
          </a:prstGeom>
          <a:noFill/>
          <a:ln w="0">
            <a:noFill/>
          </a:ln>
        </p:spPr>
        <p:txBody>
          <a:bodyPr lIns="57150" tIns="38100" rIns="57150" bIns="38100" anchor="ctr">
            <a:noAutofit/>
          </a:bodyPr>
          <a:lstStyle/>
          <a:p>
            <a:pPr algn="ctr" rtl="1">
              <a:defRPr sz="2000" b="1">
                <a:solidFill>
                  <a:srgbClr val="173E5A"/>
                </a:solidFill>
                <a:latin typeface="B Zar"/>
                <a:ea typeface="B Zar"/>
                <a:cs typeface="B Zar"/>
              </a:defRPr>
            </a:pPr>
            <a:r>
              <a:rPr lang="fa-IR" altLang="fa-IR" sz="2000" b="1" dirty="0">
                <a:solidFill>
                  <a:srgbClr val="173E5A"/>
                </a:solidFill>
                <a:latin typeface="B Zar"/>
                <a:ea typeface="B Zar"/>
                <a:cs typeface="B Zar"/>
              </a:rPr>
              <a:t>روز و شب</a:t>
            </a:r>
          </a:p>
        </p:txBody>
      </p:sp>
      <p:sp>
        <p:nvSpPr>
          <p:cNvPr id="11" name="Rectangle 10">
            <a:extLst>
              <a:ext uri="{FF2B5EF4-FFF2-40B4-BE49-F238E27FC236}">
                <a16:creationId xmlns:a16="http://schemas.microsoft.com/office/drawing/2014/main" id="{0AABC372-0380-4D8F-9B5C-3E57DA9A33C3}"/>
              </a:ext>
            </a:extLst>
          </p:cNvPr>
          <p:cNvSpPr>
            <a:spLocks noGrp="1"/>
          </p:cNvSpPr>
          <p:nvPr/>
        </p:nvSpPr>
        <p:spPr>
          <a:xfrm>
            <a:off x="7665013" y="5709316"/>
            <a:ext cx="2857500" cy="285750"/>
          </a:xfrm>
          <a:prstGeom prst="rect">
            <a:avLst/>
          </a:prstGeom>
          <a:noFill/>
          <a:ln w="0">
            <a:noFill/>
          </a:ln>
        </p:spPr>
        <p:txBody>
          <a:bodyPr lIns="57150" tIns="38100" rIns="57150" bIns="38100" anchor="ctr">
            <a:noAutofit/>
          </a:bodyPr>
          <a:lstStyle/>
          <a:p>
            <a:pPr algn="ctr" rtl="1">
              <a:defRPr sz="2000" b="1">
                <a:solidFill>
                  <a:srgbClr val="173E5A"/>
                </a:solidFill>
                <a:latin typeface="B Zar"/>
                <a:ea typeface="B Zar"/>
                <a:cs typeface="B Zar"/>
              </a:defRPr>
            </a:pPr>
            <a:r>
              <a:rPr lang="fa-IR" altLang="fa-IR" sz="2000" b="1" dirty="0">
                <a:solidFill>
                  <a:srgbClr val="173E5A"/>
                </a:solidFill>
                <a:latin typeface="B Zar"/>
                <a:ea typeface="B Zar"/>
                <a:cs typeface="B Zar"/>
              </a:rPr>
              <a:t>باران و هوای ابری</a:t>
            </a:r>
          </a:p>
        </p:txBody>
      </p:sp>
      <p:pic>
        <p:nvPicPr>
          <p:cNvPr id="13" name="Picture 12"/>
          <p:cNvPicPr>
            <a:picLocks noChangeAspect="1"/>
          </p:cNvPicPr>
          <p:nvPr/>
        </p:nvPicPr>
        <p:blipFill>
          <a:blip r:embed="rId4"/>
          <a:stretch/>
        </p:blipFill>
        <p:spPr>
          <a:xfrm>
            <a:off x="428984" y="187916"/>
            <a:ext cx="535979" cy="628650"/>
          </a:xfrm>
          <a:prstGeom prst="rect">
            <a:avLst/>
          </a:prstGeom>
        </p:spPr>
      </p:pic>
      <p:sp>
        <p:nvSpPr>
          <p:cNvPr id="14" name="Rectangle 13">
            <a:extLst>
              <a:ext uri="{FF2B5EF4-FFF2-40B4-BE49-F238E27FC236}">
                <a16:creationId xmlns:a16="http://schemas.microsoft.com/office/drawing/2014/main" id="{C4452ECC-0329-42FD-A992-5D81CCFFD581}"/>
              </a:ext>
            </a:extLst>
          </p:cNvPr>
          <p:cNvSpPr>
            <a:spLocks noGrp="1"/>
          </p:cNvSpPr>
          <p:nvPr/>
        </p:nvSpPr>
        <p:spPr>
          <a:xfrm>
            <a:off x="1754630" y="279232"/>
            <a:ext cx="10096500" cy="485775"/>
          </a:xfrm>
          <a:prstGeom prst="rect">
            <a:avLst/>
          </a:prstGeom>
          <a:noFill/>
          <a:ln w="0">
            <a:noFill/>
          </a:ln>
        </p:spPr>
        <p:txBody>
          <a:bodyPr lIns="57150" tIns="38100" rIns="57150" bIns="38100" anchor="ctr">
            <a:noAutofit/>
          </a:bodyPr>
          <a:lstStyle/>
          <a:p>
            <a:pPr algn="r" rtl="1">
              <a:defRPr sz="3100" b="1">
                <a:solidFill>
                  <a:srgbClr val="173E5A"/>
                </a:solidFill>
                <a:latin typeface="B Zar"/>
                <a:ea typeface="B Zar"/>
                <a:cs typeface="B Zar"/>
              </a:defRPr>
            </a:pPr>
            <a:r>
              <a:rPr lang="fa-IR" altLang="fa-IR" sz="3100" b="1" dirty="0" smtClean="0">
                <a:solidFill>
                  <a:srgbClr val="173E5A"/>
                </a:solidFill>
                <a:latin typeface="B Zar"/>
                <a:ea typeface="B Zar"/>
                <a:cs typeface="B Zar"/>
              </a:rPr>
              <a:t>تصاویر خروجی مدل</a:t>
            </a:r>
            <a:endParaRPr lang="fa-IR" altLang="fa-IR" sz="3100" b="1" dirty="0">
              <a:solidFill>
                <a:srgbClr val="173E5A"/>
              </a:solidFill>
              <a:latin typeface="B Zar"/>
              <a:ea typeface="B Zar"/>
              <a:cs typeface="B Zar"/>
            </a:endParaRPr>
          </a:p>
        </p:txBody>
      </p:sp>
    </p:spTree>
    <p:extLst>
      <p:ext uri="{BB962C8B-B14F-4D97-AF65-F5344CB8AC3E}">
        <p14:creationId xmlns:p14="http://schemas.microsoft.com/office/powerpoint/2010/main" val="1927164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 name="Picture 24"/>
          <p:cNvPicPr>
            <a:picLocks noChangeAspect="1"/>
          </p:cNvPicPr>
          <p:nvPr/>
        </p:nvPicPr>
        <p:blipFill>
          <a:blip r:embed="rId3"/>
          <a:stretch/>
        </p:blipFill>
        <p:spPr>
          <a:xfrm>
            <a:off x="255886" y="133350"/>
            <a:ext cx="535979" cy="628650"/>
          </a:xfrm>
          <a:prstGeom prst="rect">
            <a:avLst/>
          </a:prstGeom>
        </p:spPr>
      </p:pic>
      <p:sp>
        <p:nvSpPr>
          <p:cNvPr id="6" name="Rectangle 5">
            <a:extLst>
              <a:ext uri="{FF2B5EF4-FFF2-40B4-BE49-F238E27FC236}">
                <a16:creationId xmlns:a16="http://schemas.microsoft.com/office/drawing/2014/main" id="{F5FA61F8-7026-4443-A781-B5114F03D704}"/>
              </a:ext>
            </a:extLst>
          </p:cNvPr>
          <p:cNvSpPr>
            <a:spLocks noGrp="1"/>
          </p:cNvSpPr>
          <p:nvPr/>
        </p:nvSpPr>
        <p:spPr>
          <a:xfrm>
            <a:off x="1619250" y="295275"/>
            <a:ext cx="10096500" cy="485775"/>
          </a:xfrm>
          <a:prstGeom prst="rect">
            <a:avLst/>
          </a:prstGeom>
          <a:noFill/>
          <a:ln w="0">
            <a:noFill/>
          </a:ln>
        </p:spPr>
        <p:txBody>
          <a:bodyPr lIns="57150" tIns="38100" rIns="57150" bIns="38100" anchor="ctr">
            <a:noAutofit/>
          </a:bodyPr>
          <a:lstStyle/>
          <a:p>
            <a:pPr algn="r" rtl="1">
              <a:defRPr sz="3100" b="1">
                <a:solidFill>
                  <a:srgbClr val="173E5A"/>
                </a:solidFill>
                <a:latin typeface="B Zar"/>
                <a:ea typeface="B Zar"/>
                <a:cs typeface="B Zar"/>
              </a:defRPr>
            </a:pPr>
            <a:r>
              <a:rPr lang="fa-IR" altLang="fa-IR" sz="3100" b="1" dirty="0" smtClean="0">
                <a:solidFill>
                  <a:srgbClr val="173E5A"/>
                </a:solidFill>
                <a:latin typeface="B Zar"/>
                <a:ea typeface="B Zar"/>
                <a:cs typeface="B Zar"/>
              </a:rPr>
              <a:t>جمع‌بندی</a:t>
            </a:r>
            <a:endParaRPr lang="fa-IR" altLang="fa-IR" sz="3100" b="1" dirty="0">
              <a:solidFill>
                <a:srgbClr val="173E5A"/>
              </a:solidFill>
              <a:latin typeface="B Zar"/>
              <a:ea typeface="B Zar"/>
              <a:cs typeface="B Zar"/>
            </a:endParaRPr>
          </a:p>
        </p:txBody>
      </p:sp>
      <p:sp>
        <p:nvSpPr>
          <p:cNvPr id="7" name="Rectangle 6">
            <a:extLst>
              <a:ext uri="{FF2B5EF4-FFF2-40B4-BE49-F238E27FC236}">
                <a16:creationId xmlns:a16="http://schemas.microsoft.com/office/drawing/2014/main" id="{CE2C597B-9528-4FB9-A848-DDB0452F7D83}"/>
              </a:ext>
            </a:extLst>
          </p:cNvPr>
          <p:cNvSpPr>
            <a:spLocks noGrp="1"/>
          </p:cNvSpPr>
          <p:nvPr/>
        </p:nvSpPr>
        <p:spPr>
          <a:xfrm>
            <a:off x="171450" y="6496050"/>
            <a:ext cx="1762125" cy="238125"/>
          </a:xfrm>
          <a:prstGeom prst="rect">
            <a:avLst/>
          </a:prstGeom>
          <a:noFill/>
          <a:ln w="0">
            <a:noFill/>
          </a:ln>
        </p:spPr>
        <p:txBody>
          <a:bodyPr lIns="57150" tIns="38100" rIns="57150" bIns="38100" anchor="ctr">
            <a:noAutofit/>
          </a:bodyPr>
          <a:lstStyle/>
          <a:p>
            <a:pPr algn="r" rtl="1">
              <a:defRPr sz="1600" b="0">
                <a:solidFill>
                  <a:srgbClr val="52626E"/>
                </a:solidFill>
                <a:latin typeface="B Zar"/>
                <a:ea typeface="B Zar"/>
                <a:cs typeface="B Zar"/>
              </a:defRPr>
            </a:pPr>
            <a:r>
              <a:rPr lang="fa-IR" altLang="fa-IR" sz="1600" b="0" smtClean="0">
                <a:solidFill>
                  <a:srgbClr val="52626E"/>
                </a:solidFill>
                <a:latin typeface="B Zar"/>
                <a:ea typeface="B Zar"/>
                <a:cs typeface="B Zar"/>
              </a:rPr>
              <a:t>صفحه ۲۹ از ۳۱</a:t>
            </a:r>
            <a:endParaRPr lang="fa-IR" altLang="fa-IR" sz="1600" b="0" dirty="0">
              <a:solidFill>
                <a:srgbClr val="52626E"/>
              </a:solidFill>
              <a:latin typeface="B Zar"/>
              <a:ea typeface="B Zar"/>
              <a:cs typeface="B Zar"/>
            </a:endParaRPr>
          </a:p>
        </p:txBody>
      </p:sp>
      <p:sp>
        <p:nvSpPr>
          <p:cNvPr id="24" name="TextBox 23"/>
          <p:cNvSpPr txBox="1"/>
          <p:nvPr/>
        </p:nvSpPr>
        <p:spPr>
          <a:xfrm>
            <a:off x="791865" y="553218"/>
            <a:ext cx="10481187" cy="5678478"/>
          </a:xfrm>
          <a:prstGeom prst="rect">
            <a:avLst/>
          </a:prstGeom>
          <a:noFill/>
        </p:spPr>
        <p:txBody>
          <a:bodyPr wrap="square" rtlCol="0">
            <a:spAutoFit/>
          </a:bodyPr>
          <a:lstStyle/>
          <a:p>
            <a:pPr algn="just" rtl="1">
              <a:lnSpc>
                <a:spcPct val="150000"/>
              </a:lnSpc>
            </a:pPr>
            <a:endParaRPr lang="fa-IR" sz="2000" dirty="0">
              <a:cs typeface="B Zar" panose="00000400000000000000" pitchFamily="50" charset="-78"/>
            </a:endParaRPr>
          </a:p>
          <a:p>
            <a:pPr algn="just" rtl="1">
              <a:lnSpc>
                <a:spcPct val="150000"/>
              </a:lnSpc>
            </a:pPr>
            <a:r>
              <a:rPr lang="fa-IR" sz="2200" b="1" dirty="0" smtClean="0">
                <a:solidFill>
                  <a:schemeClr val="accent6">
                    <a:lumMod val="75000"/>
                  </a:schemeClr>
                </a:solidFill>
                <a:cs typeface="B Zar" panose="00000400000000000000" pitchFamily="50" charset="-78"/>
              </a:rPr>
              <a:t>نتیجه‌گیری</a:t>
            </a:r>
            <a:endParaRPr lang="fa-IR" sz="2200" b="1" dirty="0">
              <a:solidFill>
                <a:schemeClr val="accent6">
                  <a:lumMod val="75000"/>
                </a:schemeClr>
              </a:solidFill>
              <a:cs typeface="B Zar" panose="00000400000000000000" pitchFamily="50" charset="-78"/>
            </a:endParaRPr>
          </a:p>
          <a:p>
            <a:pPr marL="285750" indent="-285750" algn="just" rtl="1">
              <a:lnSpc>
                <a:spcPct val="150000"/>
              </a:lnSpc>
              <a:buFont typeface="Arial" panose="020B0604020202020204" pitchFamily="34" charset="0"/>
              <a:buChar char="•"/>
            </a:pPr>
            <a:r>
              <a:rPr lang="fa-IR" sz="2000" b="1" dirty="0" smtClean="0">
                <a:cs typeface="B Zar" panose="00000400000000000000" pitchFamily="50" charset="-78"/>
              </a:rPr>
              <a:t>نتایج مدل نهایی </a:t>
            </a:r>
            <a:r>
              <a:rPr lang="en-US" sz="1900" b="1" dirty="0" smtClean="0">
                <a:latin typeface="Times New Roman" panose="02020603050405020304" pitchFamily="18" charset="0"/>
                <a:cs typeface="Times New Roman" panose="02020603050405020304" pitchFamily="18" charset="0"/>
              </a:rPr>
              <a:t>YOLOv11s</a:t>
            </a:r>
            <a:r>
              <a:rPr lang="fa-IR" sz="1900" b="1" dirty="0" smtClean="0">
                <a:cs typeface="B Zar" panose="00000400000000000000" pitchFamily="50" charset="-78"/>
              </a:rPr>
              <a:t> </a:t>
            </a:r>
            <a:r>
              <a:rPr lang="fa-IR" sz="2000" b="1" dirty="0" smtClean="0">
                <a:cs typeface="B Zar" panose="00000400000000000000" pitchFamily="50" charset="-78"/>
              </a:rPr>
              <a:t>روی آزمون</a:t>
            </a:r>
            <a:r>
              <a:rPr lang="en-US" sz="2000" b="1" dirty="0" smtClean="0">
                <a:cs typeface="B Zar" panose="00000400000000000000" pitchFamily="50" charset="-78"/>
              </a:rPr>
              <a:t>:</a:t>
            </a:r>
            <a:r>
              <a:rPr lang="fa-IR" sz="1900" b="1" dirty="0" smtClean="0">
                <a:cs typeface="B Zar" panose="00000400000000000000" pitchFamily="50" charset="-78"/>
              </a:rPr>
              <a:t> </a:t>
            </a:r>
            <a:r>
              <a:rPr lang="en-US" sz="1900" b="1" dirty="0" smtClean="0">
                <a:cs typeface="B Zar" panose="00000400000000000000" pitchFamily="50" charset="-78"/>
              </a:rPr>
              <a:t> </a:t>
            </a:r>
            <a:endParaRPr lang="fa-IR" sz="1900" b="1" dirty="0" smtClean="0">
              <a:cs typeface="B Zar" panose="00000400000000000000" pitchFamily="50" charset="-78"/>
            </a:endParaRPr>
          </a:p>
          <a:p>
            <a:pPr marL="800100" lvl="1" indent="-342900" algn="just" rtl="1">
              <a:lnSpc>
                <a:spcPct val="150000"/>
              </a:lnSpc>
              <a:buFont typeface="Courier New" panose="02070309020205020404" pitchFamily="49" charset="0"/>
              <a:buChar char="o"/>
            </a:pPr>
            <a:r>
              <a:rPr lang="fa-IR" sz="2000" dirty="0" smtClean="0">
                <a:latin typeface="Times New Roman" panose="02020603050405020304" pitchFamily="18" charset="0"/>
                <a:cs typeface="B Zar" panose="00000400000000000000" pitchFamily="50" charset="-78"/>
              </a:rPr>
              <a:t>میانگین </a:t>
            </a:r>
            <a:r>
              <a:rPr lang="fa-IR" sz="2000" dirty="0">
                <a:latin typeface="Times New Roman" panose="02020603050405020304" pitchFamily="18" charset="0"/>
                <a:cs typeface="B Zar" panose="00000400000000000000" pitchFamily="50" charset="-78"/>
              </a:rPr>
              <a:t>دقت متوسط در آستانه هم‌پوشانی </a:t>
            </a:r>
            <a:r>
              <a:rPr lang="fa-IR" sz="2000" dirty="0" smtClean="0">
                <a:latin typeface="Times New Roman" panose="02020603050405020304" pitchFamily="18" charset="0"/>
                <a:cs typeface="B Zar" panose="00000400000000000000" pitchFamily="50" charset="-78"/>
              </a:rPr>
              <a:t>۰٫۵ = ۰٫۸۷۴</a:t>
            </a:r>
          </a:p>
          <a:p>
            <a:pPr marL="800100" lvl="1" indent="-342900" algn="just" rtl="1">
              <a:lnSpc>
                <a:spcPct val="150000"/>
              </a:lnSpc>
              <a:buFont typeface="Courier New" panose="02070309020205020404" pitchFamily="49" charset="0"/>
              <a:buChar char="o"/>
            </a:pPr>
            <a:r>
              <a:rPr lang="fa-IR" sz="2000" dirty="0" smtClean="0">
                <a:latin typeface="Times New Roman" panose="02020603050405020304" pitchFamily="18" charset="0"/>
                <a:cs typeface="B Zar" panose="00000400000000000000" pitchFamily="50" charset="-78"/>
              </a:rPr>
              <a:t>میانگین </a:t>
            </a:r>
            <a:r>
              <a:rPr lang="fa-IR" sz="2000" dirty="0">
                <a:latin typeface="Times New Roman" panose="02020603050405020304" pitchFamily="18" charset="0"/>
                <a:cs typeface="B Zar" panose="00000400000000000000" pitchFamily="50" charset="-78"/>
              </a:rPr>
              <a:t>دقت متوسط در بازه آستانه‌های هم‌پوشانی ۰٫۵ تا </a:t>
            </a:r>
            <a:r>
              <a:rPr lang="fa-IR" sz="2000" dirty="0" smtClean="0">
                <a:latin typeface="Times New Roman" panose="02020603050405020304" pitchFamily="18" charset="0"/>
                <a:cs typeface="B Zar" panose="00000400000000000000" pitchFamily="50" charset="-78"/>
              </a:rPr>
              <a:t>۰٫۹۵ = ۰٫۷۰۷</a:t>
            </a:r>
          </a:p>
          <a:p>
            <a:pPr marL="342900" indent="-342900" algn="just" rtl="1">
              <a:lnSpc>
                <a:spcPct val="150000"/>
              </a:lnSpc>
              <a:buFont typeface="Arial" panose="020B0604020202020204" pitchFamily="34" charset="0"/>
              <a:buChar char="•"/>
            </a:pPr>
            <a:r>
              <a:rPr lang="fa-IR" sz="2000" dirty="0" smtClean="0">
                <a:cs typeface="B Zar" panose="00000400000000000000" pitchFamily="50" charset="-78"/>
              </a:rPr>
              <a:t>اصلاح </a:t>
            </a:r>
            <a:r>
              <a:rPr lang="fa-IR" sz="2000" dirty="0">
                <a:cs typeface="B Zar" panose="00000400000000000000" pitchFamily="50" charset="-78"/>
              </a:rPr>
              <a:t>ساختار مجموعه‌داده و </a:t>
            </a:r>
            <a:r>
              <a:rPr lang="fa-IR" sz="2000" dirty="0" smtClean="0">
                <a:cs typeface="B Zar" panose="00000400000000000000" pitchFamily="50" charset="-78"/>
              </a:rPr>
              <a:t>جلوگیری </a:t>
            </a:r>
            <a:r>
              <a:rPr lang="fa-IR" sz="2000" dirty="0">
                <a:cs typeface="B Zar" panose="00000400000000000000" pitchFamily="50" charset="-78"/>
              </a:rPr>
              <a:t>از </a:t>
            </a:r>
            <a:r>
              <a:rPr lang="fa-IR" sz="2000" dirty="0" smtClean="0">
                <a:cs typeface="B Zar" panose="00000400000000000000" pitchFamily="50" charset="-78"/>
              </a:rPr>
              <a:t>نشت داده </a:t>
            </a:r>
            <a:r>
              <a:rPr lang="fa-IR" sz="2000" dirty="0">
                <a:cs typeface="B Zar" panose="00000400000000000000" pitchFamily="50" charset="-78"/>
              </a:rPr>
              <a:t>نقش مهم‌تری از تغییر بهینه‌ساز داشت</a:t>
            </a:r>
          </a:p>
          <a:p>
            <a:pPr marL="285750" indent="-285750" algn="just" rtl="1">
              <a:lnSpc>
                <a:spcPct val="150000"/>
              </a:lnSpc>
              <a:buFont typeface="Arial" panose="020B0604020202020204" pitchFamily="34" charset="0"/>
              <a:buChar char="•"/>
            </a:pPr>
            <a:r>
              <a:rPr lang="fa-IR" sz="1900" b="1" dirty="0" smtClean="0">
                <a:cs typeface="B Zar" panose="00000400000000000000" pitchFamily="50" charset="-78"/>
              </a:rPr>
              <a:t>چالش‌های </a:t>
            </a:r>
            <a:r>
              <a:rPr lang="fa-IR" sz="1900" b="1" dirty="0">
                <a:cs typeface="B Zar" panose="00000400000000000000" pitchFamily="50" charset="-78"/>
              </a:rPr>
              <a:t>اصلی: </a:t>
            </a:r>
            <a:r>
              <a:rPr lang="fa-IR" sz="2000" dirty="0" smtClean="0">
                <a:cs typeface="B Zar" panose="00000400000000000000" pitchFamily="50" charset="-78"/>
              </a:rPr>
              <a:t>اشیای کوچک، شباهت </a:t>
            </a:r>
            <a:r>
              <a:rPr lang="fa-IR" sz="2000" dirty="0">
                <a:cs typeface="B Zar" panose="00000400000000000000" pitchFamily="50" charset="-78"/>
              </a:rPr>
              <a:t>اتوبوس با خودروی </a:t>
            </a:r>
            <a:r>
              <a:rPr lang="fa-IR" sz="2000" dirty="0" smtClean="0">
                <a:cs typeface="B Zar" panose="00000400000000000000" pitchFamily="50" charset="-78"/>
              </a:rPr>
              <a:t>باری و کبود برخی نمونه‌ها</a:t>
            </a:r>
            <a:endParaRPr lang="fa-IR" sz="2000" dirty="0">
              <a:cs typeface="B Zar" panose="00000400000000000000" pitchFamily="50" charset="-78"/>
            </a:endParaRPr>
          </a:p>
          <a:p>
            <a:pPr marL="285750" indent="-285750" algn="just" rtl="1">
              <a:lnSpc>
                <a:spcPct val="150000"/>
              </a:lnSpc>
              <a:buFont typeface="Arial" panose="020B0604020202020204" pitchFamily="34" charset="0"/>
              <a:buChar char="•"/>
            </a:pPr>
            <a:endParaRPr lang="fa-IR" dirty="0">
              <a:cs typeface="B Zar" panose="00000400000000000000" pitchFamily="50" charset="-78"/>
            </a:endParaRPr>
          </a:p>
          <a:p>
            <a:pPr algn="just" rtl="1">
              <a:lnSpc>
                <a:spcPct val="150000"/>
              </a:lnSpc>
            </a:pPr>
            <a:r>
              <a:rPr lang="fa-IR" sz="2200" b="1" dirty="0" smtClean="0">
                <a:solidFill>
                  <a:schemeClr val="accent2">
                    <a:lumMod val="75000"/>
                  </a:schemeClr>
                </a:solidFill>
                <a:cs typeface="B Zar" panose="00000400000000000000" pitchFamily="50" charset="-78"/>
              </a:rPr>
              <a:t>پیشنهاد </a:t>
            </a:r>
            <a:r>
              <a:rPr lang="fa-IR" sz="2200" b="1" dirty="0">
                <a:solidFill>
                  <a:schemeClr val="accent2">
                    <a:lumMod val="75000"/>
                  </a:schemeClr>
                </a:solidFill>
                <a:cs typeface="B Zar" panose="00000400000000000000" pitchFamily="50" charset="-78"/>
              </a:rPr>
              <a:t>برای پژوهش‌های آینده</a:t>
            </a:r>
          </a:p>
          <a:p>
            <a:pPr marL="285750" indent="-285750" algn="just" rtl="1">
              <a:lnSpc>
                <a:spcPct val="150000"/>
              </a:lnSpc>
              <a:buFont typeface="Arial" panose="020B0604020202020204" pitchFamily="34" charset="0"/>
              <a:buChar char="•"/>
            </a:pPr>
            <a:r>
              <a:rPr lang="fa-IR" sz="2000" dirty="0" smtClean="0">
                <a:cs typeface="B Zar" panose="00000400000000000000" pitchFamily="50" charset="-78"/>
              </a:rPr>
              <a:t>تکمیل </a:t>
            </a:r>
            <a:r>
              <a:rPr lang="fa-IR" sz="2000" dirty="0">
                <a:cs typeface="B Zar" panose="00000400000000000000" pitchFamily="50" charset="-78"/>
              </a:rPr>
              <a:t>و بهبود </a:t>
            </a:r>
            <a:r>
              <a:rPr lang="fa-IR" sz="2000" dirty="0" smtClean="0">
                <a:cs typeface="B Zar" panose="00000400000000000000" pitchFamily="50" charset="-78"/>
              </a:rPr>
              <a:t>برچسب‌ها </a:t>
            </a:r>
            <a:r>
              <a:rPr lang="fa-IR" sz="2000" dirty="0">
                <a:cs typeface="B Zar" panose="00000400000000000000" pitchFamily="50" charset="-78"/>
              </a:rPr>
              <a:t>و افزایش تنوع نمونه‌های اتوبوس و خودروی باری</a:t>
            </a:r>
          </a:p>
          <a:p>
            <a:pPr marL="285750" indent="-285750" algn="just" rtl="1">
              <a:lnSpc>
                <a:spcPct val="150000"/>
              </a:lnSpc>
              <a:buFont typeface="Arial" panose="020B0604020202020204" pitchFamily="34" charset="0"/>
              <a:buChar char="•"/>
            </a:pPr>
            <a:r>
              <a:rPr lang="fa-IR" sz="2000" dirty="0" smtClean="0">
                <a:cs typeface="B Zar" panose="00000400000000000000" pitchFamily="50" charset="-78"/>
              </a:rPr>
              <a:t>بررسی </a:t>
            </a:r>
            <a:r>
              <a:rPr lang="fa-IR" sz="2000" dirty="0">
                <a:cs typeface="B Zar" panose="00000400000000000000" pitchFamily="50" charset="-78"/>
              </a:rPr>
              <a:t>جداگانه اثر </a:t>
            </a:r>
            <a:r>
              <a:rPr lang="fa-IR" sz="2000" dirty="0" smtClean="0">
                <a:cs typeface="B Zar" panose="00000400000000000000" pitchFamily="50" charset="-78"/>
              </a:rPr>
              <a:t>بهینه‌ساز</a:t>
            </a:r>
            <a:r>
              <a:rPr lang="fa-IR" sz="2000" dirty="0">
                <a:cs typeface="B Zar" panose="00000400000000000000" pitchFamily="50" charset="-78"/>
              </a:rPr>
              <a:t>، نرخ یادگیری و </a:t>
            </a:r>
            <a:r>
              <a:rPr lang="fa-IR" sz="2000" dirty="0" smtClean="0">
                <a:cs typeface="B Zar" panose="00000400000000000000" pitchFamily="50" charset="-78"/>
              </a:rPr>
              <a:t>زمان‌بند </a:t>
            </a:r>
            <a:r>
              <a:rPr lang="fa-IR" sz="2000" dirty="0">
                <a:cs typeface="B Zar" panose="00000400000000000000" pitchFamily="50" charset="-78"/>
              </a:rPr>
              <a:t>با چند بذر تصادفی</a:t>
            </a:r>
          </a:p>
          <a:p>
            <a:pPr marL="285750" indent="-285750" algn="just" rtl="1">
              <a:lnSpc>
                <a:spcPct val="150000"/>
              </a:lnSpc>
              <a:buFont typeface="Arial" panose="020B0604020202020204" pitchFamily="34" charset="0"/>
              <a:buChar char="•"/>
            </a:pPr>
            <a:r>
              <a:rPr lang="fa-IR" sz="2000" dirty="0" smtClean="0">
                <a:cs typeface="B Zar" panose="00000400000000000000" pitchFamily="50" charset="-78"/>
              </a:rPr>
              <a:t>ارزیابی </a:t>
            </a:r>
            <a:r>
              <a:rPr lang="fa-IR" sz="2000" dirty="0">
                <a:cs typeface="B Zar" panose="00000400000000000000" pitchFamily="50" charset="-78"/>
              </a:rPr>
              <a:t>مدل روی </a:t>
            </a:r>
            <a:r>
              <a:rPr lang="fa-IR" sz="2000" dirty="0" smtClean="0">
                <a:cs typeface="B Zar" panose="00000400000000000000" pitchFamily="50" charset="-78"/>
              </a:rPr>
              <a:t>مجموعه‌داده مستقل </a:t>
            </a:r>
            <a:r>
              <a:rPr lang="fa-IR" sz="2000" dirty="0">
                <a:cs typeface="B Zar" panose="00000400000000000000" pitchFamily="50" charset="-78"/>
              </a:rPr>
              <a:t>برای سنجش تعمیم‌پذیری</a:t>
            </a:r>
            <a:endParaRPr lang="en-US" sz="2000" dirty="0">
              <a:cs typeface="B Zar" panose="00000400000000000000" pitchFamily="50" charset="-78"/>
            </a:endParaRPr>
          </a:p>
        </p:txBody>
      </p:sp>
    </p:spTree>
    <p:extLst>
      <p:ext uri="{BB962C8B-B14F-4D97-AF65-F5344CB8AC3E}">
        <p14:creationId xmlns:p14="http://schemas.microsoft.com/office/powerpoint/2010/main" val="991767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7F0F7"/>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C432755-2E09-40B6-A619-5787469ADCC7}"/>
              </a:ext>
            </a:extLst>
          </p:cNvPr>
          <p:cNvSpPr>
            <a:spLocks noGrp="1"/>
          </p:cNvSpPr>
          <p:nvPr/>
        </p:nvSpPr>
        <p:spPr>
          <a:xfrm>
            <a:off x="2190749" y="2597560"/>
            <a:ext cx="7810500" cy="714375"/>
          </a:xfrm>
          <a:prstGeom prst="rect">
            <a:avLst/>
          </a:prstGeom>
          <a:noFill/>
          <a:ln w="0">
            <a:noFill/>
          </a:ln>
        </p:spPr>
        <p:txBody>
          <a:bodyPr lIns="57150" tIns="38100" rIns="57150" bIns="38100" anchor="ctr">
            <a:noAutofit/>
          </a:bodyPr>
          <a:lstStyle/>
          <a:p>
            <a:pPr algn="ctr" rtl="1">
              <a:defRPr sz="4000" b="1">
                <a:solidFill>
                  <a:srgbClr val="173E5A"/>
                </a:solidFill>
                <a:latin typeface="B Zar"/>
                <a:ea typeface="B Zar"/>
                <a:cs typeface="B Zar"/>
              </a:defRPr>
            </a:pPr>
            <a:r>
              <a:rPr lang="fa-IR" altLang="fa-IR" sz="5400" b="1" dirty="0">
                <a:solidFill>
                  <a:srgbClr val="173E5A"/>
                </a:solidFill>
                <a:latin typeface="B Zar"/>
                <a:ea typeface="B Zar"/>
                <a:cs typeface="B Zar"/>
              </a:rPr>
              <a:t>با سپاس از توجه شما</a:t>
            </a:r>
          </a:p>
        </p:txBody>
      </p:sp>
      <p:pic>
        <p:nvPicPr>
          <p:cNvPr id="10" name="Picture 9"/>
          <p:cNvPicPr>
            <a:picLocks noChangeAspect="1"/>
          </p:cNvPicPr>
          <p:nvPr/>
        </p:nvPicPr>
        <p:blipFill>
          <a:blip r:embed="rId3"/>
          <a:stretch/>
        </p:blipFill>
        <p:spPr>
          <a:xfrm>
            <a:off x="5608746" y="400366"/>
            <a:ext cx="974507" cy="1143000"/>
          </a:xfrm>
          <a:prstGeom prst="rect">
            <a:avLst/>
          </a:prstGeom>
        </p:spPr>
      </p:pic>
      <p:sp>
        <p:nvSpPr>
          <p:cNvPr id="5" name="Rectangle 4">
            <a:extLst>
              <a:ext uri="{FF2B5EF4-FFF2-40B4-BE49-F238E27FC236}">
                <a16:creationId xmlns:a16="http://schemas.microsoft.com/office/drawing/2014/main" id="{4FD2AAF7-7A1A-4A9D-914A-C57015020DE5}"/>
              </a:ext>
            </a:extLst>
          </p:cNvPr>
          <p:cNvSpPr>
            <a:spLocks noGrp="1"/>
          </p:cNvSpPr>
          <p:nvPr/>
        </p:nvSpPr>
        <p:spPr>
          <a:xfrm>
            <a:off x="2857500" y="3550059"/>
            <a:ext cx="6477000" cy="552450"/>
          </a:xfrm>
          <a:prstGeom prst="rect">
            <a:avLst/>
          </a:prstGeom>
          <a:noFill/>
          <a:ln w="0">
            <a:noFill/>
          </a:ln>
        </p:spPr>
        <p:txBody>
          <a:bodyPr lIns="57150" tIns="38100" rIns="57150" bIns="38100" anchor="ctr">
            <a:noAutofit/>
          </a:bodyPr>
          <a:lstStyle/>
          <a:p>
            <a:pPr algn="ctr" rtl="1">
              <a:defRPr sz="2900" b="1">
                <a:solidFill>
                  <a:srgbClr val="25834A"/>
                </a:solidFill>
                <a:latin typeface="B Zar"/>
                <a:ea typeface="B Zar"/>
                <a:cs typeface="B Zar"/>
              </a:defRPr>
            </a:pPr>
            <a:r>
              <a:rPr lang="fa-IR" altLang="fa-IR" sz="4000" b="1" dirty="0" smtClean="0">
                <a:solidFill>
                  <a:srgbClr val="25834A"/>
                </a:solidFill>
                <a:latin typeface="B Zar"/>
                <a:ea typeface="B Zar"/>
                <a:cs typeface="B Zar"/>
              </a:rPr>
              <a:t>پرسش و پاسخ</a:t>
            </a:r>
            <a:endParaRPr lang="fa-IR" altLang="fa-IR" sz="4000" b="1" dirty="0">
              <a:solidFill>
                <a:srgbClr val="25834A"/>
              </a:solidFill>
              <a:latin typeface="B Zar"/>
              <a:ea typeface="B Zar"/>
              <a:cs typeface="B Zar"/>
            </a:endParaRPr>
          </a:p>
        </p:txBody>
      </p:sp>
      <p:sp>
        <p:nvSpPr>
          <p:cNvPr id="7" name="Rectangle 6">
            <a:extLst>
              <a:ext uri="{FF2B5EF4-FFF2-40B4-BE49-F238E27FC236}">
                <a16:creationId xmlns:a16="http://schemas.microsoft.com/office/drawing/2014/main" id="{CCFFCD03-8F9B-49CB-8014-EABD5DBA54E7}"/>
              </a:ext>
            </a:extLst>
          </p:cNvPr>
          <p:cNvSpPr>
            <a:spLocks noGrp="1"/>
          </p:cNvSpPr>
          <p:nvPr/>
        </p:nvSpPr>
        <p:spPr>
          <a:xfrm>
            <a:off x="171450" y="6496050"/>
            <a:ext cx="1762125" cy="238125"/>
          </a:xfrm>
          <a:prstGeom prst="rect">
            <a:avLst/>
          </a:prstGeom>
          <a:noFill/>
          <a:ln w="0">
            <a:noFill/>
          </a:ln>
        </p:spPr>
        <p:txBody>
          <a:bodyPr lIns="57150" tIns="38100" rIns="57150" bIns="38100" anchor="ctr">
            <a:noAutofit/>
          </a:bodyPr>
          <a:lstStyle/>
          <a:p>
            <a:pPr algn="r" rtl="1">
              <a:defRPr sz="1600" b="0">
                <a:solidFill>
                  <a:srgbClr val="52626E"/>
                </a:solidFill>
                <a:latin typeface="B Zar"/>
                <a:ea typeface="B Zar"/>
                <a:cs typeface="B Zar"/>
              </a:defRPr>
            </a:pPr>
            <a:r>
              <a:rPr lang="fa-IR" altLang="fa-IR" sz="1600" b="0" smtClean="0">
                <a:solidFill>
                  <a:srgbClr val="52626E"/>
                </a:solidFill>
                <a:latin typeface="B Zar"/>
                <a:ea typeface="B Zar"/>
                <a:cs typeface="B Zar"/>
              </a:rPr>
              <a:t>صفحه ۳۰ از ۳۱</a:t>
            </a:r>
            <a:endParaRPr lang="fa-IR" altLang="fa-IR" sz="1600" b="0">
              <a:solidFill>
                <a:srgbClr val="52626E"/>
              </a:solidFill>
              <a:latin typeface="B Zar"/>
              <a:ea typeface="B Zar"/>
              <a:cs typeface="B Zar"/>
            </a:endParaRPr>
          </a:p>
        </p:txBody>
      </p:sp>
      <p:sp>
        <p:nvSpPr>
          <p:cNvPr id="6" name="Rectangle 5">
            <a:extLst>
              <a:ext uri="{FF2B5EF4-FFF2-40B4-BE49-F238E27FC236}">
                <a16:creationId xmlns:a16="http://schemas.microsoft.com/office/drawing/2014/main" id="{4669FE0F-B982-44B2-AA33-ECB7CF4A98B7}"/>
              </a:ext>
            </a:extLst>
          </p:cNvPr>
          <p:cNvSpPr>
            <a:spLocks noGrp="1"/>
          </p:cNvSpPr>
          <p:nvPr/>
        </p:nvSpPr>
        <p:spPr>
          <a:xfrm>
            <a:off x="-1646" y="0"/>
            <a:ext cx="114300" cy="6858000"/>
          </a:xfrm>
          <a:prstGeom prst="rect">
            <a:avLst/>
          </a:prstGeom>
          <a:solidFill>
            <a:srgbClr val="216BA5"/>
          </a:solidFill>
          <a:ln w="0">
            <a:solidFill>
              <a:srgbClr val="216BA5"/>
            </a:solidFill>
          </a:ln>
        </p:spPr>
        <p:txBody>
          <a:bodyPr/>
          <a:lstStyle/>
          <a:p>
            <a:endParaRPr/>
          </a:p>
        </p:txBody>
      </p:sp>
      <p:sp>
        <p:nvSpPr>
          <p:cNvPr id="8" name="Rectangle 7">
            <a:extLst>
              <a:ext uri="{FF2B5EF4-FFF2-40B4-BE49-F238E27FC236}">
                <a16:creationId xmlns:a16="http://schemas.microsoft.com/office/drawing/2014/main" id="{4669FE0F-B982-44B2-AA33-ECB7CF4A98B7}"/>
              </a:ext>
            </a:extLst>
          </p:cNvPr>
          <p:cNvSpPr>
            <a:spLocks noGrp="1"/>
          </p:cNvSpPr>
          <p:nvPr/>
        </p:nvSpPr>
        <p:spPr>
          <a:xfrm>
            <a:off x="12075722" y="0"/>
            <a:ext cx="114300" cy="6858000"/>
          </a:xfrm>
          <a:prstGeom prst="rect">
            <a:avLst/>
          </a:prstGeom>
          <a:solidFill>
            <a:srgbClr val="216BA5"/>
          </a:solidFill>
          <a:ln w="0">
            <a:solidFill>
              <a:srgbClr val="216BA5"/>
            </a:solidFill>
          </a:ln>
        </p:spPr>
        <p:txBody>
          <a:bodyPr/>
          <a:lstStyle/>
          <a:p>
            <a:endParaRPr/>
          </a:p>
        </p:txBody>
      </p:sp>
    </p:spTree>
    <p:extLst>
      <p:ext uri="{BB962C8B-B14F-4D97-AF65-F5344CB8AC3E}">
        <p14:creationId xmlns:p14="http://schemas.microsoft.com/office/powerpoint/2010/main" val="302049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1D40F3C-DFB5-4300-B744-F961F9A77BBF}"/>
              </a:ext>
            </a:extLst>
          </p:cNvPr>
          <p:cNvSpPr>
            <a:spLocks noGrp="1"/>
          </p:cNvSpPr>
          <p:nvPr/>
        </p:nvSpPr>
        <p:spPr>
          <a:xfrm>
            <a:off x="171450" y="6496050"/>
            <a:ext cx="1762125" cy="238125"/>
          </a:xfrm>
          <a:prstGeom prst="rect">
            <a:avLst/>
          </a:prstGeom>
          <a:noFill/>
          <a:ln w="0">
            <a:noFill/>
          </a:ln>
        </p:spPr>
        <p:txBody>
          <a:bodyPr lIns="57150" tIns="38100" rIns="57150" bIns="38100" anchor="ctr">
            <a:noAutofit/>
          </a:bodyPr>
          <a:lstStyle/>
          <a:p>
            <a:pPr algn="r" rtl="1">
              <a:defRPr sz="1600" b="0">
                <a:solidFill>
                  <a:srgbClr val="52626E"/>
                </a:solidFill>
                <a:latin typeface="B Zar"/>
                <a:ea typeface="B Zar"/>
                <a:cs typeface="B Zar"/>
              </a:defRPr>
            </a:pPr>
            <a:r>
              <a:rPr lang="fa-IR" altLang="fa-IR" sz="1600" b="0" smtClean="0">
                <a:solidFill>
                  <a:srgbClr val="52626E"/>
                </a:solidFill>
                <a:latin typeface="B Zar"/>
                <a:ea typeface="B Zar"/>
                <a:cs typeface="B Zar"/>
              </a:rPr>
              <a:t>صفحه ۳۱ از ۳۱</a:t>
            </a:r>
            <a:endParaRPr lang="fa-IR" altLang="fa-IR" sz="1600" b="0" dirty="0">
              <a:solidFill>
                <a:srgbClr val="52626E"/>
              </a:solidFill>
              <a:latin typeface="B Zar"/>
              <a:ea typeface="B Zar"/>
              <a:cs typeface="B Zar"/>
            </a:endParaRPr>
          </a:p>
        </p:txBody>
      </p:sp>
      <p:sp>
        <p:nvSpPr>
          <p:cNvPr id="8" name="Rectangle 7">
            <a:extLst>
              <a:ext uri="{FF2B5EF4-FFF2-40B4-BE49-F238E27FC236}">
                <a16:creationId xmlns:a16="http://schemas.microsoft.com/office/drawing/2014/main" id="{7B6162E9-8143-4B0D-A0DD-F2C92D133A77}"/>
              </a:ext>
            </a:extLst>
          </p:cNvPr>
          <p:cNvSpPr>
            <a:spLocks noGrp="1"/>
          </p:cNvSpPr>
          <p:nvPr/>
        </p:nvSpPr>
        <p:spPr>
          <a:xfrm>
            <a:off x="800371" y="1320160"/>
            <a:ext cx="45719" cy="1042585"/>
          </a:xfrm>
          <a:prstGeom prst="rect">
            <a:avLst/>
          </a:prstGeom>
          <a:solidFill>
            <a:srgbClr val="216BA5"/>
          </a:solidFill>
          <a:ln w="0">
            <a:noFill/>
          </a:ln>
        </p:spPr>
        <p:txBody>
          <a:bodyPr/>
          <a:lstStyle/>
          <a:p>
            <a:pPr>
              <a:lnSpc>
                <a:spcPct val="150000"/>
              </a:lnSpc>
            </a:pPr>
            <a:endParaRPr/>
          </a:p>
        </p:txBody>
      </p:sp>
      <p:sp>
        <p:nvSpPr>
          <p:cNvPr id="9" name="Rectangle 8">
            <a:extLst>
              <a:ext uri="{FF2B5EF4-FFF2-40B4-BE49-F238E27FC236}">
                <a16:creationId xmlns:a16="http://schemas.microsoft.com/office/drawing/2014/main" id="{16568844-DDBB-4148-9ECF-B6F79ED20ADE}"/>
              </a:ext>
            </a:extLst>
          </p:cNvPr>
          <p:cNvSpPr>
            <a:spLocks noGrp="1"/>
          </p:cNvSpPr>
          <p:nvPr/>
        </p:nvSpPr>
        <p:spPr>
          <a:xfrm>
            <a:off x="974107" y="1320161"/>
            <a:ext cx="10004984" cy="1730194"/>
          </a:xfrm>
          <a:prstGeom prst="rect">
            <a:avLst/>
          </a:prstGeom>
          <a:noFill/>
          <a:ln w="0">
            <a:noFill/>
          </a:ln>
        </p:spPr>
        <p:txBody>
          <a:bodyPr lIns="38100" tIns="28575" rIns="38100" bIns="28575" anchor="t">
            <a:noAutofit/>
          </a:bodyPr>
          <a:lstStyle/>
          <a:p>
            <a:pPr defTabSz="511175"/>
            <a:r>
              <a:rPr lang="fa-IR" dirty="0"/>
              <a:t>[</a:t>
            </a:r>
            <a:r>
              <a:rPr lang="fa-IR" dirty="0" smtClean="0"/>
              <a:t>۱]</a:t>
            </a:r>
            <a:r>
              <a:rPr lang="en-US" dirty="0" smtClean="0"/>
              <a:t>	</a:t>
            </a:r>
            <a:r>
              <a:rPr lang="en-US" dirty="0" err="1" smtClean="0"/>
              <a:t>Khosravian</a:t>
            </a:r>
            <a:r>
              <a:rPr lang="en-US" dirty="0"/>
              <a:t>, A., Amirkhani, A., </a:t>
            </a:r>
            <a:r>
              <a:rPr lang="en-US" dirty="0" err="1"/>
              <a:t>Masih</a:t>
            </a:r>
            <a:r>
              <a:rPr lang="en-US" dirty="0"/>
              <a:t>-Tehrani, M., and </a:t>
            </a:r>
            <a:r>
              <a:rPr lang="en-US" dirty="0" err="1"/>
              <a:t>Yazdanijoo</a:t>
            </a:r>
            <a:r>
              <a:rPr lang="en-US" dirty="0"/>
              <a:t>, A., </a:t>
            </a:r>
            <a:r>
              <a:rPr lang="en-US" i="1" dirty="0"/>
              <a:t>Multi-domain </a:t>
            </a:r>
            <a:r>
              <a:rPr lang="en-US" i="1" dirty="0" smtClean="0"/>
              <a:t>autonomous </a:t>
            </a:r>
            <a:r>
              <a:rPr lang="en-US" i="1" dirty="0"/>
              <a:t>driving dataset: Towards enhancing the generalization of the convolutional </a:t>
            </a:r>
            <a:r>
              <a:rPr lang="en-US" i="1" dirty="0" smtClean="0"/>
              <a:t>neural 	networks </a:t>
            </a:r>
            <a:r>
              <a:rPr lang="en-US" i="1" dirty="0"/>
              <a:t>in new environments</a:t>
            </a:r>
            <a:r>
              <a:rPr lang="en-US" dirty="0"/>
              <a:t>, IET Image Processing, vol. 17, no. 4, 2023, pp. 1253-1266</a:t>
            </a:r>
            <a:r>
              <a:rPr lang="en-US" dirty="0" smtClean="0"/>
              <a:t>.</a:t>
            </a:r>
          </a:p>
          <a:p>
            <a:endParaRPr lang="en-US" dirty="0"/>
          </a:p>
        </p:txBody>
      </p:sp>
      <p:sp>
        <p:nvSpPr>
          <p:cNvPr id="10" name="Rectangle 9">
            <a:extLst>
              <a:ext uri="{FF2B5EF4-FFF2-40B4-BE49-F238E27FC236}">
                <a16:creationId xmlns:a16="http://schemas.microsoft.com/office/drawing/2014/main" id="{47C26703-A3E0-4FF2-87E8-6F0DA536A11D}"/>
              </a:ext>
            </a:extLst>
          </p:cNvPr>
          <p:cNvSpPr>
            <a:spLocks noGrp="1"/>
          </p:cNvSpPr>
          <p:nvPr/>
        </p:nvSpPr>
        <p:spPr>
          <a:xfrm>
            <a:off x="800371" y="2630791"/>
            <a:ext cx="45719" cy="857805"/>
          </a:xfrm>
          <a:prstGeom prst="rect">
            <a:avLst/>
          </a:prstGeom>
          <a:solidFill>
            <a:srgbClr val="25834A"/>
          </a:solidFill>
          <a:ln w="0">
            <a:noFill/>
          </a:ln>
        </p:spPr>
        <p:txBody>
          <a:bodyPr/>
          <a:lstStyle/>
          <a:p>
            <a:pPr>
              <a:lnSpc>
                <a:spcPct val="150000"/>
              </a:lnSpc>
            </a:pPr>
            <a:endParaRPr/>
          </a:p>
        </p:txBody>
      </p:sp>
      <p:sp>
        <p:nvSpPr>
          <p:cNvPr id="11" name="Rectangle 10">
            <a:extLst>
              <a:ext uri="{FF2B5EF4-FFF2-40B4-BE49-F238E27FC236}">
                <a16:creationId xmlns:a16="http://schemas.microsoft.com/office/drawing/2014/main" id="{E3EF067A-B264-408E-91B9-E3008A19630E}"/>
              </a:ext>
            </a:extLst>
          </p:cNvPr>
          <p:cNvSpPr>
            <a:spLocks noGrp="1"/>
          </p:cNvSpPr>
          <p:nvPr/>
        </p:nvSpPr>
        <p:spPr>
          <a:xfrm>
            <a:off x="974106" y="2612114"/>
            <a:ext cx="10004985" cy="876482"/>
          </a:xfrm>
          <a:prstGeom prst="rect">
            <a:avLst/>
          </a:prstGeom>
          <a:noFill/>
          <a:ln w="0">
            <a:noFill/>
          </a:ln>
        </p:spPr>
        <p:txBody>
          <a:bodyPr lIns="38100" tIns="28575" rIns="38100" bIns="28575" anchor="t">
            <a:noAutofit/>
          </a:bodyPr>
          <a:lstStyle/>
          <a:p>
            <a:pPr defTabSz="511175"/>
            <a:r>
              <a:rPr lang="fa-IR" dirty="0"/>
              <a:t>[۲]</a:t>
            </a:r>
            <a:r>
              <a:rPr lang="en-US" dirty="0"/>
              <a:t>	Kaufman, S., </a:t>
            </a:r>
            <a:r>
              <a:rPr lang="en-US" dirty="0" err="1"/>
              <a:t>Rosset</a:t>
            </a:r>
            <a:r>
              <a:rPr lang="en-US" dirty="0"/>
              <a:t>, S., </a:t>
            </a:r>
            <a:r>
              <a:rPr lang="en-US" dirty="0" err="1"/>
              <a:t>Perlich</a:t>
            </a:r>
            <a:r>
              <a:rPr lang="en-US" dirty="0"/>
              <a:t>, C., and </a:t>
            </a:r>
            <a:r>
              <a:rPr lang="en-US" dirty="0" err="1"/>
              <a:t>Stitelman</a:t>
            </a:r>
            <a:r>
              <a:rPr lang="en-US" dirty="0"/>
              <a:t>, O., </a:t>
            </a:r>
            <a:r>
              <a:rPr lang="en-US" i="1" dirty="0"/>
              <a:t>Leakage in Data Mining: </a:t>
            </a:r>
            <a:r>
              <a:rPr lang="en-US" i="1" dirty="0" smtClean="0"/>
              <a:t>Formulation</a:t>
            </a:r>
            <a:r>
              <a:rPr lang="en-US" i="1" dirty="0"/>
              <a:t>, </a:t>
            </a:r>
            <a:r>
              <a:rPr lang="en-US" i="1" dirty="0" smtClean="0"/>
              <a:t>	Detection</a:t>
            </a:r>
            <a:r>
              <a:rPr lang="en-US" i="1" dirty="0"/>
              <a:t>, and Avoidance</a:t>
            </a:r>
            <a:r>
              <a:rPr lang="en-US" dirty="0"/>
              <a:t>, ACM Transactions on Knowledge </a:t>
            </a:r>
            <a:r>
              <a:rPr lang="en-US" dirty="0" smtClean="0"/>
              <a:t>	Discovery </a:t>
            </a:r>
            <a:r>
              <a:rPr lang="en-US" dirty="0"/>
              <a:t>from Data, vol. 6, no. 4, </a:t>
            </a:r>
            <a:r>
              <a:rPr lang="en-US" dirty="0" smtClean="0"/>
              <a:t>	2012</a:t>
            </a:r>
            <a:r>
              <a:rPr lang="en-US" dirty="0"/>
              <a:t>, article 15.</a:t>
            </a:r>
          </a:p>
        </p:txBody>
      </p:sp>
      <p:sp>
        <p:nvSpPr>
          <p:cNvPr id="16" name="Rectangle 15">
            <a:extLst>
              <a:ext uri="{FF2B5EF4-FFF2-40B4-BE49-F238E27FC236}">
                <a16:creationId xmlns:a16="http://schemas.microsoft.com/office/drawing/2014/main" id="{2A4AD6CC-BF71-47EB-B2CA-B3B230C38033}"/>
              </a:ext>
            </a:extLst>
          </p:cNvPr>
          <p:cNvSpPr>
            <a:spLocks noGrp="1"/>
          </p:cNvSpPr>
          <p:nvPr/>
        </p:nvSpPr>
        <p:spPr>
          <a:xfrm>
            <a:off x="800370" y="3724244"/>
            <a:ext cx="45719" cy="1152556"/>
          </a:xfrm>
          <a:prstGeom prst="rect">
            <a:avLst/>
          </a:prstGeom>
          <a:solidFill>
            <a:srgbClr val="216BA5"/>
          </a:solidFill>
          <a:ln w="0">
            <a:noFill/>
          </a:ln>
        </p:spPr>
        <p:txBody>
          <a:bodyPr/>
          <a:lstStyle/>
          <a:p>
            <a:pPr>
              <a:lnSpc>
                <a:spcPct val="150000"/>
              </a:lnSpc>
            </a:pPr>
            <a:endParaRPr/>
          </a:p>
        </p:txBody>
      </p:sp>
      <p:sp>
        <p:nvSpPr>
          <p:cNvPr id="17" name="Rectangle 16">
            <a:extLst>
              <a:ext uri="{FF2B5EF4-FFF2-40B4-BE49-F238E27FC236}">
                <a16:creationId xmlns:a16="http://schemas.microsoft.com/office/drawing/2014/main" id="{DE3291D3-C2A1-4B40-B6E2-9907B3FF9115}"/>
              </a:ext>
            </a:extLst>
          </p:cNvPr>
          <p:cNvSpPr>
            <a:spLocks noGrp="1"/>
          </p:cNvSpPr>
          <p:nvPr/>
        </p:nvSpPr>
        <p:spPr>
          <a:xfrm>
            <a:off x="964961" y="3724243"/>
            <a:ext cx="10014131" cy="1152557"/>
          </a:xfrm>
          <a:prstGeom prst="rect">
            <a:avLst/>
          </a:prstGeom>
          <a:noFill/>
          <a:ln w="0">
            <a:noFill/>
          </a:ln>
        </p:spPr>
        <p:txBody>
          <a:bodyPr lIns="38100" tIns="28575" rIns="38100" bIns="28575" anchor="t">
            <a:noAutofit/>
          </a:bodyPr>
          <a:lstStyle/>
          <a:p>
            <a:pPr defTabSz="511175"/>
            <a:r>
              <a:rPr lang="fa-IR" dirty="0"/>
              <a:t>[۵]</a:t>
            </a:r>
            <a:r>
              <a:rPr lang="en-US" dirty="0"/>
              <a:t>	</a:t>
            </a:r>
            <a:r>
              <a:rPr lang="en-US" dirty="0" err="1"/>
              <a:t>Sapkota</a:t>
            </a:r>
            <a:r>
              <a:rPr lang="en-US" dirty="0"/>
              <a:t>, R., Flores-</a:t>
            </a:r>
            <a:r>
              <a:rPr lang="en-US" dirty="0" err="1"/>
              <a:t>Calero</a:t>
            </a:r>
            <a:r>
              <a:rPr lang="en-US" dirty="0"/>
              <a:t>, M., Qureshi, R., </a:t>
            </a:r>
            <a:r>
              <a:rPr lang="en-US" dirty="0" err="1"/>
              <a:t>Badgujar</a:t>
            </a:r>
            <a:r>
              <a:rPr lang="en-US" dirty="0"/>
              <a:t>, C., Nepal, U., </a:t>
            </a:r>
            <a:r>
              <a:rPr lang="en-US" dirty="0" err="1"/>
              <a:t>Poulose</a:t>
            </a:r>
            <a:r>
              <a:rPr lang="en-US" dirty="0"/>
              <a:t>, A., Zeno, P., </a:t>
            </a:r>
            <a:r>
              <a:rPr lang="en-US" dirty="0" err="1" smtClean="0"/>
              <a:t>Vaddevolu</a:t>
            </a:r>
            <a:r>
              <a:rPr lang="en-US" dirty="0"/>
              <a:t>, </a:t>
            </a:r>
            <a:r>
              <a:rPr lang="en-US" dirty="0" smtClean="0"/>
              <a:t>	U</a:t>
            </a:r>
            <a:r>
              <a:rPr lang="en-US" dirty="0"/>
              <a:t>. </a:t>
            </a:r>
            <a:r>
              <a:rPr lang="en-US" dirty="0" smtClean="0"/>
              <a:t>	B</a:t>
            </a:r>
            <a:r>
              <a:rPr lang="en-US" dirty="0"/>
              <a:t>. </a:t>
            </a:r>
            <a:r>
              <a:rPr lang="en-US" dirty="0" smtClean="0"/>
              <a:t>P</a:t>
            </a:r>
            <a:r>
              <a:rPr lang="en-US" dirty="0"/>
              <a:t>., Khan, S., </a:t>
            </a:r>
            <a:r>
              <a:rPr lang="en-US" dirty="0" err="1"/>
              <a:t>Shoman</a:t>
            </a:r>
            <a:r>
              <a:rPr lang="en-US" dirty="0"/>
              <a:t>, M., Yan, H., and </a:t>
            </a:r>
            <a:r>
              <a:rPr lang="en-US" dirty="0" err="1"/>
              <a:t>Karkee</a:t>
            </a:r>
            <a:r>
              <a:rPr lang="en-US" dirty="0"/>
              <a:t>, M., </a:t>
            </a:r>
            <a:r>
              <a:rPr lang="en-US" i="1" dirty="0"/>
              <a:t>YOLO advances to its genesis: </a:t>
            </a:r>
            <a:r>
              <a:rPr lang="en-US" i="1" dirty="0" smtClean="0"/>
              <a:t>a </a:t>
            </a:r>
            <a:r>
              <a:rPr lang="en-US" i="1" dirty="0"/>
              <a:t>decadal and </a:t>
            </a:r>
            <a:r>
              <a:rPr lang="en-US" i="1" dirty="0" smtClean="0"/>
              <a:t>	comprehensive </a:t>
            </a:r>
            <a:r>
              <a:rPr lang="en-US" i="1" dirty="0"/>
              <a:t>review of the You Only Look Once (YOLO) series</a:t>
            </a:r>
            <a:r>
              <a:rPr lang="en-US" dirty="0"/>
              <a:t>, Artificial </a:t>
            </a:r>
            <a:r>
              <a:rPr lang="en-US" dirty="0" smtClean="0"/>
              <a:t>Intelligence </a:t>
            </a:r>
            <a:r>
              <a:rPr lang="en-US" dirty="0"/>
              <a:t>Review, vol. 58, </a:t>
            </a:r>
            <a:r>
              <a:rPr lang="en-US" dirty="0" smtClean="0"/>
              <a:t>	no</a:t>
            </a:r>
            <a:r>
              <a:rPr lang="en-US" dirty="0"/>
              <a:t>. 9, </a:t>
            </a:r>
            <a:r>
              <a:rPr lang="en-US" dirty="0" smtClean="0"/>
              <a:t>2025</a:t>
            </a:r>
            <a:r>
              <a:rPr lang="en-US" dirty="0"/>
              <a:t>, article 274.</a:t>
            </a:r>
          </a:p>
        </p:txBody>
      </p:sp>
      <p:sp>
        <p:nvSpPr>
          <p:cNvPr id="18" name="Rectangle 17">
            <a:extLst>
              <a:ext uri="{FF2B5EF4-FFF2-40B4-BE49-F238E27FC236}">
                <a16:creationId xmlns:a16="http://schemas.microsoft.com/office/drawing/2014/main" id="{9C8A3BC4-CBF3-4F0A-A964-FC086BB327A1}"/>
              </a:ext>
            </a:extLst>
          </p:cNvPr>
          <p:cNvSpPr>
            <a:spLocks noGrp="1"/>
          </p:cNvSpPr>
          <p:nvPr/>
        </p:nvSpPr>
        <p:spPr>
          <a:xfrm>
            <a:off x="800370" y="5125180"/>
            <a:ext cx="45719" cy="646905"/>
          </a:xfrm>
          <a:prstGeom prst="rect">
            <a:avLst/>
          </a:prstGeom>
          <a:solidFill>
            <a:srgbClr val="25834A"/>
          </a:solidFill>
          <a:ln w="0">
            <a:noFill/>
          </a:ln>
        </p:spPr>
        <p:txBody>
          <a:bodyPr/>
          <a:lstStyle/>
          <a:p>
            <a:pPr>
              <a:lnSpc>
                <a:spcPct val="150000"/>
              </a:lnSpc>
            </a:pPr>
            <a:endParaRPr/>
          </a:p>
        </p:txBody>
      </p:sp>
      <p:sp>
        <p:nvSpPr>
          <p:cNvPr id="19" name="Rectangle 18">
            <a:extLst>
              <a:ext uri="{FF2B5EF4-FFF2-40B4-BE49-F238E27FC236}">
                <a16:creationId xmlns:a16="http://schemas.microsoft.com/office/drawing/2014/main" id="{7CFB9B5F-7BA7-4E84-A771-58213A1BD0DC}"/>
              </a:ext>
            </a:extLst>
          </p:cNvPr>
          <p:cNvSpPr>
            <a:spLocks noGrp="1"/>
          </p:cNvSpPr>
          <p:nvPr/>
        </p:nvSpPr>
        <p:spPr>
          <a:xfrm>
            <a:off x="964962" y="5125180"/>
            <a:ext cx="10014130" cy="646905"/>
          </a:xfrm>
          <a:prstGeom prst="rect">
            <a:avLst/>
          </a:prstGeom>
          <a:noFill/>
          <a:ln w="0">
            <a:noFill/>
          </a:ln>
        </p:spPr>
        <p:txBody>
          <a:bodyPr lIns="38100" tIns="28575" rIns="38100" bIns="28575" anchor="t">
            <a:noAutofit/>
          </a:bodyPr>
          <a:lstStyle/>
          <a:p>
            <a:pPr defTabSz="511175"/>
            <a:r>
              <a:rPr lang="fa-IR" dirty="0"/>
              <a:t>[۹]</a:t>
            </a:r>
            <a:r>
              <a:rPr lang="en-US" dirty="0"/>
              <a:t>	</a:t>
            </a:r>
            <a:r>
              <a:rPr lang="en-US" dirty="0" smtClean="0"/>
              <a:t>Lin, J., Wang, P., </a:t>
            </a:r>
            <a:r>
              <a:rPr lang="en-US" dirty="0" err="1" smtClean="0"/>
              <a:t>Ruan</a:t>
            </a:r>
            <a:r>
              <a:rPr lang="en-US" dirty="0" smtClean="0"/>
              <a:t>, Y., and Sun, Y., </a:t>
            </a:r>
            <a:r>
              <a:rPr lang="en-US" i="1" dirty="0" smtClean="0"/>
              <a:t>YOLO11-WLBS: an efficient model for pavement defect 	detection</a:t>
            </a:r>
            <a:r>
              <a:rPr lang="en-US" dirty="0" smtClean="0"/>
              <a:t>, Scientific Reports, vol. 16, article 5284, 2026.</a:t>
            </a:r>
            <a:endParaRPr lang="en-US" dirty="0"/>
          </a:p>
        </p:txBody>
      </p:sp>
      <p:pic>
        <p:nvPicPr>
          <p:cNvPr id="33" name="Picture 32"/>
          <p:cNvPicPr>
            <a:picLocks noChangeAspect="1"/>
          </p:cNvPicPr>
          <p:nvPr/>
        </p:nvPicPr>
        <p:blipFill>
          <a:blip r:embed="rId3"/>
          <a:stretch/>
        </p:blipFill>
        <p:spPr>
          <a:xfrm>
            <a:off x="428984" y="187916"/>
            <a:ext cx="535979" cy="628650"/>
          </a:xfrm>
          <a:prstGeom prst="rect">
            <a:avLst/>
          </a:prstGeom>
        </p:spPr>
      </p:pic>
      <p:sp>
        <p:nvSpPr>
          <p:cNvPr id="34" name="Rectangle 33">
            <a:extLst>
              <a:ext uri="{FF2B5EF4-FFF2-40B4-BE49-F238E27FC236}">
                <a16:creationId xmlns:a16="http://schemas.microsoft.com/office/drawing/2014/main" id="{C4452ECC-0329-42FD-A992-5D81CCFFD581}"/>
              </a:ext>
            </a:extLst>
          </p:cNvPr>
          <p:cNvSpPr>
            <a:spLocks noGrp="1"/>
          </p:cNvSpPr>
          <p:nvPr/>
        </p:nvSpPr>
        <p:spPr>
          <a:xfrm>
            <a:off x="1754630" y="279232"/>
            <a:ext cx="10096500" cy="485775"/>
          </a:xfrm>
          <a:prstGeom prst="rect">
            <a:avLst/>
          </a:prstGeom>
          <a:noFill/>
          <a:ln w="0">
            <a:noFill/>
          </a:ln>
        </p:spPr>
        <p:txBody>
          <a:bodyPr lIns="57150" tIns="38100" rIns="57150" bIns="38100" anchor="ctr">
            <a:noAutofit/>
          </a:bodyPr>
          <a:lstStyle/>
          <a:p>
            <a:pPr algn="r" rtl="1">
              <a:defRPr sz="3100" b="1">
                <a:solidFill>
                  <a:srgbClr val="173E5A"/>
                </a:solidFill>
                <a:latin typeface="B Zar"/>
                <a:ea typeface="B Zar"/>
                <a:cs typeface="B Zar"/>
              </a:defRPr>
            </a:pPr>
            <a:r>
              <a:rPr lang="fa-IR" altLang="fa-IR" sz="3100" b="1" dirty="0" smtClean="0">
                <a:solidFill>
                  <a:srgbClr val="173E5A"/>
                </a:solidFill>
                <a:latin typeface="B Zar"/>
                <a:ea typeface="B Zar"/>
                <a:cs typeface="B Zar"/>
              </a:rPr>
              <a:t>مراجع و منابع</a:t>
            </a:r>
            <a:endParaRPr lang="fa-IR" altLang="fa-IR" sz="3100" b="1" dirty="0">
              <a:solidFill>
                <a:srgbClr val="173E5A"/>
              </a:solidFill>
              <a:latin typeface="B Zar"/>
              <a:ea typeface="B Zar"/>
              <a:cs typeface="B Zar"/>
            </a:endParaRPr>
          </a:p>
        </p:txBody>
      </p:sp>
      <p:sp>
        <p:nvSpPr>
          <p:cNvPr id="13" name="Rectangle 12">
            <a:extLst>
              <a:ext uri="{FF2B5EF4-FFF2-40B4-BE49-F238E27FC236}">
                <a16:creationId xmlns:a16="http://schemas.microsoft.com/office/drawing/2014/main" id="{4669FE0F-B982-44B2-AA33-ECB7CF4A98B7}"/>
              </a:ext>
            </a:extLst>
          </p:cNvPr>
          <p:cNvSpPr>
            <a:spLocks noGrp="1"/>
          </p:cNvSpPr>
          <p:nvPr/>
        </p:nvSpPr>
        <p:spPr>
          <a:xfrm>
            <a:off x="-1646" y="0"/>
            <a:ext cx="114300" cy="6858000"/>
          </a:xfrm>
          <a:prstGeom prst="rect">
            <a:avLst/>
          </a:prstGeom>
          <a:solidFill>
            <a:srgbClr val="216BA5"/>
          </a:solidFill>
          <a:ln w="0">
            <a:solidFill>
              <a:srgbClr val="216BA5"/>
            </a:solidFill>
          </a:ln>
        </p:spPr>
        <p:txBody>
          <a:bodyPr/>
          <a:lstStyle/>
          <a:p>
            <a:endParaRPr/>
          </a:p>
        </p:txBody>
      </p:sp>
      <p:sp>
        <p:nvSpPr>
          <p:cNvPr id="14" name="Rectangle 13">
            <a:extLst>
              <a:ext uri="{FF2B5EF4-FFF2-40B4-BE49-F238E27FC236}">
                <a16:creationId xmlns:a16="http://schemas.microsoft.com/office/drawing/2014/main" id="{4669FE0F-B982-44B2-AA33-ECB7CF4A98B7}"/>
              </a:ext>
            </a:extLst>
          </p:cNvPr>
          <p:cNvSpPr>
            <a:spLocks noGrp="1"/>
          </p:cNvSpPr>
          <p:nvPr/>
        </p:nvSpPr>
        <p:spPr>
          <a:xfrm>
            <a:off x="12075722" y="0"/>
            <a:ext cx="114300" cy="6858000"/>
          </a:xfrm>
          <a:prstGeom prst="rect">
            <a:avLst/>
          </a:prstGeom>
          <a:solidFill>
            <a:srgbClr val="216BA5"/>
          </a:solidFill>
          <a:ln w="0">
            <a:solidFill>
              <a:srgbClr val="216BA5"/>
            </a:solidFill>
          </a:ln>
        </p:spPr>
        <p:txBody>
          <a:bodyPr/>
          <a:lstStyle/>
          <a:p>
            <a:endParaRPr/>
          </a:p>
        </p:txBody>
      </p:sp>
    </p:spTree>
    <p:extLst>
      <p:ext uri="{BB962C8B-B14F-4D97-AF65-F5344CB8AC3E}">
        <p14:creationId xmlns:p14="http://schemas.microsoft.com/office/powerpoint/2010/main" val="667465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2506</TotalTime>
  <Words>2418</Words>
  <Application>Microsoft Office PowerPoint</Application>
  <DocSecurity>0</DocSecurity>
  <PresentationFormat>Widescreen</PresentationFormat>
  <Paragraphs>362</Paragraphs>
  <Slides>31</Slides>
  <Notes>30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MS Mincho</vt:lpstr>
      <vt:lpstr>Arial</vt:lpstr>
      <vt:lpstr>B Zar</vt:lpstr>
      <vt:lpstr>Calibri</vt:lpstr>
      <vt:lpstr>Cambria Math</vt:lpstr>
      <vt:lpstr>Courier New</vt:lpstr>
      <vt:lpstr>Times New Roman</vt:lpstr>
      <vt:lpstr>Wingdings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Amir Sadegh Zadeh</cp:lastModifiedBy>
  <cp:revision>159</cp:revision>
  <dcterms:created xsi:type="dcterms:W3CDTF">2026-09-20T08:49:50Z</dcterms:created>
  <dcterms:modified xsi:type="dcterms:W3CDTF">2026-09-26T19:15:54Z</dcterms:modified>
</cp:coreProperties>
</file>