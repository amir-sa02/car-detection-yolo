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77" r:id="rId3"/>
    <p:sldId id="258" r:id="rId4"/>
    <p:sldId id="278" r:id="rId5"/>
    <p:sldId id="257" r:id="rId6"/>
    <p:sldId id="283" r:id="rId7"/>
    <p:sldId id="284" r:id="rId8"/>
    <p:sldId id="286" r:id="rId9"/>
    <p:sldId id="259" r:id="rId10"/>
    <p:sldId id="279" r:id="rId11"/>
    <p:sldId id="261" r:id="rId12"/>
    <p:sldId id="282" r:id="rId13"/>
    <p:sldId id="262" r:id="rId14"/>
    <p:sldId id="263" r:id="rId15"/>
    <p:sldId id="264" r:id="rId16"/>
    <p:sldId id="287" r:id="rId17"/>
    <p:sldId id="265" r:id="rId18"/>
    <p:sldId id="266" r:id="rId19"/>
    <p:sldId id="288" r:id="rId20"/>
    <p:sldId id="280" r:id="rId21"/>
    <p:sldId id="260" r:id="rId22"/>
    <p:sldId id="267" r:id="rId23"/>
    <p:sldId id="268" r:id="rId24"/>
    <p:sldId id="281" r:id="rId25"/>
    <p:sldId id="270" r:id="rId26"/>
    <p:sldId id="271" r:id="rId27"/>
    <p:sldId id="272" r:id="rId28"/>
    <p:sldId id="273" r:id="rId29"/>
    <p:sldId id="274" r:id="rId30"/>
    <p:sldId id="276" r:id="rId31"/>
    <p:sldId id="2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FBF9"/>
    <a:srgbClr val="D4F2FC"/>
    <a:srgbClr val="0979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57" autoAdjust="0"/>
  </p:normalViewPr>
  <p:slideViewPr>
    <p:cSldViewPr snapToGrid="0">
      <p:cViewPr varScale="1">
        <p:scale>
          <a:sx n="78" d="100"/>
          <a:sy n="78" d="100"/>
        </p:scale>
        <p:origin x="7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971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0127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8388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280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8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69193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65774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7142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74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411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7367" y="492468"/>
            <a:ext cx="852693" cy="10001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95B653-AED4-49F1-9C3F-8BF56D21FF33}"/>
              </a:ext>
            </a:extLst>
          </p:cNvPr>
          <p:cNvSpPr>
            <a:spLocks noGrp="1"/>
          </p:cNvSpPr>
          <p:nvPr/>
        </p:nvSpPr>
        <p:spPr>
          <a:xfrm>
            <a:off x="4827167" y="1530698"/>
            <a:ext cx="2553093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100" b="1">
                <a:solidFill>
                  <a:srgbClr val="25834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1" dirty="0">
                <a:solidFill>
                  <a:srgbClr val="25834A"/>
                </a:solidFill>
                <a:latin typeface="B Zar"/>
                <a:ea typeface="B Zar"/>
                <a:cs typeface="B Zar"/>
              </a:rPr>
              <a:t>دانشکده مهندسی کامپیوتر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99C42A-62C2-403D-8293-B371CC07D761}"/>
              </a:ext>
            </a:extLst>
          </p:cNvPr>
          <p:cNvSpPr>
            <a:spLocks noGrp="1"/>
          </p:cNvSpPr>
          <p:nvPr/>
        </p:nvSpPr>
        <p:spPr>
          <a:xfrm>
            <a:off x="1055463" y="2126314"/>
            <a:ext cx="100965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34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4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دسته‌بندی اشیای ترافیکی با استفاده از </a:t>
            </a:r>
            <a:r>
              <a:rPr lang="en-US" altLang="fa-IR" sz="3200" b="1" dirty="0">
                <a:solidFill>
                  <a:srgbClr val="173E5A"/>
                </a:solidFill>
                <a:latin typeface="Times New Roman"/>
                <a:ea typeface="Times New Roman"/>
                <a:cs typeface="Times New Roman"/>
              </a:rPr>
              <a:t>YOLO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82CBE-EBB5-4D6E-9333-4D40460AF70D}"/>
              </a:ext>
            </a:extLst>
          </p:cNvPr>
          <p:cNvSpPr>
            <a:spLocks noGrp="1"/>
          </p:cNvSpPr>
          <p:nvPr/>
        </p:nvSpPr>
        <p:spPr>
          <a:xfrm>
            <a:off x="1531713" y="2894486"/>
            <a:ext cx="91440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2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b="0" dirty="0">
                <a:solidFill>
                  <a:srgbClr val="52626E"/>
                </a:solidFill>
                <a:latin typeface="B Zar"/>
                <a:ea typeface="B Zar"/>
                <a:cs typeface="B Zar"/>
              </a:rPr>
              <a:t>۶ دسته متفاوت: عابر، تریلر، اتوبوس، خودروی سبک، وانت و موتور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048973-CC02-47AF-80C7-005A778E3272}"/>
              </a:ext>
            </a:extLst>
          </p:cNvPr>
          <p:cNvSpPr>
            <a:spLocks noGrp="1"/>
          </p:cNvSpPr>
          <p:nvPr/>
        </p:nvSpPr>
        <p:spPr>
          <a:xfrm>
            <a:off x="2769963" y="3517167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300" b="1">
                <a:solidFill>
                  <a:srgbClr val="216BA5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300" b="1" dirty="0">
                <a:solidFill>
                  <a:srgbClr val="216BA5"/>
                </a:solidFill>
                <a:latin typeface="B Zar"/>
                <a:ea typeface="B Zar"/>
                <a:cs typeface="B Zar"/>
              </a:rPr>
              <a:t>پیاده‌سازی با معماری </a:t>
            </a:r>
            <a:r>
              <a:rPr lang="en-US" altLang="fa-IR" sz="2200" b="1" dirty="0">
                <a:solidFill>
                  <a:srgbClr val="216BA5"/>
                </a:solidFill>
                <a:latin typeface="Times New Roman"/>
                <a:ea typeface="Times New Roman"/>
                <a:cs typeface="Times New Roman"/>
              </a:rPr>
              <a:t>YOLOv11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7CC904-6A01-4FAA-BFA0-EE977B95E570}"/>
              </a:ext>
            </a:extLst>
          </p:cNvPr>
          <p:cNvSpPr>
            <a:spLocks noGrp="1"/>
          </p:cNvSpPr>
          <p:nvPr/>
        </p:nvSpPr>
        <p:spPr>
          <a:xfrm>
            <a:off x="2865213" y="3990173"/>
            <a:ext cx="6477000" cy="19050"/>
          </a:xfrm>
          <a:prstGeom prst="rect">
            <a:avLst/>
          </a:prstGeom>
          <a:solidFill>
            <a:srgbClr val="C1CED7"/>
          </a:solidFill>
          <a:ln w="0">
            <a:solidFill>
              <a:srgbClr val="C1CE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CF272-9B64-4EB2-B809-7FAB2C8F4C9E}"/>
              </a:ext>
            </a:extLst>
          </p:cNvPr>
          <p:cNvSpPr>
            <a:spLocks noGrp="1"/>
          </p:cNvSpPr>
          <p:nvPr/>
        </p:nvSpPr>
        <p:spPr>
          <a:xfrm>
            <a:off x="6770463" y="4364896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100" b="1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1" dirty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استاد راهنما: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545991-FCB0-4169-AE03-7F355270E046}"/>
              </a:ext>
            </a:extLst>
          </p:cNvPr>
          <p:cNvSpPr>
            <a:spLocks noGrp="1"/>
          </p:cNvSpPr>
          <p:nvPr/>
        </p:nvSpPr>
        <p:spPr>
          <a:xfrm>
            <a:off x="3150963" y="4366821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2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دکتر رضا شمسایی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95E222-22DC-4568-884D-E1D39CB21BF5}"/>
              </a:ext>
            </a:extLst>
          </p:cNvPr>
          <p:cNvSpPr>
            <a:spLocks noGrp="1"/>
          </p:cNvSpPr>
          <p:nvPr/>
        </p:nvSpPr>
        <p:spPr>
          <a:xfrm>
            <a:off x="6770463" y="4974496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100" b="1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1" dirty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استاد داور: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B0705-F663-41E4-A95B-C368671054F5}"/>
              </a:ext>
            </a:extLst>
          </p:cNvPr>
          <p:cNvSpPr>
            <a:spLocks noGrp="1"/>
          </p:cNvSpPr>
          <p:nvPr/>
        </p:nvSpPr>
        <p:spPr>
          <a:xfrm>
            <a:off x="3150963" y="4974496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2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دکتر امیر باوفای طوسی</a:t>
            </a:r>
            <a:endParaRPr lang="fa-IR" altLang="fa-IR" sz="22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4AFE0D-1125-471A-A80F-9478BF99A362}"/>
              </a:ext>
            </a:extLst>
          </p:cNvPr>
          <p:cNvSpPr>
            <a:spLocks noGrp="1"/>
          </p:cNvSpPr>
          <p:nvPr/>
        </p:nvSpPr>
        <p:spPr>
          <a:xfrm>
            <a:off x="6770463" y="5584096"/>
            <a:ext cx="2000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100" b="1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1">
                <a:solidFill>
                  <a:srgbClr val="52626E"/>
                </a:solidFill>
                <a:latin typeface="B Zar"/>
                <a:ea typeface="B Zar"/>
                <a:cs typeface="B Zar"/>
              </a:rPr>
              <a:t>نام دانشجو: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047316-52D2-48E2-90D6-70348B5156B5}"/>
              </a:ext>
            </a:extLst>
          </p:cNvPr>
          <p:cNvSpPr>
            <a:spLocks noGrp="1"/>
          </p:cNvSpPr>
          <p:nvPr/>
        </p:nvSpPr>
        <p:spPr>
          <a:xfrm>
            <a:off x="3150963" y="5584096"/>
            <a:ext cx="3524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2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محمد امیر صادق‌زاده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5D4CA-3379-466D-9DA9-1F4CF8ED5835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-1646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12075722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842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1057839" cy="190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1400"/>
              </a:spcAft>
            </a:pPr>
            <a:r>
              <a:rPr lang="fa-IR" sz="2600" b="1" dirty="0">
                <a:solidFill>
                  <a:srgbClr val="216BA5"/>
                </a:solidFill>
                <a:cs typeface="B Zar"/>
              </a:rPr>
              <a:t>بخش ۱</a:t>
            </a:r>
          </a:p>
          <a:p>
            <a:pPr algn="ctr" rtl="1">
              <a:spcAft>
                <a:spcPts val="1200"/>
              </a:spcAft>
            </a:pPr>
            <a:r>
              <a:rPr lang="fa-IR" sz="4600" b="1" dirty="0">
                <a:solidFill>
                  <a:srgbClr val="1B4F72"/>
                </a:solidFill>
                <a:cs typeface="B Zar"/>
              </a:rPr>
              <a:t>صورت مسئله و </a:t>
            </a:r>
            <a:r>
              <a:rPr lang="fa-IR" sz="4600" b="1" dirty="0" smtClean="0">
                <a:solidFill>
                  <a:srgbClr val="1B4F72"/>
                </a:solidFill>
                <a:cs typeface="B Zar"/>
              </a:rPr>
              <a:t>مبانی نظری</a:t>
            </a:r>
            <a:endParaRPr lang="fa-IR" sz="4600" b="1" dirty="0">
              <a:solidFill>
                <a:srgbClr val="1B4F72"/>
              </a:solidFill>
              <a:cs typeface="B Zar"/>
            </a:endParaRPr>
          </a:p>
          <a:p>
            <a:pPr algn="ctr" rtl="1">
              <a:spcAft>
                <a:spcPts val="0"/>
              </a:spcAft>
            </a:pPr>
            <a:r>
              <a:rPr lang="fa-IR" sz="2400" dirty="0" smtClean="0">
                <a:solidFill>
                  <a:srgbClr val="4A5A66"/>
                </a:solidFill>
                <a:cs typeface="B Zar"/>
              </a:rPr>
              <a:t>مفاهیم پایه‌ای، مجموعه‌داده و مدل انتخاب شده</a:t>
            </a:r>
            <a:endParaRPr lang="fa-IR" sz="2400" b="0" dirty="0">
              <a:solidFill>
                <a:srgbClr val="4A5A66"/>
              </a:solidFill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3343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5275462"/>
            <a:ext cx="12192000" cy="1582540"/>
          </a:xfrm>
          <a:prstGeom prst="rect">
            <a:avLst/>
          </a:prstGeom>
          <a:gradFill flip="none" rotWithShape="1">
            <a:gsLst>
              <a:gs pos="84000">
                <a:schemeClr val="accent4">
                  <a:lumMod val="35000"/>
                  <a:lumOff val="65000"/>
                </a:schemeClr>
              </a:gs>
              <a:gs pos="8000">
                <a:schemeClr val="accent4">
                  <a:lumMod val="0"/>
                  <a:lumOff val="100000"/>
                </a:schemeClr>
              </a:gs>
              <a:gs pos="18000">
                <a:schemeClr val="accent4">
                  <a:lumMod val="5000"/>
                  <a:lumOff val="95000"/>
                </a:schemeClr>
              </a:gs>
              <a:gs pos="28000">
                <a:schemeClr val="accent4">
                  <a:lumMod val="10000"/>
                  <a:lumOff val="90000"/>
                </a:schemeClr>
              </a:gs>
              <a:gs pos="39000">
                <a:schemeClr val="accent4">
                  <a:lumMod val="15000"/>
                  <a:lumOff val="85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  <a:gs pos="62000">
                <a:schemeClr val="accent4">
                  <a:lumMod val="25000"/>
                  <a:lumOff val="75000"/>
                </a:schemeClr>
              </a:gs>
              <a:gs pos="73000">
                <a:schemeClr val="accent4">
                  <a:lumMod val="30000"/>
                  <a:lumOff val="70000"/>
                </a:schemeClr>
              </a:gs>
              <a:gs pos="94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50000"/>
                  <a:lumOff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F03A99-DA6E-4242-A14B-ADB2F847B26A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۳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BC7D9-1F8D-443F-9BD6-D0A64A223C04}"/>
              </a:ext>
            </a:extLst>
          </p:cNvPr>
          <p:cNvSpPr>
            <a:spLocks noGrp="1"/>
          </p:cNvSpPr>
          <p:nvPr/>
        </p:nvSpPr>
        <p:spPr>
          <a:xfrm>
            <a:off x="5414422" y="1641435"/>
            <a:ext cx="6166546" cy="3726978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t">
            <a:noAutofit/>
          </a:bodyPr>
          <a:lstStyle/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b="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 </a:t>
            </a:r>
            <a:r>
              <a:rPr lang="fa-IR" sz="2000" b="1" dirty="0"/>
              <a:t>مرجع </a:t>
            </a:r>
            <a:r>
              <a:rPr lang="ar-SA" sz="2000" b="1" dirty="0">
                <a:cs typeface="B Zar" panose="00000400000000000000" pitchFamily="50" charset="-78"/>
              </a:rPr>
              <a:t>[</a:t>
            </a:r>
            <a:r>
              <a:rPr lang="fa-IR" sz="2000" b="1" dirty="0">
                <a:cs typeface="B Zar" panose="00000400000000000000" pitchFamily="50" charset="-78"/>
              </a:rPr>
              <a:t>۱</a:t>
            </a:r>
            <a:r>
              <a:rPr lang="ar-SA" sz="2000" b="1" dirty="0" smtClean="0">
                <a:cs typeface="B Zar" panose="00000400000000000000" pitchFamily="50" charset="-78"/>
              </a:rPr>
              <a:t>]</a:t>
            </a:r>
            <a:r>
              <a:rPr lang="fa-IR" sz="2000" b="1" dirty="0" smtClean="0">
                <a:cs typeface="B Zar" panose="00000400000000000000" pitchFamily="50" charset="-78"/>
              </a:rPr>
              <a:t>:</a:t>
            </a:r>
            <a:r>
              <a:rPr lang="fa-IR" dirty="0" smtClean="0">
                <a:cs typeface="B Zar" panose="00000400000000000000" pitchFamily="50" charset="-78"/>
              </a:rPr>
              <a:t> </a:t>
            </a:r>
            <a:r>
              <a:rPr lang="ar-SA" sz="2200" dirty="0" smtClean="0"/>
              <a:t>مجموعه</a:t>
            </a:r>
            <a:r>
              <a:rPr lang="en-US" sz="2200" dirty="0"/>
              <a:t>‌</a:t>
            </a:r>
            <a:r>
              <a:rPr lang="ar-SA" sz="2200" dirty="0"/>
              <a:t>داده چنددامنه رانندگی </a:t>
            </a:r>
            <a:r>
              <a:rPr lang="ar-SA" sz="2200" dirty="0" smtClean="0"/>
              <a:t>خودکار</a:t>
            </a:r>
            <a:r>
              <a:rPr lang="fa-IR" sz="2200" dirty="0" smtClean="0"/>
              <a:t> (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IADD</a:t>
            </a:r>
            <a:r>
              <a:rPr lang="fa-IR" sz="2200" dirty="0" smtClean="0"/>
              <a:t>)</a:t>
            </a:r>
          </a:p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200" dirty="0" smtClean="0"/>
              <a:t> </a:t>
            </a:r>
            <a:r>
              <a:rPr lang="ar-SA" sz="2200" dirty="0" smtClean="0"/>
              <a:t>دانشکده مهندسی خودرو دانشگاه علم و صنعت</a:t>
            </a:r>
            <a:endParaRPr lang="fa-IR" sz="2200" dirty="0" smtClean="0"/>
          </a:p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200" dirty="0" smtClean="0"/>
              <a:t>چاپ شده در مجله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IET Image Processing</a:t>
            </a:r>
            <a:r>
              <a:rPr lang="fa-IR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در سال 2023</a:t>
            </a:r>
            <a:endParaRPr lang="fa-I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200" dirty="0" smtClean="0">
                <a:cs typeface="B Zar" panose="00000400000000000000" pitchFamily="50" charset="-78"/>
              </a:rPr>
              <a:t> </a:t>
            </a:r>
            <a:r>
              <a:rPr lang="fa-IR" sz="2000" b="1" dirty="0" smtClean="0">
                <a:cs typeface="B Zar" panose="00000400000000000000" pitchFamily="50" charset="-78"/>
              </a:rPr>
              <a:t>هدف </a:t>
            </a:r>
            <a:r>
              <a:rPr lang="fa-IR" sz="2000" b="1" dirty="0">
                <a:cs typeface="B Zar" panose="00000400000000000000" pitchFamily="50" charset="-78"/>
              </a:rPr>
              <a:t>اصلی: </a:t>
            </a:r>
            <a:r>
              <a:rPr lang="fa-IR" sz="2200" dirty="0">
                <a:cs typeface="B Zar" panose="00000400000000000000" pitchFamily="50" charset="-78"/>
              </a:rPr>
              <a:t>بهبود توانایی تعمیم مدل‌های </a:t>
            </a:r>
            <a:r>
              <a:rPr lang="fa-IR" sz="2200" dirty="0" smtClean="0">
                <a:cs typeface="B Zar" panose="00000400000000000000" pitchFamily="50" charset="-78"/>
              </a:rPr>
              <a:t>یادگیری عمیق</a:t>
            </a:r>
          </a:p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200" dirty="0">
                <a:cs typeface="B Zar" panose="00000400000000000000" pitchFamily="50" charset="-78"/>
              </a:rPr>
              <a:t> </a:t>
            </a:r>
            <a:r>
              <a:rPr lang="fa-IR" sz="2200" dirty="0" smtClean="0">
                <a:cs typeface="B Zar" panose="00000400000000000000" pitchFamily="50" charset="-78"/>
              </a:rPr>
              <a:t>پوشش شرایط</a:t>
            </a:r>
            <a:r>
              <a:rPr lang="en-US" sz="2200" dirty="0" smtClean="0">
                <a:cs typeface="B Zar" panose="00000400000000000000" pitchFamily="50" charset="-78"/>
              </a:rPr>
              <a:t> </a:t>
            </a:r>
            <a:r>
              <a:rPr lang="fa-IR" sz="2200" dirty="0" smtClean="0">
                <a:cs typeface="B Zar" panose="00000400000000000000" pitchFamily="50" charset="-78"/>
              </a:rPr>
              <a:t>شهری</a:t>
            </a:r>
            <a:r>
              <a:rPr lang="fa-IR" sz="2200" dirty="0">
                <a:cs typeface="B Zar" panose="00000400000000000000" pitchFamily="50" charset="-78"/>
              </a:rPr>
              <a:t>، </a:t>
            </a:r>
            <a:r>
              <a:rPr lang="fa-IR" sz="2200" dirty="0" smtClean="0">
                <a:cs typeface="B Zar" panose="00000400000000000000" pitchFamily="50" charset="-78"/>
              </a:rPr>
              <a:t>برون‌شهری</a:t>
            </a:r>
            <a:r>
              <a:rPr lang="en-US" sz="2200" dirty="0" smtClean="0">
                <a:cs typeface="B Zar" panose="00000400000000000000" pitchFamily="50" charset="-78"/>
              </a:rPr>
              <a:t> </a:t>
            </a:r>
            <a:r>
              <a:rPr lang="fa-IR" sz="2200" dirty="0" smtClean="0">
                <a:cs typeface="B Zar" panose="00000400000000000000" pitchFamily="50" charset="-78"/>
              </a:rPr>
              <a:t>و جریان‌های ترافیکی مختلف</a:t>
            </a:r>
            <a:endParaRPr lang="fa-IR" sz="2100" dirty="0" smtClean="0">
              <a:latin typeface="Times New Roman" panose="02020603050405020304" pitchFamily="18" charset="0"/>
              <a:cs typeface="B Zar" panose="00000400000000000000" pitchFamily="50" charset="-78"/>
            </a:endParaRPr>
          </a:p>
          <a:p>
            <a:pPr marR="317500" indent="-165100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endParaRPr lang="en-US" altLang="fa-IR" sz="2200" b="0" dirty="0">
              <a:solidFill>
                <a:srgbClr val="17232C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مجموعه‌داده انتخابی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84" y="1641434"/>
            <a:ext cx="4985438" cy="3726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678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5275462"/>
            <a:ext cx="12192000" cy="1582540"/>
          </a:xfrm>
          <a:prstGeom prst="rect">
            <a:avLst/>
          </a:prstGeom>
          <a:gradFill flip="none" rotWithShape="1">
            <a:gsLst>
              <a:gs pos="84000">
                <a:schemeClr val="accent4">
                  <a:lumMod val="35000"/>
                  <a:lumOff val="65000"/>
                </a:schemeClr>
              </a:gs>
              <a:gs pos="8000">
                <a:schemeClr val="accent4">
                  <a:lumMod val="0"/>
                  <a:lumOff val="100000"/>
                </a:schemeClr>
              </a:gs>
              <a:gs pos="18000">
                <a:schemeClr val="accent4">
                  <a:lumMod val="5000"/>
                  <a:lumOff val="95000"/>
                </a:schemeClr>
              </a:gs>
              <a:gs pos="28000">
                <a:schemeClr val="accent4">
                  <a:lumMod val="10000"/>
                  <a:lumOff val="90000"/>
                </a:schemeClr>
              </a:gs>
              <a:gs pos="39000">
                <a:schemeClr val="accent4">
                  <a:lumMod val="15000"/>
                  <a:lumOff val="85000"/>
                </a:schemeClr>
              </a:gs>
              <a:gs pos="50000">
                <a:schemeClr val="accent4">
                  <a:lumMod val="20000"/>
                  <a:lumOff val="80000"/>
                </a:schemeClr>
              </a:gs>
              <a:gs pos="62000">
                <a:schemeClr val="accent4">
                  <a:lumMod val="25000"/>
                  <a:lumOff val="75000"/>
                </a:schemeClr>
              </a:gs>
              <a:gs pos="73000">
                <a:schemeClr val="accent4">
                  <a:lumMod val="30000"/>
                  <a:lumOff val="70000"/>
                </a:schemeClr>
              </a:gs>
              <a:gs pos="94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50000"/>
                  <a:lumOff val="5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/>
          <p:nvPr>
            <p:extLst>
              <p:ext uri="{D42A27DB-BD31-4B8C-83A1-F6EECF244321}">
                <p14:modId xmlns:p14="http://schemas.microsoft.com/office/powerpoint/2010/main" val="750167977"/>
              </p:ext>
            </p:extLst>
          </p:nvPr>
        </p:nvGraphicFramePr>
        <p:xfrm>
          <a:off x="488618" y="1928486"/>
          <a:ext cx="4865688" cy="2842759"/>
        </p:xfrm>
        <a:graphic>
          <a:graphicData uri="http://schemas.openxmlformats.org/drawingml/2006/table">
            <a:tbl>
              <a:tblPr/>
              <a:tblGrid>
                <a:gridCol w="1272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1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1844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تعداد ویدیو</a:t>
                      </a:r>
                      <a:endParaRPr lang="fa-IR" altLang="fa-IR" sz="2000" b="1" dirty="0">
                        <a:solidFill>
                          <a:srgbClr val="FFFFFF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تعداد تصویر</a:t>
                      </a:r>
                      <a:endParaRPr lang="fa-IR" altLang="fa-IR" sz="2000" b="1" dirty="0">
                        <a:solidFill>
                          <a:srgbClr val="FFFFFF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نسخه داده</a:t>
                      </a:r>
                      <a:endParaRPr lang="fa-IR" altLang="fa-IR" sz="2000" b="1" dirty="0">
                        <a:solidFill>
                          <a:srgbClr val="FFFFFF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305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۱۷۱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۹۷٬۵۲۸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مجموعه منتشرشده</a:t>
                      </a:r>
                      <a:endParaRPr lang="fa-IR" altLang="fa-IR" sz="20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CBFBF9">
                        <a:alpha val="4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305">
                <a:tc>
                  <a:txBody>
                    <a:bodyPr/>
                    <a:lstStyle/>
                    <a:p>
                      <a:pPr algn="ctr" rtl="1"/>
                      <a:r>
                        <a:rPr lang="en-US" altLang="fa-IR" sz="2000" dirty="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165</a:t>
                      </a:r>
                      <a:endParaRPr lang="fa-IR" altLang="fa-IR" sz="2000" dirty="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۸۳٬۰۴۲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بخش دارای برچسب</a:t>
                      </a:r>
                      <a:endParaRPr lang="fa-IR" altLang="fa-IR" sz="20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CBFBF9">
                        <a:alpha val="4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0305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۱۶۰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۳۷٬۱۴۲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زیرمجموعه نهایی</a:t>
                      </a:r>
                      <a:endParaRPr lang="fa-IR" altLang="fa-IR" sz="20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CBFBF9">
                        <a:alpha val="4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F03A99-DA6E-4242-A14B-ADB2F847B26A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۴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BC7D9-1F8D-443F-9BD6-D0A64A223C04}"/>
              </a:ext>
            </a:extLst>
          </p:cNvPr>
          <p:cNvSpPr>
            <a:spLocks noGrp="1"/>
          </p:cNvSpPr>
          <p:nvPr/>
        </p:nvSpPr>
        <p:spPr>
          <a:xfrm>
            <a:off x="5348749" y="1699886"/>
            <a:ext cx="6183057" cy="3963495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t">
            <a:noAutofit/>
          </a:bodyPr>
          <a:lstStyle/>
          <a:p>
            <a:pPr marR="317500" indent="225425" algn="just" rtl="1">
              <a:lnSpc>
                <a:spcPct val="150000"/>
              </a:lnSpc>
              <a:spcAft>
                <a:spcPts val="1500"/>
              </a:spcAft>
              <a:buFontTx/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dirty="0" smtClean="0">
                <a:latin typeface="B Zar"/>
                <a:ea typeface="B Zar"/>
                <a:cs typeface="B Zar" panose="00000400000000000000" pitchFamily="50" charset="-78"/>
              </a:rPr>
              <a:t> شش </a:t>
            </a:r>
            <a:r>
              <a:rPr lang="fa-IR" altLang="fa-IR" sz="2200" dirty="0">
                <a:latin typeface="B Zar"/>
                <a:ea typeface="B Zar"/>
                <a:cs typeface="B Zar" panose="00000400000000000000" pitchFamily="50" charset="-78"/>
              </a:rPr>
              <a:t>رده، هشت شهر و شرایط روز، شب، باران و هوای </a:t>
            </a:r>
            <a:r>
              <a:rPr lang="fa-IR" altLang="fa-IR" sz="2200" dirty="0" smtClean="0">
                <a:latin typeface="B Zar"/>
                <a:ea typeface="B Zar"/>
                <a:cs typeface="B Zar" panose="00000400000000000000" pitchFamily="50" charset="-78"/>
              </a:rPr>
              <a:t>ابری</a:t>
            </a:r>
          </a:p>
          <a:p>
            <a:pPr marR="317500" indent="225425" algn="just" rtl="1">
              <a:lnSpc>
                <a:spcPct val="150000"/>
              </a:lnSpc>
              <a:spcAft>
                <a:spcPts val="1500"/>
              </a:spcAft>
              <a:buFontTx/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dirty="0" smtClean="0">
                <a:solidFill>
                  <a:srgbClr val="17232C"/>
                </a:solidFill>
                <a:latin typeface="Times New Roman"/>
                <a:ea typeface="Times New Roman"/>
                <a:cs typeface="B Zar" panose="00000400000000000000" pitchFamily="50" charset="-78"/>
              </a:rPr>
              <a:t> استخراج </a:t>
            </a:r>
            <a:r>
              <a:rPr lang="fa-IR" altLang="fa-IR" sz="2200" dirty="0">
                <a:solidFill>
                  <a:srgbClr val="17232C"/>
                </a:solidFill>
                <a:latin typeface="Times New Roman"/>
                <a:ea typeface="Times New Roman"/>
                <a:cs typeface="B Zar" panose="00000400000000000000" pitchFamily="50" charset="-78"/>
              </a:rPr>
              <a:t>تصویر از ویدیوهای ثبت شده؛ هر 2 ثانیه یک </a:t>
            </a:r>
            <a:r>
              <a:rPr lang="fa-IR" altLang="fa-IR" sz="2200" dirty="0" smtClean="0">
                <a:solidFill>
                  <a:srgbClr val="17232C"/>
                </a:solidFill>
                <a:latin typeface="Times New Roman"/>
                <a:ea typeface="Times New Roman"/>
                <a:cs typeface="B Zar" panose="00000400000000000000" pitchFamily="50" charset="-78"/>
              </a:rPr>
              <a:t>فریم</a:t>
            </a:r>
            <a:endParaRPr lang="fa-IR" altLang="fa-IR" sz="2200" b="0" dirty="0" smtClean="0">
              <a:solidFill>
                <a:srgbClr val="17232C"/>
              </a:solidFill>
              <a:latin typeface="B Zar"/>
              <a:ea typeface="B Zar"/>
              <a:cs typeface="B Zar" panose="00000400000000000000" pitchFamily="50" charset="-78"/>
            </a:endParaRPr>
          </a:p>
          <a:p>
            <a:pPr marR="317500" indent="225425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200" dirty="0" smtClean="0"/>
              <a:t> برچسب‌گذاری </a:t>
            </a:r>
            <a:r>
              <a:rPr lang="fa-IR" sz="2200" dirty="0"/>
              <a:t>به‌صورت نیمه‌نظارتی </a:t>
            </a:r>
            <a:r>
              <a:rPr lang="fa-IR" sz="2200" dirty="0" smtClean="0"/>
              <a:t>با مدل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YoloR</a:t>
            </a:r>
            <a:endParaRPr lang="en-US" sz="2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17500" indent="225425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dirty="0" smtClean="0">
                <a:solidFill>
                  <a:srgbClr val="17232C"/>
                </a:solidFill>
                <a:latin typeface="Times New Roman"/>
                <a:ea typeface="Times New Roman"/>
                <a:cs typeface="B Zar" panose="00000400000000000000" pitchFamily="50" charset="-78"/>
              </a:rPr>
              <a:t>۱۴٬۴۸۶ تصویر بخش آزمون، بدون برچسب بودند</a:t>
            </a:r>
            <a:endParaRPr lang="en-US" altLang="fa-IR" sz="2200" dirty="0" smtClean="0">
              <a:solidFill>
                <a:srgbClr val="17232C"/>
              </a:solidFill>
              <a:latin typeface="Times New Roman"/>
              <a:ea typeface="Times New Roman"/>
              <a:cs typeface="B Zar" panose="00000400000000000000" pitchFamily="50" charset="-78"/>
            </a:endParaRPr>
          </a:p>
          <a:p>
            <a:pPr marR="317500" indent="225425" algn="just" rtl="1">
              <a:lnSpc>
                <a:spcPct val="150000"/>
              </a:lnSpc>
              <a:spcAft>
                <a:spcPts val="1500"/>
              </a:spcAft>
              <a:buChar char="•"/>
              <a:defRPr sz="22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200" dirty="0" smtClean="0">
                <a:solidFill>
                  <a:srgbClr val="17232C"/>
                </a:solidFill>
                <a:latin typeface="Times New Roman"/>
                <a:ea typeface="Times New Roman"/>
                <a:cs typeface="B Zar" panose="00000400000000000000" pitchFamily="50" charset="-78"/>
              </a:rPr>
              <a:t>روش حل این مشکل در بخش 2 بیان شده است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مجموعه‌داده انتخابی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380950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59D151-27E6-4178-A5B2-8754E020B817}"/>
              </a:ext>
            </a:extLst>
          </p:cNvPr>
          <p:cNvSpPr>
            <a:spLocks noGrp="1"/>
          </p:cNvSpPr>
          <p:nvPr/>
        </p:nvSpPr>
        <p:spPr>
          <a:xfrm>
            <a:off x="321012" y="6254884"/>
            <a:ext cx="1087269" cy="428017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۵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graphicFrame>
        <p:nvGraphicFramePr>
          <p:cNvPr id="17" name="Table 16"/>
          <p:cNvGraphicFramePr/>
          <p:nvPr>
            <p:extLst>
              <p:ext uri="{D42A27DB-BD31-4B8C-83A1-F6EECF244321}">
                <p14:modId xmlns:p14="http://schemas.microsoft.com/office/powerpoint/2010/main" val="1161820342"/>
              </p:ext>
            </p:extLst>
          </p:nvPr>
        </p:nvGraphicFramePr>
        <p:xfrm>
          <a:off x="1346470" y="1652154"/>
          <a:ext cx="9499060" cy="4143376"/>
        </p:xfrm>
        <a:graphic>
          <a:graphicData uri="http://schemas.openxmlformats.org/drawingml/2006/table">
            <a:tbl>
              <a:tblPr/>
              <a:tblGrid>
                <a:gridCol w="301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8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وضعیت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رده پروژه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رده </a:t>
                      </a:r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مصوب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گسترده‌تر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شخص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عابر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یکسان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اتوبوس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اتوبوس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یکسان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خودروی سبک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خودروی سبک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یکسان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موتورسیکلت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موتور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ادغام در خودروی باری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خودروی باری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تریلر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ادغام در خودروی باری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خودروی باری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وانت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7922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افزوده شد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چراغ راهنمایی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—</a:t>
                      </a:r>
                    </a:p>
                  </a:txBody>
                  <a:tcPr marL="66675" marR="66675" marT="57150" marB="57150" anchor="ctr">
                    <a:solidFill>
                      <a:srgbClr val="D4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مقایسه رده‌های مصوب و نهایی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4364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59D151-27E6-4178-A5B2-8754E020B817}"/>
              </a:ext>
            </a:extLst>
          </p:cNvPr>
          <p:cNvSpPr>
            <a:spLocks noGrp="1"/>
          </p:cNvSpPr>
          <p:nvPr/>
        </p:nvSpPr>
        <p:spPr>
          <a:xfrm>
            <a:off x="359704" y="6354737"/>
            <a:ext cx="1087269" cy="428017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۶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smtClean="0">
                <a:solidFill>
                  <a:srgbClr val="173E5A"/>
                </a:solidFill>
                <a:latin typeface="B Zar"/>
                <a:ea typeface="B Zar"/>
                <a:cs typeface="B Zar" panose="00000400000000000000" pitchFamily="50" charset="-78"/>
              </a:rPr>
              <a:t>‏نسبت هم‌پوشانی کادرها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 panose="00000400000000000000" pitchFamily="50" charset="-78"/>
            </a:endParaRPr>
          </a:p>
        </p:txBody>
      </p:sp>
      <p:pic>
        <p:nvPicPr>
          <p:cNvPr id="2" name="Picture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39" y="999350"/>
            <a:ext cx="10385323" cy="3208861"/>
          </a:xfrm>
          <a:prstGeom prst="rect">
            <a:avLst/>
          </a:prstGeom>
          <a:ln w="12700">
            <a:solidFill>
              <a:schemeClr val="accent4">
                <a:lumMod val="7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4925965" y="4475489"/>
            <a:ext cx="6068962" cy="15439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 err="1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IoU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: </a:t>
            </a:r>
            <a:r>
              <a:rPr lang="fa-IR" sz="20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میزان انطباق کادر پیش‌بینی شده با کادر واقعی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مقدار </a:t>
            </a:r>
            <a:r>
              <a:rPr lang="en-US" sz="1900" dirty="0" err="1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IoU</a:t>
            </a:r>
            <a:r>
              <a:rPr lang="fa-IR" sz="20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 همواره بین صفر و یک قرار می‌گیرد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B Zar" panose="00000400000000000000" pitchFamily="50" charset="-78"/>
              </a:rPr>
              <a:t>مقدار یک به معنی انطباق کامل و صفر به معنی نبود هم‌پوشانی است</a:t>
            </a:r>
          </a:p>
          <a:p>
            <a:pPr marL="342900" indent="-342900" algn="ctr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B Zar" panose="00000400000000000000" pitchFamily="50" charset="-78"/>
            </a:endParaRPr>
          </a:p>
        </p:txBody>
      </p:sp>
      <p:pic>
        <p:nvPicPr>
          <p:cNvPr id="9" name="Picture 8"/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92024"/>
            <a:ext cx="539496" cy="6309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3339" y="4298019"/>
            <a:ext cx="3806313" cy="189891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535680"/>
                  </p:ext>
                </p:extLst>
              </p:nvPr>
            </p:nvGraphicFramePr>
            <p:xfrm>
              <a:off x="1042738" y="4532363"/>
              <a:ext cx="3527514" cy="1115314"/>
            </p:xfrm>
            <a:graphic>
              <a:graphicData uri="http://schemas.openxmlformats.org/drawingml/2006/table">
                <a:tbl>
                  <a:tblPr rtl="1" firstRow="1" firstCol="1" bandRow="1">
                    <a:tableStyleId>{5C22544A-7EE6-4342-B048-85BDC9FD1C3A}</a:tableStyleId>
                  </a:tblPr>
                  <a:tblGrid>
                    <a:gridCol w="3527514">
                      <a:extLst>
                        <a:ext uri="{9D8B030D-6E8A-4147-A177-3AD203B41FA5}">
                          <a16:colId xmlns:a16="http://schemas.microsoft.com/office/drawing/2014/main" val="2595146144"/>
                        </a:ext>
                      </a:extLst>
                    </a:gridCol>
                  </a:tblGrid>
                  <a:tr h="795211">
                    <a:tc>
                      <a:txBody>
                        <a:bodyPr/>
                        <a:lstStyle/>
                        <a:p>
                          <a:pPr algn="ctr" rtl="0">
                            <a:lnSpc>
                              <a:spcPct val="150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𝐼𝑜𝑈</m:t>
                                </m:r>
                                <m:r>
                                  <a:rPr lang="en-US" sz="2200" b="0" smtClean="0">
                                    <a:solidFill>
                                      <a:schemeClr val="tx1">
                                        <a:lumMod val="85000"/>
                                        <a:lumOff val="15000"/>
                                      </a:schemeClr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f>
                                  <m:fPr>
                                    <m:ctrlPr>
                                      <a:rPr lang="en-US" sz="2200" b="0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b="0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𝑎𝑟𝑒𝑎</m:t>
                                    </m:r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𝑝𝑟𝑒𝑑</m:t>
                                        </m:r>
                                      </m:sub>
                                    </m:sSub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∩ 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𝑔𝑡</m:t>
                                        </m:r>
                                      </m:sub>
                                    </m:sSub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2200" b="0" i="1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𝑎𝑟𝑒𝑎</m:t>
                                    </m:r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𝑝𝑟𝑒𝑑</m:t>
                                        </m:r>
                                      </m:sub>
                                    </m:sSub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∪ </m:t>
                                    </m:r>
                                    <m:sSub>
                                      <m:sSubPr>
                                        <m:ctrlP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2200" b="0" i="1">
                                            <a:solidFill>
                                              <a:schemeClr val="tx1">
                                                <a:lumMod val="85000"/>
                                                <a:lumOff val="15000"/>
                                              </a:schemeClr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𝑔𝑡</m:t>
                                        </m:r>
                                      </m:sub>
                                    </m:sSub>
                                    <m:r>
                                      <a:rPr lang="en-US" sz="2200" b="0">
                                        <a:solidFill>
                                          <a:schemeClr val="tx1">
                                            <a:lumMod val="85000"/>
                                            <a:lumOff val="15000"/>
                                          </a:schemeClr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200" b="0" dirty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effectLst/>
                            <a:latin typeface="B Zar" panose="00000400000000000000" pitchFamily="50" charset="-78"/>
                            <a:ea typeface="MS Mincho" panose="02020609040205080304" pitchFamily="49" charset="-128"/>
                            <a:cs typeface="B Zar" panose="00000400000000000000" pitchFamily="50" charset="-78"/>
                          </a:endParaRPr>
                        </a:p>
                      </a:txBody>
                      <a:tcPr marL="68580" marR="68580" marT="0" marB="0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38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6535680"/>
                  </p:ext>
                </p:extLst>
              </p:nvPr>
            </p:nvGraphicFramePr>
            <p:xfrm>
              <a:off x="1042738" y="4532363"/>
              <a:ext cx="3527514" cy="1115314"/>
            </p:xfrm>
            <a:graphic>
              <a:graphicData uri="http://schemas.openxmlformats.org/drawingml/2006/table">
                <a:tbl>
                  <a:tblPr rtl="1" firstRow="1" firstCol="1" bandRow="1">
                    <a:tableStyleId>{5C22544A-7EE6-4342-B048-85BDC9FD1C3A}</a:tableStyleId>
                  </a:tblPr>
                  <a:tblGrid>
                    <a:gridCol w="3527514">
                      <a:extLst>
                        <a:ext uri="{9D8B030D-6E8A-4147-A177-3AD203B41FA5}">
                          <a16:colId xmlns:a16="http://schemas.microsoft.com/office/drawing/2014/main" val="2595146144"/>
                        </a:ext>
                      </a:extLst>
                    </a:gridCol>
                  </a:tblGrid>
                  <a:tr h="11153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5"/>
                          <a:stretch>
                            <a:fillRect l="-173" t="-543" r="-691" b="-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388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/>
          <p:cNvSpPr/>
          <p:nvPr/>
        </p:nvSpPr>
        <p:spPr>
          <a:xfrm>
            <a:off x="4815129" y="4298019"/>
            <a:ext cx="6473533" cy="1898912"/>
          </a:xfrm>
          <a:prstGeom prst="rect">
            <a:avLst/>
          </a:prstGeom>
          <a:noFill/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ارجاع فرمول‌ها"/>
          <p:cNvSpPr txBox="1"/>
          <p:nvPr/>
        </p:nvSpPr>
        <p:spPr>
          <a:xfrm>
            <a:off x="9062026" y="6374401"/>
            <a:ext cx="2226636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fa-IR" dirty="0" smtClean="0">
                <a:solidFill>
                  <a:srgbClr val="263D4F"/>
                </a:solidFill>
                <a:latin typeface="B Zar"/>
                <a:ea typeface="B Zar"/>
                <a:cs typeface="B Zar"/>
              </a:rPr>
              <a:t>مرجع [۵]: رابطه نسبت هم‌پوشانی</a:t>
            </a:r>
            <a:endParaRPr lang="fa-IR" dirty="0">
              <a:solidFill>
                <a:srgbClr val="263D4F"/>
              </a:solidFill>
              <a:latin typeface="B Zar"/>
              <a:ea typeface="B Zar"/>
              <a:cs typeface="B Zar"/>
            </a:endParaRPr>
          </a:p>
          <a:p>
            <a:pPr algn="r" rtl="1"/>
            <a:endParaRPr dirty="0">
              <a:solidFill>
                <a:srgbClr val="263D4F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201992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59D151-27E6-4178-A5B2-8754E020B817}"/>
              </a:ext>
            </a:extLst>
          </p:cNvPr>
          <p:cNvSpPr>
            <a:spLocks noGrp="1"/>
          </p:cNvSpPr>
          <p:nvPr/>
        </p:nvSpPr>
        <p:spPr>
          <a:xfrm>
            <a:off x="374783" y="6325073"/>
            <a:ext cx="1087269" cy="428017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۷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44797" y="216287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 panose="00000400000000000000" pitchFamily="50" charset="-78"/>
              </a:rPr>
              <a:t>‏دقت، فراخوانی و </a:t>
            </a:r>
            <a:r>
              <a:rPr lang="en-US" altLang="fa-IR" sz="3000" b="1" dirty="0" smtClean="0">
                <a:solidFill>
                  <a:srgbClr val="173E5A"/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F1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2483" y="1216134"/>
            <a:ext cx="1739354" cy="40350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fa-IR" sz="2700" b="1" dirty="0" smtClean="0">
                <a:solidFill>
                  <a:srgbClr val="197EA3"/>
                </a:solidFill>
                <a:cs typeface="B Zar" panose="00000400000000000000" pitchFamily="50" charset="-78"/>
              </a:rPr>
              <a:t>‏دقت</a:t>
            </a:r>
            <a:endParaRPr lang="en-US" sz="2700" b="1" dirty="0">
              <a:solidFill>
                <a:srgbClr val="197EA3"/>
              </a:solidFill>
              <a:cs typeface="B Zar" panose="00000400000000000000" pitchFamily="50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495228" y="1838864"/>
                <a:ext cx="3033865" cy="731867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FP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1738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228" y="1838864"/>
                <a:ext cx="3033865" cy="7318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040045" y="1180325"/>
            <a:ext cx="2129094" cy="5051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fa-IR" sz="2700" b="1" dirty="0" smtClean="0">
                <a:solidFill>
                  <a:srgbClr val="219653"/>
                </a:solidFill>
                <a:cs typeface="B Zar" panose="00000400000000000000" pitchFamily="50" charset="-78"/>
              </a:rPr>
              <a:t>‏فراخوانی</a:t>
            </a:r>
            <a:endParaRPr lang="en-US" sz="2700" b="1" dirty="0">
              <a:solidFill>
                <a:srgbClr val="219653"/>
              </a:solidFill>
              <a:cs typeface="B Zar" panose="00000400000000000000" pitchFamily="50" charset="-78"/>
            </a:endParaRPr>
          </a:p>
        </p:txBody>
      </p:sp>
      <p:pic>
        <p:nvPicPr>
          <p:cNvPr id="15" name="Picture 14"/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92024"/>
            <a:ext cx="539496" cy="630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899916" y="1843001"/>
                <a:ext cx="2379177" cy="6737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ecall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TP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TP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FN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916" y="1843001"/>
                <a:ext cx="2379177" cy="6737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373357" y="1838865"/>
                <a:ext cx="3621696" cy="6819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×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Recall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Precision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Recall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57" y="1838865"/>
                <a:ext cx="3621696" cy="6819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1119003" y="1207753"/>
            <a:ext cx="2129094" cy="5051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fa-IR" sz="2700" b="1" dirty="0" smtClean="0">
                <a:solidFill>
                  <a:schemeClr val="accent2">
                    <a:lumMod val="75000"/>
                  </a:schemeClr>
                </a:solidFill>
                <a:cs typeface="B Zar" panose="00000400000000000000" pitchFamily="50" charset="-78"/>
              </a:rPr>
              <a:t>‏امتیاز </a:t>
            </a:r>
            <a:r>
              <a:rPr lang="en-US" sz="2700" b="1" dirty="0" smtClean="0">
                <a:solidFill>
                  <a:schemeClr val="accent2">
                    <a:lumMod val="75000"/>
                  </a:schemeClr>
                </a:solidFill>
                <a:cs typeface="B Zar" panose="00000400000000000000" pitchFamily="50" charset="-78"/>
              </a:rPr>
              <a:t>F1</a:t>
            </a:r>
            <a:endParaRPr lang="en-US" sz="2700" b="1" dirty="0">
              <a:solidFill>
                <a:schemeClr val="accent2">
                  <a:lumMod val="75000"/>
                </a:schemeClr>
              </a:solidFill>
              <a:cs typeface="B Zar" panose="00000400000000000000" pitchFamily="50" charset="-78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094619" y="2792361"/>
            <a:ext cx="3835082" cy="34625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8094619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187051" y="2792361"/>
            <a:ext cx="3835082" cy="3462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71634" y="2792360"/>
            <a:ext cx="3823833" cy="34625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cs typeface="B Zar" panose="00000400000000000000" pitchFamily="50" charset="-78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187051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71635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259097" y="2895072"/>
            <a:ext cx="351011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نسبت پیش‌بینی‌های </a:t>
            </a:r>
            <a:r>
              <a:rPr lang="fa-IR" sz="1900" dirty="0" smtClean="0">
                <a:cs typeface="B Zar" panose="00000400000000000000" pitchFamily="50" charset="-78"/>
              </a:rPr>
              <a:t>مثبت </a:t>
            </a:r>
            <a:r>
              <a:rPr lang="fa-IR" sz="1900" dirty="0">
                <a:cs typeface="B Zar" panose="00000400000000000000" pitchFamily="50" charset="-78"/>
              </a:rPr>
              <a:t>صحیح به کل پیش‌بینی‌های مثبت </a:t>
            </a:r>
            <a:endParaRPr lang="en-US" sz="1900" dirty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نشان می‌دهد وقتی </a:t>
            </a:r>
            <a:r>
              <a:rPr lang="fa-IR" sz="1900" dirty="0">
                <a:cs typeface="B Zar" panose="00000400000000000000" pitchFamily="50" charset="-78"/>
              </a:rPr>
              <a:t>مدل یک شیء را تشخیص می‌دهد، چقدر قابل اعتماد </a:t>
            </a:r>
            <a:r>
              <a:rPr lang="fa-IR" sz="1900" dirty="0" smtClean="0">
                <a:cs typeface="B Zar" panose="00000400000000000000" pitchFamily="50" charset="-78"/>
              </a:rPr>
              <a:t>است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 smtClean="0"/>
              <a:t>افزایش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fa-IR" sz="1900" dirty="0" smtClean="0"/>
              <a:t> باعث </a:t>
            </a:r>
            <a:r>
              <a:rPr lang="fa-IR" sz="1900" dirty="0"/>
              <a:t>کاهش دقت می‌شود</a:t>
            </a:r>
            <a:r>
              <a:rPr lang="fa-IR" sz="1900" dirty="0" smtClean="0">
                <a:cs typeface="B Zar" panose="00000400000000000000" pitchFamily="50" charset="-78"/>
              </a:rPr>
              <a:t>  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دقت </a:t>
            </a:r>
            <a:r>
              <a:rPr lang="fa-IR" sz="1900" dirty="0">
                <a:cs typeface="B Zar" panose="00000400000000000000" pitchFamily="50" charset="-78"/>
              </a:rPr>
              <a:t>بالا یعنی خطاهای مثبت کاذب کمتر است</a:t>
            </a:r>
            <a:endParaRPr lang="en-US" sz="1900" dirty="0">
              <a:cs typeface="B Zar" panose="00000400000000000000" pitchFamily="50" charset="-78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300692" y="2874125"/>
            <a:ext cx="3584780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نسبت اشیای درست شناسایی‌شده به کل اشیای </a:t>
            </a:r>
            <a:r>
              <a:rPr lang="fa-IR" sz="1900" dirty="0" smtClean="0">
                <a:cs typeface="B Zar" panose="00000400000000000000" pitchFamily="50" charset="-78"/>
              </a:rPr>
              <a:t>واقعی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  </a:t>
            </a:r>
            <a:r>
              <a:rPr lang="fa-IR" sz="1900" dirty="0">
                <a:cs typeface="B Zar" panose="00000400000000000000" pitchFamily="50" charset="-78"/>
              </a:rPr>
              <a:t>نشان می‌دهد مدل چه مقدار از اشیای موجود را پیدا کرده </a:t>
            </a:r>
            <a:r>
              <a:rPr lang="fa-IR" sz="1900" dirty="0" smtClean="0">
                <a:cs typeface="B Zar" panose="00000400000000000000" pitchFamily="50" charset="-78"/>
              </a:rPr>
              <a:t>است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  افزایش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fa-IR" sz="1900" dirty="0" smtClean="0">
                <a:cs typeface="B Zar" panose="00000400000000000000" pitchFamily="50" charset="-78"/>
              </a:rPr>
              <a:t> باعث </a:t>
            </a:r>
            <a:r>
              <a:rPr lang="fa-IR" sz="1900" dirty="0">
                <a:cs typeface="B Zar" panose="00000400000000000000" pitchFamily="50" charset="-78"/>
              </a:rPr>
              <a:t>کاهش فراخوانی </a:t>
            </a:r>
            <a:r>
              <a:rPr lang="fa-IR" sz="1900" dirty="0" smtClean="0">
                <a:cs typeface="B Zar" panose="00000400000000000000" pitchFamily="50" charset="-78"/>
              </a:rPr>
              <a:t>می‌شود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  </a:t>
            </a:r>
            <a:r>
              <a:rPr lang="fa-IR" sz="1900" dirty="0">
                <a:cs typeface="B Zar" panose="00000400000000000000" pitchFamily="50" charset="-78"/>
              </a:rPr>
              <a:t>فراخوانی بالا یعنی اشیای کمتری از دست می‌روند</a:t>
            </a:r>
            <a:endParaRPr lang="en-US" sz="1900" dirty="0">
              <a:cs typeface="B Zar" panose="00000400000000000000" pitchFamily="50" charset="-78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73357" y="2895072"/>
            <a:ext cx="3561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میانگین هماهنگ دقت و فراخوانی است</a:t>
            </a:r>
            <a:endParaRPr lang="en-US" sz="1900" dirty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فقط وقتی مقدار بالایی می‌گیرد که هر دو معیار مناسب باشند  </a:t>
            </a:r>
            <a:endParaRPr lang="en-US" sz="1900" dirty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برای ارزیابی متعادل مدل استفاده می‌شود  </a:t>
            </a:r>
            <a:endParaRPr lang="en-US" sz="1900" dirty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fa-IR" sz="1900" dirty="0">
                <a:cs typeface="B Zar" panose="00000400000000000000" pitchFamily="50" charset="-78"/>
              </a:rPr>
              <a:t>اگر یکی از دو معیار ضعیف باشد،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fa-IR" sz="1900" dirty="0">
                <a:cs typeface="B Zar" panose="00000400000000000000" pitchFamily="50" charset="-78"/>
              </a:rPr>
              <a:t> نیز کاهش می‌یابد</a:t>
            </a:r>
            <a:endParaRPr lang="en-US" sz="1900" dirty="0">
              <a:cs typeface="B Zar" panose="00000400000000000000" pitchFamily="50" charset="-78"/>
            </a:endParaRPr>
          </a:p>
        </p:txBody>
      </p:sp>
      <p:sp>
        <p:nvSpPr>
          <p:cNvPr id="59" name="ارجاع فرمول‌ها"/>
          <p:cNvSpPr txBox="1"/>
          <p:nvPr/>
        </p:nvSpPr>
        <p:spPr>
          <a:xfrm>
            <a:off x="8367252" y="6366574"/>
            <a:ext cx="3161841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rtl="1"/>
            <a:r>
              <a:rPr lang="fa-IR" dirty="0">
                <a:solidFill>
                  <a:srgbClr val="263D4F"/>
                </a:solidFill>
                <a:latin typeface="B Zar"/>
                <a:ea typeface="B Zar"/>
                <a:cs typeface="B Zar"/>
              </a:rPr>
              <a:t>مرجع [۵]: </a:t>
            </a:r>
            <a:r>
              <a:rPr lang="fa-IR" dirty="0" smtClean="0">
                <a:solidFill>
                  <a:srgbClr val="263D4F"/>
                </a:solidFill>
                <a:latin typeface="B Zar"/>
                <a:ea typeface="B Zar"/>
                <a:cs typeface="B Zar"/>
              </a:rPr>
              <a:t>روابط دقت، فراخوانی و امتیاز </a:t>
            </a:r>
            <a:r>
              <a:rPr lang="en-US" sz="1700" dirty="0" smtClean="0">
                <a:solidFill>
                  <a:srgbClr val="263D4F"/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F1</a:t>
            </a:r>
            <a:endParaRPr lang="fa-IR" sz="1700" dirty="0">
              <a:solidFill>
                <a:srgbClr val="263D4F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  <a:p>
            <a:pPr algn="r" rtl="1"/>
            <a:endParaRPr lang="fa-IR" dirty="0">
              <a:solidFill>
                <a:srgbClr val="263D4F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331995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6" grpId="0"/>
      <p:bldP spid="32" grpId="0"/>
      <p:bldP spid="33" grpId="0"/>
      <p:bldP spid="43" grpId="0" animBg="1"/>
      <p:bldP spid="42" grpId="0" animBg="1"/>
      <p:bldP spid="44" grpId="0" animBg="1"/>
      <p:bldP spid="45" grpId="0" animBg="1"/>
      <p:bldP spid="41" grpId="0" animBg="1"/>
      <p:bldP spid="40" grpId="0" animBg="1"/>
      <p:bldP spid="50" grpId="0"/>
      <p:bldP spid="53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59D151-27E6-4178-A5B2-8754E020B817}"/>
              </a:ext>
            </a:extLst>
          </p:cNvPr>
          <p:cNvSpPr>
            <a:spLocks noGrp="1"/>
          </p:cNvSpPr>
          <p:nvPr/>
        </p:nvSpPr>
        <p:spPr>
          <a:xfrm>
            <a:off x="380004" y="6323708"/>
            <a:ext cx="1087269" cy="428017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۸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44797" y="216287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000" b="1" dirty="0" smtClean="0">
                <a:solidFill>
                  <a:srgbClr val="173E5A"/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دقت متوسط و میانگین دقت متوسط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192433" y="1202283"/>
            <a:ext cx="3639452" cy="40350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fa-IR" sz="2700" b="1" dirty="0" smtClean="0">
                <a:solidFill>
                  <a:srgbClr val="197EA3"/>
                </a:solidFill>
                <a:cs typeface="B Zar" panose="00000400000000000000" pitchFamily="50" charset="-78"/>
              </a:rPr>
              <a:t>‏</a:t>
            </a:r>
            <a:r>
              <a:rPr lang="fa-IR" sz="2800" b="1" dirty="0">
                <a:solidFill>
                  <a:srgbClr val="197EA3"/>
                </a:solidFill>
                <a:cs typeface="B Zar" panose="00000400000000000000" pitchFamily="50" charset="-78"/>
              </a:rPr>
              <a:t>دقت متوسط برای هر رده</a:t>
            </a:r>
            <a:endParaRPr lang="en-US" sz="2800" b="1" dirty="0">
              <a:solidFill>
                <a:srgbClr val="197EA3"/>
              </a:solidFill>
              <a:cs typeface="B Zar" panose="00000400000000000000" pitchFamily="50" charset="-78"/>
            </a:endParaRPr>
          </a:p>
          <a:p>
            <a:pPr algn="ctr" rtl="1"/>
            <a:endParaRPr lang="en-US" sz="2700" b="1" dirty="0">
              <a:solidFill>
                <a:srgbClr val="197EA3"/>
              </a:solidFill>
              <a:cs typeface="B Zar" panose="00000400000000000000" pitchFamily="50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495227" y="1617234"/>
                <a:ext cx="3033865" cy="914169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nary>
                    </m:oMath>
                  </m:oMathPara>
                </a14:m>
                <a:endParaRPr lang="en-US" dirty="0">
                  <a:latin typeface="B Zar" panose="00000400000000000000" pitchFamily="50" charset="-78"/>
                  <a:ea typeface="MS Mincho" panose="02020609040205080304" pitchFamily="49" charset="-128"/>
                  <a:cs typeface="B Zar" panose="00000400000000000000" pitchFamily="50" charset="-78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227" y="1617234"/>
                <a:ext cx="3033865" cy="914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040045" y="1199989"/>
            <a:ext cx="2129094" cy="5051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fa-IR" sz="2700" b="1" dirty="0" smtClean="0">
                <a:solidFill>
                  <a:srgbClr val="219653"/>
                </a:solidFill>
                <a:cs typeface="B Zar" panose="00000400000000000000" pitchFamily="50" charset="-78"/>
              </a:rPr>
              <a:t>‏</a:t>
            </a:r>
            <a:r>
              <a:rPr lang="en-US" sz="2700" b="1" dirty="0" smtClean="0">
                <a:solidFill>
                  <a:srgbClr val="219653"/>
                </a:solidFill>
                <a:cs typeface="B Zar" panose="00000400000000000000" pitchFamily="50" charset="-78"/>
              </a:rPr>
              <a:t>mAP@0.5</a:t>
            </a:r>
            <a:endParaRPr lang="en-US" sz="2700" b="1" dirty="0">
              <a:solidFill>
                <a:srgbClr val="219653"/>
              </a:solidFill>
              <a:cs typeface="B Zar" panose="00000400000000000000" pitchFamily="50" charset="-78"/>
            </a:endParaRPr>
          </a:p>
        </p:txBody>
      </p:sp>
      <p:pic>
        <p:nvPicPr>
          <p:cNvPr id="15" name="Picture 14"/>
          <p:cNvPicPr>
            <a:picLocks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92024"/>
            <a:ext cx="539496" cy="630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52580" y="1753583"/>
                <a:ext cx="3862532" cy="902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𝑚𝐴𝑃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95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𝑚𝐴𝑃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𝐼𝑜𝑈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80" y="1753583"/>
                <a:ext cx="3862532" cy="9024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1119003" y="1197921"/>
            <a:ext cx="2129094" cy="5051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 rtl="1"/>
            <a:r>
              <a:rPr lang="en-US" sz="2700" b="1" dirty="0" smtClean="0">
                <a:solidFill>
                  <a:schemeClr val="accent2">
                    <a:lumMod val="75000"/>
                  </a:schemeClr>
                </a:solidFill>
                <a:cs typeface="B Zar" panose="00000400000000000000" pitchFamily="50" charset="-78"/>
              </a:rPr>
              <a:t>mAP@0.5:0.95</a:t>
            </a:r>
            <a:endParaRPr lang="en-US" sz="2700" b="1" dirty="0">
              <a:solidFill>
                <a:schemeClr val="accent2">
                  <a:lumMod val="75000"/>
                </a:schemeClr>
              </a:solidFill>
              <a:cs typeface="B Zar" panose="00000400000000000000" pitchFamily="50" charset="-78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094619" y="2792361"/>
            <a:ext cx="3835082" cy="34625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8094619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187051" y="2792361"/>
            <a:ext cx="3835082" cy="346252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271634" y="2792360"/>
            <a:ext cx="3823833" cy="34625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 rtl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en-US" dirty="0">
              <a:solidFill>
                <a:schemeClr val="tx1"/>
              </a:solidFill>
              <a:cs typeface="B Zar" panose="00000400000000000000" pitchFamily="50" charset="-78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187051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71635" y="1036235"/>
            <a:ext cx="3835082" cy="5218649"/>
          </a:xfrm>
          <a:prstGeom prst="rect">
            <a:avLst/>
          </a:prstGeom>
          <a:noFill/>
          <a:ln w="127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8135774" y="2977044"/>
            <a:ext cx="3633439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محاسبه </a:t>
            </a:r>
            <a:r>
              <a:rPr lang="fa-IR" sz="1900" dirty="0">
                <a:cs typeface="B Zar" panose="00000400000000000000" pitchFamily="50" charset="-78"/>
              </a:rPr>
              <a:t>جداگانه برای هر </a:t>
            </a:r>
            <a:r>
              <a:rPr lang="fa-IR" sz="1900" dirty="0" smtClean="0">
                <a:cs typeface="B Zar" panose="00000400000000000000" pitchFamily="50" charset="-78"/>
              </a:rPr>
              <a:t>رده</a:t>
            </a: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sz="1900" dirty="0" smtClean="0">
                <a:cs typeface="B Zar" panose="00000400000000000000" pitchFamily="50" charset="-78"/>
              </a:rPr>
              <a:t>بر </a:t>
            </a:r>
            <a:r>
              <a:rPr lang="fa-IR" sz="1900" dirty="0">
                <a:cs typeface="B Zar" panose="00000400000000000000" pitchFamily="50" charset="-78"/>
              </a:rPr>
              <a:t>پایه منحنی </a:t>
            </a:r>
            <a:r>
              <a:rPr lang="fa-IR" sz="1900" dirty="0" smtClean="0">
                <a:cs typeface="B Zar" panose="00000400000000000000" pitchFamily="50" charset="-78"/>
              </a:rPr>
              <a:t>دقت-فراخوانی</a:t>
            </a: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fa-IR" dirty="0" smtClean="0">
                <a:cs typeface="B Zar" panose="00000400000000000000" pitchFamily="50" charset="-78"/>
              </a:rPr>
              <a:t>تعریف:</a:t>
            </a:r>
            <a:r>
              <a:rPr lang="fa-IR" sz="1900" dirty="0" smtClean="0">
                <a:cs typeface="B Zar" panose="00000400000000000000" pitchFamily="50" charset="-78"/>
              </a:rPr>
              <a:t> مساحت زیر منحنی دقت-فراخوانی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fa-IR" sz="1900" dirty="0" smtClean="0">
                <a:cs typeface="B Zar" panose="00000400000000000000" pitchFamily="50" charset="-78"/>
              </a:rPr>
              <a:t> بیشتر = عملکرد بهتر</a:t>
            </a:r>
            <a:endParaRPr lang="en-US" sz="1900" dirty="0" smtClean="0">
              <a:cs typeface="B Zar" panose="00000400000000000000" pitchFamily="50" charset="-78"/>
            </a:endParaRPr>
          </a:p>
          <a:p>
            <a:pPr marL="342900" indent="-342900" algn="just" rtl="1">
              <a:spcBef>
                <a:spcPts val="1500"/>
              </a:spcBef>
              <a:spcAft>
                <a:spcPts val="1500"/>
              </a:spcAft>
              <a:buFont typeface="Wingdings" panose="05000000000000000000" pitchFamily="2" charset="2"/>
              <a:buChar char="q"/>
            </a:pPr>
            <a:endParaRPr lang="en-US" sz="1900" dirty="0">
              <a:cs typeface="B Zar" panose="00000400000000000000" pitchFamily="50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312202" y="2977044"/>
                <a:ext cx="3584780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a-IR" sz="1900" dirty="0" smtClean="0">
                    <a:cs typeface="B Zar" panose="00000400000000000000" pitchFamily="50" charset="-78"/>
                  </a:rPr>
                  <a:t>میانگین 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AP</a:t>
                </a:r>
                <a:r>
                  <a:rPr lang="fa-IR" sz="1900" dirty="0" smtClean="0">
                    <a:cs typeface="B Zar" panose="00000400000000000000" pitchFamily="50" charset="-78"/>
                  </a:rPr>
                  <a:t> همه رده‌ها در آستانه هم‌پوشانی 0.5</a:t>
                </a: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a-IR" sz="1900" dirty="0" smtClean="0">
                    <a:cs typeface="B Zar" panose="00000400000000000000" pitchFamily="50" charset="-78"/>
                  </a:rPr>
                  <a:t>پیش‌بینی صحیح: رده درست و آستانه هم‌پوشانی بیشتر از 0.5</a:t>
                </a: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mAP</m:t>
                    </m:r>
                    <m:r>
                      <a:rPr lang="en-US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fa-IR" sz="1900" dirty="0" smtClean="0">
                    <a:cs typeface="B Zar" panose="00000400000000000000" pitchFamily="50" charset="-78"/>
                  </a:rPr>
                  <a:t> بالاتر = عملکرد بهتر مدل</a:t>
                </a: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endParaRPr lang="en-US" sz="1900" dirty="0">
                  <a:cs typeface="B Zar" panose="00000400000000000000" pitchFamily="50" charset="-78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202" y="2977044"/>
                <a:ext cx="3584780" cy="2769989"/>
              </a:xfrm>
              <a:prstGeom prst="rect">
                <a:avLst/>
              </a:prstGeom>
              <a:blipFill>
                <a:blip r:embed="rId6"/>
                <a:stretch>
                  <a:fillRect l="-2721" t="-2198" r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02556" y="2977044"/>
                <a:ext cx="3561987" cy="3393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a-IR" sz="1900" dirty="0">
                    <a:cs typeface="B Zar" panose="00000400000000000000" pitchFamily="50" charset="-78"/>
                  </a:rPr>
                  <a:t>معیار سخت‌گیرانه‌تر برای کیفیت مکان‌یابی </a:t>
                </a:r>
                <a:r>
                  <a:rPr lang="fa-IR" sz="1900" dirty="0" smtClean="0">
                    <a:cs typeface="B Zar" panose="00000400000000000000" pitchFamily="50" charset="-78"/>
                  </a:rPr>
                  <a:t>کادرها</a:t>
                </a: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a-IR" sz="1900" dirty="0">
                    <a:cs typeface="B Zar" panose="00000400000000000000" pitchFamily="50" charset="-78"/>
                  </a:rPr>
                  <a:t>میانگین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</a:t>
                </a:r>
                <a:r>
                  <a:rPr lang="fa-IR" sz="1900" dirty="0">
                    <a:cs typeface="B Zar" panose="00000400000000000000" pitchFamily="50" charset="-78"/>
                  </a:rPr>
                  <a:t> </a:t>
                </a:r>
                <a:r>
                  <a:rPr lang="fa-IR" sz="1900" dirty="0" smtClean="0">
                    <a:cs typeface="B Zar" panose="00000400000000000000" pitchFamily="50" charset="-78"/>
                  </a:rPr>
                  <a:t>در </a:t>
                </a:r>
                <a:r>
                  <a:rPr lang="fa-IR" sz="1900" dirty="0">
                    <a:cs typeface="B Zar" panose="00000400000000000000" pitchFamily="50" charset="-78"/>
                  </a:rPr>
                  <a:t>۱۰ آستانه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IoU</a:t>
                </a:r>
                <a:endParaRPr lang="fa-I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r>
                  <a:rPr lang="fa-IR" sz="1900" dirty="0">
                    <a:cs typeface="B Zar" panose="00000400000000000000" pitchFamily="50" charset="-78"/>
                  </a:rPr>
                  <a:t>آستانه‌ها از 0.50 تا 0.95 با گام </a:t>
                </a:r>
                <a:r>
                  <a:rPr lang="fa-IR" sz="1900" dirty="0" smtClean="0">
                    <a:cs typeface="B Zar" panose="00000400000000000000" pitchFamily="50" charset="-78"/>
                  </a:rPr>
                  <a:t>0.05</a:t>
                </a: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>
                        <a:latin typeface="Cambria Math" panose="02040503050406030204" pitchFamily="18" charset="0"/>
                      </a:rPr>
                      <m:t>mAP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IoU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b="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a-IR" sz="1900" dirty="0" smtClean="0">
                    <a:cs typeface="B Zar" panose="00000400000000000000" pitchFamily="50" charset="-78"/>
                  </a:rPr>
                  <a:t>: </a:t>
                </a:r>
                <a:r>
                  <a:rPr lang="fa-IR" sz="1900" dirty="0">
                    <a:cs typeface="B Zar" panose="00000400000000000000" pitchFamily="50" charset="-78"/>
                  </a:rPr>
                  <a:t>عملکرد مدل در آستانه </a:t>
                </a:r>
                <a:r>
                  <a:rPr lang="en-US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IoU</a:t>
                </a:r>
                <a:r>
                  <a:rPr lang="fa-IR" sz="1900" dirty="0" smtClean="0">
                    <a:cs typeface="B Zar" panose="00000400000000000000" pitchFamily="50" charset="-78"/>
                  </a:rPr>
                  <a:t> شماره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endParaRPr lang="fa-IR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 rtl="1">
                  <a:spcBef>
                    <a:spcPts val="1200"/>
                  </a:spcBef>
                  <a:spcAft>
                    <a:spcPts val="1200"/>
                  </a:spcAft>
                  <a:buFont typeface="Wingdings" panose="05000000000000000000" pitchFamily="2" charset="2"/>
                  <a:buChar char="q"/>
                </a:pPr>
                <a:endParaRPr lang="en-US" sz="1900" dirty="0">
                  <a:cs typeface="B Zar" panose="00000400000000000000" pitchFamily="50" charset="-78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56" y="2977044"/>
                <a:ext cx="3561987" cy="3393750"/>
              </a:xfrm>
              <a:prstGeom prst="rect">
                <a:avLst/>
              </a:prstGeom>
              <a:blipFill>
                <a:blip r:embed="rId7"/>
                <a:stretch>
                  <a:fillRect l="-2740" t="-2154" r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682119" y="1753583"/>
                <a:ext cx="2821926" cy="875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AP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@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119" y="1753583"/>
                <a:ext cx="2821926" cy="8753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ارجاع فرمول‌ها"/>
          <p:cNvSpPr txBox="1"/>
          <p:nvPr/>
        </p:nvSpPr>
        <p:spPr>
          <a:xfrm>
            <a:off x="7937014" y="6388216"/>
            <a:ext cx="3592394" cy="5539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rtl="1"/>
            <a:r>
              <a:rPr lang="fa-IR" dirty="0" smtClean="0">
                <a:solidFill>
                  <a:srgbClr val="263D4F"/>
                </a:solidFill>
                <a:latin typeface="B Zar"/>
                <a:ea typeface="B Zar"/>
                <a:cs typeface="B Zar" panose="00000400000000000000" pitchFamily="50" charset="-78"/>
              </a:rPr>
              <a:t>مرجع [9]: روابط دقت متوسط و میانگین دقت متوسط</a:t>
            </a:r>
            <a:endParaRPr lang="fa-IR" dirty="0" smtClean="0">
              <a:solidFill>
                <a:srgbClr val="263D4F"/>
              </a:solidFill>
              <a:latin typeface="Times New Roman" panose="02020603050405020304" pitchFamily="18" charset="0"/>
              <a:ea typeface="B Zar"/>
              <a:cs typeface="B Zar" panose="00000400000000000000" pitchFamily="50" charset="-78"/>
            </a:endParaRPr>
          </a:p>
          <a:p>
            <a:pPr algn="r" rtl="1"/>
            <a:endParaRPr lang="fa-IR" dirty="0">
              <a:solidFill>
                <a:srgbClr val="263D4F"/>
              </a:solidFill>
              <a:latin typeface="B Zar"/>
              <a:ea typeface="B Zar"/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477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32" grpId="0"/>
      <p:bldP spid="33" grpId="0"/>
      <p:bldP spid="43" grpId="0" animBg="1"/>
      <p:bldP spid="42" grpId="0" animBg="1"/>
      <p:bldP spid="44" grpId="0" animBg="1"/>
      <p:bldP spid="45" grpId="0" animBg="1"/>
      <p:bldP spid="41" grpId="0" animBg="1"/>
      <p:bldP spid="40" grpId="0" animBg="1"/>
      <p:bldP spid="50" grpId="0"/>
      <p:bldP spid="53" grpId="0"/>
      <p:bldP spid="58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EEFCF81-541D-428E-824E-7B2B27AB9205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۹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0127" y="1092200"/>
            <a:ext cx="8271747" cy="43036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معماری </a:t>
            </a:r>
            <a:r>
              <a:rPr lang="en-US" altLang="fa-IR" sz="3000" b="1" dirty="0" smtClean="0">
                <a:solidFill>
                  <a:srgbClr val="173E5A"/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YOLOv11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3222" y="5733196"/>
            <a:ext cx="7885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شکل 1-2: </a:t>
            </a:r>
            <a:r>
              <a:rPr lang="ar-SA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ساختار </a:t>
            </a:r>
            <a:r>
              <a:rPr lang="ar-SA" b="1" dirty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کلی </a:t>
            </a:r>
            <a:r>
              <a:rPr lang="ar-SA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معماری</a:t>
            </a:r>
            <a:r>
              <a:rPr lang="fa-IR" b="1" dirty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 </a:t>
            </a:r>
            <a:r>
              <a:rPr lang="en-US" sz="1700" b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YOLOv11</a:t>
            </a:r>
            <a:r>
              <a:rPr lang="fa-IR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 و </a:t>
            </a:r>
            <a:r>
              <a:rPr lang="fa-IR" b="1" dirty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جایگاه بلوک‌ها در ستون فقرات، گردن و </a:t>
            </a:r>
            <a:r>
              <a:rPr lang="fa-IR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سر </a:t>
            </a:r>
            <a:r>
              <a:rPr lang="ar-SA" dirty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[</a:t>
            </a:r>
            <a:r>
              <a:rPr lang="ar-SA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۵]</a:t>
            </a:r>
            <a:r>
              <a:rPr lang="fa-IR" b="1" dirty="0" smtClean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 </a:t>
            </a:r>
            <a:endParaRPr lang="en-US" dirty="0">
              <a:solidFill>
                <a:schemeClr val="bg2">
                  <a:lumMod val="25000"/>
                </a:schemeClr>
              </a:solidFill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237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1057839" cy="190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1400"/>
              </a:spcAft>
            </a:pPr>
            <a:r>
              <a:rPr lang="fa-IR" sz="2600" b="1" dirty="0">
                <a:solidFill>
                  <a:srgbClr val="216BA5"/>
                </a:solidFill>
                <a:cs typeface="B Zar"/>
              </a:rPr>
              <a:t>بخش </a:t>
            </a:r>
            <a:r>
              <a:rPr lang="fa-IR" sz="2600" b="1" dirty="0" smtClean="0">
                <a:solidFill>
                  <a:srgbClr val="216BA5"/>
                </a:solidFill>
                <a:cs typeface="B Zar"/>
              </a:rPr>
              <a:t>2</a:t>
            </a:r>
            <a:endParaRPr lang="fa-IR" sz="2600" b="1" dirty="0">
              <a:solidFill>
                <a:srgbClr val="216BA5"/>
              </a:solidFill>
              <a:cs typeface="B Zar"/>
            </a:endParaRPr>
          </a:p>
          <a:p>
            <a:pPr algn="ctr" rtl="1">
              <a:spcAft>
                <a:spcPts val="1200"/>
              </a:spcAft>
            </a:pPr>
            <a:r>
              <a:rPr lang="fa-IR" sz="4600" b="1" dirty="0" smtClean="0">
                <a:solidFill>
                  <a:srgbClr val="1B4F72"/>
                </a:solidFill>
                <a:cs typeface="B Zar"/>
              </a:rPr>
              <a:t>رفع چالش‌های مجموعه داده</a:t>
            </a:r>
          </a:p>
          <a:p>
            <a:pPr algn="ctr" rtl="1">
              <a:spcAft>
                <a:spcPts val="1200"/>
              </a:spcAft>
            </a:pPr>
            <a:r>
              <a:rPr lang="fa-IR" sz="2400" dirty="0" smtClean="0">
                <a:solidFill>
                  <a:srgbClr val="4A5A66"/>
                </a:solidFill>
                <a:cs typeface="B Zar"/>
              </a:rPr>
              <a:t>حذف تصاویر معیوب، حل مشکل نشت اطلاعات و توزیع مجدد داده</a:t>
            </a:r>
            <a:endParaRPr lang="fa-IR" sz="2400" b="0" dirty="0">
              <a:solidFill>
                <a:srgbClr val="4A5A66"/>
              </a:solidFill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95596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3360017" y="3393781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2162214" y="3393781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E79D1-1928-43EA-8A78-EF64D0831943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۱۱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968883" y="1197949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7ED14A-D093-439D-80A3-AD7084803ED8}"/>
              </a:ext>
            </a:extLst>
          </p:cNvPr>
          <p:cNvSpPr>
            <a:spLocks noGrp="1"/>
          </p:cNvSpPr>
          <p:nvPr/>
        </p:nvSpPr>
        <p:spPr>
          <a:xfrm>
            <a:off x="997458" y="1245575"/>
            <a:ext cx="7048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17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20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C2F371-B87F-4093-873C-748D9D134A64}"/>
              </a:ext>
            </a:extLst>
          </p:cNvPr>
          <p:cNvSpPr>
            <a:spLocks noGrp="1"/>
          </p:cNvSpPr>
          <p:nvPr/>
        </p:nvSpPr>
        <p:spPr>
          <a:xfrm>
            <a:off x="997458" y="1559900"/>
            <a:ext cx="7048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1600" b="1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endParaRPr lang="fa-IR" altLang="fa-IR" sz="2000" b="1" dirty="0">
              <a:solidFill>
                <a:srgbClr val="17232C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A6DA3F-E5A5-4B5E-82D4-7A1F6513A29E}"/>
              </a:ext>
            </a:extLst>
          </p:cNvPr>
          <p:cNvSpPr>
            <a:spLocks noGrp="1"/>
          </p:cNvSpPr>
          <p:nvPr/>
        </p:nvSpPr>
        <p:spPr>
          <a:xfrm>
            <a:off x="1826133" y="1245575"/>
            <a:ext cx="70485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17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20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BFA218A-C286-4FE6-A673-BB926047EB1A}"/>
              </a:ext>
            </a:extLst>
          </p:cNvPr>
          <p:cNvSpPr>
            <a:spLocks noGrp="1"/>
          </p:cNvSpPr>
          <p:nvPr/>
        </p:nvSpPr>
        <p:spPr>
          <a:xfrm>
            <a:off x="7655435" y="4429953"/>
            <a:ext cx="3489450" cy="1105278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just" rtl="1">
              <a:lnSpc>
                <a:spcPct val="150000"/>
              </a:lnSpc>
              <a:defRPr sz="2100" b="1">
                <a:solidFill>
                  <a:srgbClr val="8B3A32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1" dirty="0">
                <a:solidFill>
                  <a:schemeClr val="accent2">
                    <a:lumMod val="75000"/>
                  </a:schemeClr>
                </a:solidFill>
                <a:latin typeface="B Zar"/>
                <a:ea typeface="B Zar"/>
                <a:cs typeface="B Zar"/>
              </a:rPr>
              <a:t>این ترتیب فقط یک نمونه است؛ الگوی تقسیم در ویدیوهای مختلف </a:t>
            </a:r>
            <a:r>
              <a:rPr lang="fa-IR" altLang="fa-IR" sz="2100" b="1" dirty="0" smtClean="0">
                <a:solidFill>
                  <a:schemeClr val="accent2">
                    <a:lumMod val="75000"/>
                  </a:schemeClr>
                </a:solidFill>
                <a:latin typeface="B Zar"/>
                <a:ea typeface="B Zar"/>
                <a:cs typeface="B Zar"/>
              </a:rPr>
              <a:t>یکسان نیست.</a:t>
            </a:r>
            <a:endParaRPr lang="fa-IR" altLang="fa-IR" sz="2100" b="1" dirty="0">
              <a:solidFill>
                <a:schemeClr val="accent2">
                  <a:lumMod val="75000"/>
                </a:schemeClr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25D88DE-CC15-4413-AC0B-3DF6BF5BA3C4}"/>
              </a:ext>
            </a:extLst>
          </p:cNvPr>
          <p:cNvSpPr>
            <a:spLocks noGrp="1"/>
          </p:cNvSpPr>
          <p:nvPr/>
        </p:nvSpPr>
        <p:spPr>
          <a:xfrm>
            <a:off x="10334625" y="58102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Autofit/>
          </a:bodyPr>
          <a:lstStyle/>
          <a:p>
            <a:pPr algn="r">
              <a:defRPr sz="1900" b="0">
                <a:solidFill>
                  <a:srgbClr val="52626E"/>
                </a:solidFill>
                <a:latin typeface="Times New Roman"/>
                <a:ea typeface="Times New Roman"/>
                <a:cs typeface="Times New Roman"/>
              </a:defRPr>
            </a:pPr>
            <a:endParaRPr lang="en-US" altLang="fa-IR" sz="1900" b="0" dirty="0">
              <a:solidFill>
                <a:srgbClr val="52626E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چالش‌ها و مشکلات مجموعه‌داده </a:t>
            </a:r>
            <a:r>
              <a:rPr lang="en-US" altLang="fa-IR" sz="3000" b="1" dirty="0" smtClean="0">
                <a:solidFill>
                  <a:srgbClr val="173E5A"/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IADD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4910328" y="1563623"/>
            <a:ext cx="6373368" cy="278892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algn="r" rtl="1">
              <a:lnSpc>
                <a:spcPct val="150000"/>
              </a:lnSpc>
              <a:spcAft>
                <a:spcPts val="200"/>
              </a:spcAft>
            </a:pPr>
            <a:r>
              <a:rPr lang="fa-IR" sz="2000" b="1" dirty="0" smtClean="0">
                <a:solidFill>
                  <a:srgbClr val="222222"/>
                </a:solidFill>
                <a:cs typeface="B Zar" panose="00000400000000000000" pitchFamily="50" charset="-78"/>
              </a:rPr>
              <a:t>۱. نشت داده:</a:t>
            </a:r>
            <a:r>
              <a:rPr lang="fa-IR" sz="2000" dirty="0" smtClean="0">
                <a:solidFill>
                  <a:srgbClr val="222222"/>
                </a:solidFill>
                <a:cs typeface="B Zar" panose="00000400000000000000" pitchFamily="50" charset="-78"/>
              </a:rPr>
              <a:t> فریم‌های یک ویدیو در چند بخش [۲]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</a:pPr>
            <a:r>
              <a:rPr lang="fa-IR" sz="2000" b="1" dirty="0" smtClean="0">
                <a:solidFill>
                  <a:srgbClr val="222222"/>
                </a:solidFill>
                <a:cs typeface="B Zar" panose="00000400000000000000" pitchFamily="50" charset="-78"/>
              </a:rPr>
              <a:t>۲. ویدیوهای تکراری:</a:t>
            </a:r>
            <a:r>
              <a:rPr lang="fa-IR" sz="2000" dirty="0" smtClean="0">
                <a:solidFill>
                  <a:srgbClr val="222222"/>
                </a:solidFill>
                <a:cs typeface="B Zar" panose="00000400000000000000" pitchFamily="50" charset="-78"/>
              </a:rPr>
              <a:t> محتوای یکسان با دو شناسه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</a:pPr>
            <a:r>
              <a:rPr lang="fa-IR" sz="2000" b="1" dirty="0" smtClean="0">
                <a:solidFill>
                  <a:srgbClr val="222222"/>
                </a:solidFill>
                <a:cs typeface="B Zar" panose="00000400000000000000" pitchFamily="50" charset="-78"/>
              </a:rPr>
              <a:t>۳. برچسب معیوب:</a:t>
            </a:r>
            <a:r>
              <a:rPr lang="fa-IR" sz="2000" dirty="0" smtClean="0">
                <a:solidFill>
                  <a:srgbClr val="222222"/>
                </a:solidFill>
                <a:cs typeface="B Zar" panose="00000400000000000000" pitchFamily="50" charset="-78"/>
              </a:rPr>
              <a:t> کادر ناقص، جابه‌جا یا غایب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</a:pPr>
            <a:r>
              <a:rPr lang="fa-IR" sz="2000" b="1" dirty="0" smtClean="0">
                <a:solidFill>
                  <a:srgbClr val="222222"/>
                </a:solidFill>
                <a:cs typeface="B Zar" panose="00000400000000000000" pitchFamily="50" charset="-78"/>
              </a:rPr>
              <a:t>۴. ناهم‌ترازی:</a:t>
            </a:r>
            <a:r>
              <a:rPr lang="fa-IR" sz="2000" dirty="0" smtClean="0">
                <a:solidFill>
                  <a:srgbClr val="222222"/>
                </a:solidFill>
                <a:cs typeface="B Zar" panose="00000400000000000000" pitchFamily="50" charset="-78"/>
              </a:rPr>
              <a:t> تفاوت دشواری دو بخش ارزیابی</a:t>
            </a:r>
          </a:p>
          <a:p>
            <a:pPr algn="r" rtl="1">
              <a:lnSpc>
                <a:spcPct val="150000"/>
              </a:lnSpc>
              <a:spcAft>
                <a:spcPts val="200"/>
              </a:spcAft>
            </a:pPr>
            <a:r>
              <a:rPr lang="fa-IR" sz="2000" b="1" dirty="0" smtClean="0">
                <a:solidFill>
                  <a:srgbClr val="222222"/>
                </a:solidFill>
                <a:cs typeface="B Zar" panose="00000400000000000000" pitchFamily="50" charset="-78"/>
              </a:rPr>
              <a:t>۵. آزمون بی‌برچسب:</a:t>
            </a:r>
            <a:r>
              <a:rPr lang="fa-IR" sz="2000" dirty="0" smtClean="0">
                <a:solidFill>
                  <a:srgbClr val="222222"/>
                </a:solidFill>
                <a:cs typeface="B Zar" panose="00000400000000000000" pitchFamily="50" charset="-78"/>
              </a:rPr>
              <a:t> ساخت آزمون برچسب‌دار</a:t>
            </a:r>
            <a:endParaRPr lang="fa-IR" sz="2000" dirty="0">
              <a:solidFill>
                <a:srgbClr val="222222"/>
              </a:solidFill>
              <a:cs typeface="B Zar" panose="00000400000000000000" pitchFamily="50" charset="-78"/>
            </a:endParaRP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2164450" y="1197949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3360017" y="1196478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968883" y="2295865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2164450" y="2295864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3360017" y="2294721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968883" y="3393781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964963" y="4491697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2162214" y="4491696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8110BF90-2EC4-4F78-9888-36D4FC58C7F4}"/>
              </a:ext>
            </a:extLst>
          </p:cNvPr>
          <p:cNvSpPr>
            <a:spLocks noGrp="1"/>
          </p:cNvSpPr>
          <p:nvPr/>
        </p:nvSpPr>
        <p:spPr>
          <a:xfrm>
            <a:off x="3360017" y="4491695"/>
            <a:ext cx="1071742" cy="981795"/>
          </a:xfrm>
          <a:prstGeom prst="roundRect">
            <a:avLst>
              <a:gd name="adj" fmla="val 10000"/>
            </a:avLst>
          </a:prstGeom>
          <a:solidFill>
            <a:schemeClr val="accent6">
              <a:lumMod val="40000"/>
              <a:lumOff val="60000"/>
            </a:schemeClr>
          </a:solidFill>
          <a:ln w="1143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45717" y="1379598"/>
            <a:ext cx="695704" cy="61555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rtl="1"/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0</a:t>
            </a:r>
          </a:p>
          <a:p>
            <a:pPr algn="ctr" rtl="1"/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229046" y="1302311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1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84" name="TextBox 83"/>
          <p:cNvSpPr txBox="1"/>
          <p:nvPr/>
        </p:nvSpPr>
        <p:spPr>
          <a:xfrm>
            <a:off x="3487644" y="1308476"/>
            <a:ext cx="8531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2</a:t>
            </a:r>
            <a:endParaRPr lang="fa-IR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آزمون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82574" y="5707737"/>
            <a:ext cx="4431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altLang="fa-IR" b="1" dirty="0">
                <a:solidFill>
                  <a:schemeClr val="bg2">
                    <a:lumMod val="25000"/>
                  </a:schemeClr>
                </a:solidFill>
                <a:latin typeface="B Zar"/>
                <a:ea typeface="B Zar"/>
                <a:cs typeface="B Zar"/>
              </a:rPr>
              <a:t>نمونه واقعی از پراکندگی فریم‌های </a:t>
            </a:r>
            <a:r>
              <a:rPr lang="en-US" altLang="fa-IR" b="1" dirty="0" smtClean="0">
                <a:solidFill>
                  <a:schemeClr val="bg2">
                    <a:lumMod val="25000"/>
                  </a:schemeClr>
                </a:solidFill>
                <a:latin typeface="Times New Roman"/>
                <a:ea typeface="Times New Roman"/>
                <a:cs typeface="Times New Roman"/>
              </a:rPr>
              <a:t>Record001_D</a:t>
            </a:r>
            <a:endParaRPr lang="en-US" altLang="fa-IR" b="1" dirty="0">
              <a:solidFill>
                <a:schemeClr val="bg2">
                  <a:lumMod val="2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18921" y="2409112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3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0" name="TextBox 89"/>
          <p:cNvSpPr txBox="1"/>
          <p:nvPr/>
        </p:nvSpPr>
        <p:spPr>
          <a:xfrm>
            <a:off x="2260781" y="2359877"/>
            <a:ext cx="8531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4</a:t>
            </a:r>
            <a:endParaRPr lang="fa-IR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آزمون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1" name="TextBox 90"/>
          <p:cNvSpPr txBox="1"/>
          <p:nvPr/>
        </p:nvSpPr>
        <p:spPr>
          <a:xfrm>
            <a:off x="3469328" y="2350643"/>
            <a:ext cx="8531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5</a:t>
            </a:r>
            <a:endParaRPr lang="fa-IR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 smtClean="0">
                <a:solidFill>
                  <a:schemeClr val="accent2">
                    <a:lumMod val="50000"/>
                  </a:schemeClr>
                </a:solidFill>
                <a:cs typeface="B Zar" panose="00000400000000000000" pitchFamily="50" charset="-78"/>
              </a:rPr>
              <a:t>آزمون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2" name="TextBox 91"/>
          <p:cNvSpPr txBox="1"/>
          <p:nvPr/>
        </p:nvSpPr>
        <p:spPr>
          <a:xfrm>
            <a:off x="1038412" y="3490538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6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3" name="TextBox 92"/>
          <p:cNvSpPr txBox="1"/>
          <p:nvPr/>
        </p:nvSpPr>
        <p:spPr>
          <a:xfrm>
            <a:off x="2206524" y="3458528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7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4" name="TextBox 93"/>
          <p:cNvSpPr txBox="1"/>
          <p:nvPr/>
        </p:nvSpPr>
        <p:spPr>
          <a:xfrm>
            <a:off x="3426848" y="3484505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8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5" name="TextBox 94"/>
          <p:cNvSpPr txBox="1"/>
          <p:nvPr/>
        </p:nvSpPr>
        <p:spPr>
          <a:xfrm>
            <a:off x="1031520" y="4571964"/>
            <a:ext cx="938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9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6" name="TextBox 95"/>
          <p:cNvSpPr txBox="1"/>
          <p:nvPr/>
        </p:nvSpPr>
        <p:spPr>
          <a:xfrm>
            <a:off x="2201330" y="4570344"/>
            <a:ext cx="948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10</a:t>
            </a:r>
            <a:endParaRPr lang="fa-IR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sz="2000" b="1" dirty="0">
                <a:solidFill>
                  <a:schemeClr val="accent4">
                    <a:lumMod val="50000"/>
                  </a:schemeClr>
                </a:solidFill>
                <a:cs typeface="B Zar" panose="00000400000000000000" pitchFamily="50" charset="-78"/>
              </a:rPr>
              <a:t>آموزش</a:t>
            </a:r>
            <a:endParaRPr lang="en-US" sz="2000" b="1" dirty="0">
              <a:solidFill>
                <a:schemeClr val="accent4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  <p:sp>
        <p:nvSpPr>
          <p:cNvPr id="97" name="TextBox 96"/>
          <p:cNvSpPr txBox="1"/>
          <p:nvPr/>
        </p:nvSpPr>
        <p:spPr>
          <a:xfrm>
            <a:off x="3289055" y="4570343"/>
            <a:ext cx="121366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000" b="1" dirty="0">
                <a:solidFill>
                  <a:schemeClr val="accent6">
                    <a:lumMod val="50000"/>
                  </a:schemeClr>
                </a:solidFill>
                <a:cs typeface="B Zar" panose="00000400000000000000" pitchFamily="50" charset="-78"/>
              </a:rPr>
              <a:t>فریم </a:t>
            </a:r>
            <a:r>
              <a:rPr lang="fa-IR" sz="2000" b="1" dirty="0" smtClean="0">
                <a:solidFill>
                  <a:schemeClr val="accent6">
                    <a:lumMod val="50000"/>
                  </a:schemeClr>
                </a:solidFill>
                <a:cs typeface="B Zar" panose="00000400000000000000" pitchFamily="50" charset="-78"/>
              </a:rPr>
              <a:t>11</a:t>
            </a:r>
            <a:endParaRPr lang="fa-IR" sz="2000" b="1" dirty="0">
              <a:solidFill>
                <a:schemeClr val="accent6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pPr algn="ctr" rtl="1"/>
            <a:r>
              <a:rPr lang="fa-IR" b="1" dirty="0" smtClean="0">
                <a:solidFill>
                  <a:schemeClr val="accent6">
                    <a:lumMod val="50000"/>
                  </a:schemeClr>
                </a:solidFill>
                <a:cs typeface="B Zar" panose="00000400000000000000" pitchFamily="50" charset="-78"/>
              </a:rPr>
              <a:t>اعتبارسنجی</a:t>
            </a:r>
            <a:endParaRPr lang="en-US" b="1" dirty="0">
              <a:solidFill>
                <a:schemeClr val="accent6">
                  <a:lumMod val="50000"/>
                </a:schemeClr>
              </a:solidFill>
              <a:cs typeface="B Zar" panose="00000400000000000000" pitchFamily="50" charset="-78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1934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02265C-4CBB-45DC-98BB-A76162D949BB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۱۲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2897" y="1184603"/>
            <a:ext cx="8826207" cy="4352925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مقایسه نتایج آموزش‌ها 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26" y="5798160"/>
            <a:ext cx="12123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fa-IR" b="1" dirty="0">
                <a:solidFill>
                  <a:schemeClr val="bg2">
                    <a:lumMod val="25000"/>
                  </a:schemeClr>
                </a:solidFill>
                <a:latin typeface="B Zar"/>
                <a:ea typeface="B Zar"/>
                <a:cs typeface="B Zar"/>
              </a:rPr>
              <a:t>نتیجه </a:t>
            </a:r>
            <a:r>
              <a:rPr lang="fa-IR" altLang="fa-IR" b="1" dirty="0" smtClean="0">
                <a:solidFill>
                  <a:schemeClr val="bg2">
                    <a:lumMod val="25000"/>
                  </a:schemeClr>
                </a:solidFill>
                <a:latin typeface="B Zar"/>
                <a:ea typeface="B Zar"/>
                <a:cs typeface="B Zar"/>
              </a:rPr>
              <a:t>بهترین دوره در هر یک از آموزش‌های انجام شده براساس معیار </a:t>
            </a:r>
            <a:r>
              <a:rPr lang="en-US" altLang="fa-IR" sz="1700" b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mAP@0.5</a:t>
            </a:r>
            <a:r>
              <a:rPr lang="fa-IR" altLang="fa-IR" b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 </a:t>
            </a:r>
            <a:endParaRPr lang="fa-IR" altLang="fa-IR" b="1" dirty="0">
              <a:solidFill>
                <a:schemeClr val="bg2">
                  <a:lumMod val="25000"/>
                </a:schemeClr>
              </a:solidFill>
              <a:latin typeface="B Zar"/>
              <a:ea typeface="B Zar"/>
              <a:cs typeface="B Zar"/>
            </a:endParaRPr>
          </a:p>
          <a:p>
            <a:pPr algn="ctr" rtl="1"/>
            <a:endParaRPr lang="en-US" dirty="0"/>
          </a:p>
        </p:txBody>
      </p:sp>
      <p:sp>
        <p:nvSpPr>
          <p:cNvPr id="5" name="Oval 4"/>
          <p:cNvSpPr/>
          <p:nvPr/>
        </p:nvSpPr>
        <p:spPr>
          <a:xfrm>
            <a:off x="7434469" y="4691270"/>
            <a:ext cx="745435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urved Connector 7"/>
          <p:cNvCxnSpPr>
            <a:stCxn id="5" idx="6"/>
          </p:cNvCxnSpPr>
          <p:nvPr/>
        </p:nvCxnSpPr>
        <p:spPr>
          <a:xfrm flipH="1" flipV="1">
            <a:off x="7400684" y="2116522"/>
            <a:ext cx="779220" cy="2803348"/>
          </a:xfrm>
          <a:prstGeom prst="curvedConnector4">
            <a:avLst>
              <a:gd name="adj1" fmla="val -26786"/>
              <a:gd name="adj2" fmla="val 71095"/>
            </a:avLst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56543" y="1347081"/>
            <a:ext cx="16882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200" dirty="0" smtClean="0">
                <a:solidFill>
                  <a:srgbClr val="FF0000"/>
                </a:solidFill>
                <a:cs typeface="B Zar" panose="00000400000000000000" pitchFamily="50" charset="-78"/>
              </a:rPr>
              <a:t>برچسب معیوب </a:t>
            </a:r>
          </a:p>
          <a:p>
            <a:pPr algn="ctr" rtl="1"/>
            <a:r>
              <a:rPr lang="fa-IR" sz="2200" dirty="0" smtClean="0">
                <a:solidFill>
                  <a:srgbClr val="FF0000"/>
                </a:solidFill>
                <a:cs typeface="B Zar" panose="00000400000000000000" pitchFamily="50" charset="-78"/>
              </a:rPr>
              <a:t>ناهم‌ترازی ارزیابی</a:t>
            </a:r>
            <a:endParaRPr lang="en-US" sz="2200" dirty="0">
              <a:solidFill>
                <a:srgbClr val="FF0000"/>
              </a:solidFill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8776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D743CC-3EDE-4CCA-93DC-5C235CB837D6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۱۳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579004"/>
            <a:ext cx="11144250" cy="40809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3FC987-5FCD-4094-86C1-DD664D5B5003}"/>
              </a:ext>
            </a:extLst>
          </p:cNvPr>
          <p:cNvSpPr>
            <a:spLocks noGrp="1"/>
          </p:cNvSpPr>
          <p:nvPr/>
        </p:nvSpPr>
        <p:spPr>
          <a:xfrm>
            <a:off x="1619250" y="5319924"/>
            <a:ext cx="89535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/>
            <a:r>
              <a:rPr lang="ar-SA" b="1" dirty="0">
                <a:solidFill>
                  <a:schemeClr val="bg2">
                    <a:lumMod val="25000"/>
                  </a:schemeClr>
                </a:solidFill>
                <a:cs typeface="B Zar" panose="00000400000000000000" pitchFamily="50" charset="-78"/>
              </a:rPr>
              <a:t>شکل ۲‏-‏۱: مراحل ساخت نسخه نهایی مجموعه‌داده از داده خام (بخش ۲‏-‏۲‏-‏۳)</a:t>
            </a:r>
            <a:endParaRPr lang="en-US" b="1" dirty="0">
              <a:solidFill>
                <a:schemeClr val="bg2">
                  <a:lumMod val="25000"/>
                </a:schemeClr>
              </a:solidFill>
              <a:cs typeface="B Zar" panose="00000400000000000000" pitchFamily="50" charset="-7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فرایند ساخت مجموعه‌داده نهایی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647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AE0B63-DAFE-4123-9082-5D4AF06D01EB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۱۴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1148" y="3380904"/>
            <a:ext cx="4301604" cy="2297962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Times New Roman" panose="02020603050405020304" pitchFamily="18" charset="0"/>
                <a:ea typeface="B Zar"/>
                <a:cs typeface="B Zar"/>
              </a:rPr>
              <a:t>بررسی ویدیوهای مشکوک</a:t>
            </a:r>
            <a:endParaRPr lang="fa-IR" altLang="fa-IR" sz="3000" b="1" dirty="0">
              <a:solidFill>
                <a:srgbClr val="173E5A"/>
              </a:solidFill>
              <a:latin typeface="Times New Roman" panose="02020603050405020304" pitchFamily="18" charset="0"/>
              <a:ea typeface="B Zar"/>
              <a:cs typeface="Times New Roman" panose="02020603050405020304" pitchFamily="18" charset="0"/>
            </a:endParaRPr>
          </a:p>
        </p:txBody>
      </p:sp>
      <p:sp>
        <p:nvSpPr>
          <p:cNvPr id="2" name="غربال اولیه"/>
          <p:cNvSpPr txBox="1"/>
          <p:nvPr/>
        </p:nvSpPr>
        <p:spPr>
          <a:xfrm>
            <a:off x="5778500" y="1234768"/>
            <a:ext cx="5651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a-IR" sz="2300" b="1" dirty="0" smtClean="0">
                <a:solidFill>
                  <a:srgbClr val="1B3B55"/>
                </a:solidFill>
                <a:cs typeface="B Zar" panose="00000400000000000000" pitchFamily="50" charset="-78"/>
              </a:rPr>
              <a:t>غربال اولیه</a:t>
            </a:r>
            <a:endParaRPr lang="en-US" sz="2300" b="1" dirty="0">
              <a:solidFill>
                <a:srgbClr val="1B3B55"/>
              </a:solidFill>
              <a:cs typeface="B Zar" panose="00000400000000000000" pitchFamily="50" charset="-78"/>
            </a:endParaRPr>
          </a:p>
        </p:txBody>
      </p:sp>
      <p:sp>
        <p:nvSpPr>
          <p:cNvPr id="3" name="آمار غربال"/>
          <p:cNvSpPr txBox="1"/>
          <p:nvPr/>
        </p:nvSpPr>
        <p:spPr>
          <a:xfrm>
            <a:off x="5778500" y="1714500"/>
            <a:ext cx="534178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200" dirty="0" smtClean="0">
                <a:solidFill>
                  <a:srgbClr val="191F26"/>
                </a:solidFill>
                <a:cs typeface="B Zar" panose="00000400000000000000" pitchFamily="50" charset="-78"/>
              </a:rPr>
              <a:t>۱۳ ویدیو با میانگین دقت متوسط کمتر از ۰٫۶۳</a:t>
            </a:r>
            <a:endParaRPr lang="en-US" sz="2200" dirty="0">
              <a:solidFill>
                <a:srgbClr val="191F26"/>
              </a:solidFill>
              <a:cs typeface="B Zar" panose="00000400000000000000" pitchFamily="50" charset="-78"/>
            </a:endParaRPr>
          </a:p>
        </p:txBody>
      </p:sp>
      <p:sp>
        <p:nvSpPr>
          <p:cNvPr id="5" name="نتیجه بازبینی"/>
          <p:cNvSpPr txBox="1"/>
          <p:nvPr/>
        </p:nvSpPr>
        <p:spPr>
          <a:xfrm>
            <a:off x="5778500" y="2352368"/>
            <a:ext cx="5651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a-IR" sz="2300" b="1" dirty="0" smtClean="0">
                <a:solidFill>
                  <a:srgbClr val="1B3B55"/>
                </a:solidFill>
                <a:cs typeface="B Zar" panose="00000400000000000000" pitchFamily="50" charset="-78"/>
              </a:rPr>
              <a:t>بازبینی برچسب‌ها</a:t>
            </a:r>
            <a:endParaRPr lang="en-US" sz="2300" b="1" dirty="0">
              <a:solidFill>
                <a:srgbClr val="1B3B55"/>
              </a:solidFill>
              <a:cs typeface="B Zar" panose="00000400000000000000" pitchFamily="50" charset="-78"/>
            </a:endParaRPr>
          </a:p>
        </p:txBody>
      </p:sp>
      <p:sp>
        <p:nvSpPr>
          <p:cNvPr id="6" name="ویدیو معیوب یک"/>
          <p:cNvSpPr txBox="1"/>
          <p:nvPr/>
        </p:nvSpPr>
        <p:spPr>
          <a:xfrm>
            <a:off x="5778500" y="2857500"/>
            <a:ext cx="534178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100" b="1" dirty="0" smtClean="0">
                <a:solidFill>
                  <a:srgbClr val="191F26"/>
                </a:solidFill>
                <a:cs typeface="B Zar" panose="00000400000000000000" pitchFamily="50" charset="-78"/>
              </a:rPr>
              <a:t>ویدیوی ۴۲۶: </a:t>
            </a:r>
            <a:r>
              <a:rPr lang="fa-IR" sz="2200" dirty="0" smtClean="0">
                <a:solidFill>
                  <a:srgbClr val="191F26"/>
                </a:solidFill>
                <a:cs typeface="B Zar" panose="00000400000000000000" pitchFamily="50" charset="-78"/>
              </a:rPr>
              <a:t>برچسب نادرست؛ امتیاز ۰٫۰۰۷</a:t>
            </a:r>
            <a:endParaRPr lang="en-US" sz="2200" dirty="0">
              <a:solidFill>
                <a:srgbClr val="191F26"/>
              </a:solidFill>
              <a:cs typeface="B Zar" panose="00000400000000000000" pitchFamily="50" charset="-78"/>
            </a:endParaRPr>
          </a:p>
        </p:txBody>
      </p:sp>
      <p:sp>
        <p:nvSpPr>
          <p:cNvPr id="8" name="ویدیو معیوب دو"/>
          <p:cNvSpPr txBox="1"/>
          <p:nvPr/>
        </p:nvSpPr>
        <p:spPr>
          <a:xfrm>
            <a:off x="5778500" y="3302000"/>
            <a:ext cx="534178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100" b="1" dirty="0" smtClean="0">
                <a:solidFill>
                  <a:srgbClr val="191F26"/>
                </a:solidFill>
                <a:cs typeface="B Zar" panose="00000400000000000000" pitchFamily="50" charset="-78"/>
              </a:rPr>
              <a:t>ویدیوی ۴۶: </a:t>
            </a:r>
            <a:r>
              <a:rPr lang="fa-IR" sz="2200" dirty="0" smtClean="0">
                <a:solidFill>
                  <a:srgbClr val="191F26"/>
                </a:solidFill>
                <a:cs typeface="B Zar" panose="00000400000000000000" pitchFamily="50" charset="-78"/>
              </a:rPr>
              <a:t>برچسب ناقص؛ امتیاز ۰٫۴۵۱</a:t>
            </a:r>
            <a:endParaRPr lang="en-US" sz="2200" dirty="0">
              <a:solidFill>
                <a:srgbClr val="191F26"/>
              </a:solidFill>
              <a:cs typeface="B Zar" panose="00000400000000000000" pitchFamily="50" charset="-78"/>
            </a:endParaRPr>
          </a:p>
        </p:txBody>
      </p:sp>
      <p:sp>
        <p:nvSpPr>
          <p:cNvPr id="9" name="ویدیوهای حفظ شده"/>
          <p:cNvSpPr txBox="1"/>
          <p:nvPr/>
        </p:nvSpPr>
        <p:spPr>
          <a:xfrm>
            <a:off x="5778500" y="3746500"/>
            <a:ext cx="534178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100" b="1" dirty="0" smtClean="0">
                <a:solidFill>
                  <a:srgbClr val="191F26"/>
                </a:solidFill>
                <a:cs typeface="B Zar" panose="00000400000000000000" pitchFamily="50" charset="-78"/>
              </a:rPr>
              <a:t>۱۱ ویدیوی دشوار: </a:t>
            </a:r>
            <a:r>
              <a:rPr lang="fa-IR" sz="2200" dirty="0" smtClean="0">
                <a:solidFill>
                  <a:srgbClr val="191F26"/>
                </a:solidFill>
                <a:cs typeface="B Zar" panose="00000400000000000000" pitchFamily="50" charset="-78"/>
              </a:rPr>
              <a:t>حفظ</a:t>
            </a:r>
            <a:endParaRPr lang="en-US" sz="2200" dirty="0">
              <a:solidFill>
                <a:srgbClr val="191F26"/>
              </a:solidFill>
              <a:cs typeface="B Zar" panose="00000400000000000000" pitchFamily="50" charset="-78"/>
            </a:endParaRPr>
          </a:p>
        </p:txBody>
      </p:sp>
      <p:sp>
        <p:nvSpPr>
          <p:cNvPr id="10" name="ویدیوهای تکراری"/>
          <p:cNvSpPr txBox="1"/>
          <p:nvPr/>
        </p:nvSpPr>
        <p:spPr>
          <a:xfrm>
            <a:off x="5778500" y="4409768"/>
            <a:ext cx="5651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a-IR" sz="2300" b="1" dirty="0" smtClean="0">
                <a:solidFill>
                  <a:srgbClr val="1B3B55"/>
                </a:solidFill>
                <a:cs typeface="B Zar" panose="00000400000000000000" pitchFamily="50" charset="-78"/>
              </a:rPr>
              <a:t>بررسی تکرار</a:t>
            </a:r>
            <a:endParaRPr lang="en-US" sz="2300" b="1" dirty="0">
              <a:solidFill>
                <a:srgbClr val="1B3B55"/>
              </a:solidFill>
              <a:cs typeface="B Zar" panose="00000400000000000000" pitchFamily="50" charset="-78"/>
            </a:endParaRPr>
          </a:p>
        </p:txBody>
      </p:sp>
      <p:sp>
        <p:nvSpPr>
          <p:cNvPr id="11" name="تعداد تکراری"/>
          <p:cNvSpPr txBox="1"/>
          <p:nvPr/>
        </p:nvSpPr>
        <p:spPr>
          <a:xfrm>
            <a:off x="5778500" y="4889500"/>
            <a:ext cx="5341784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fa-IR" sz="2100" b="1" dirty="0" smtClean="0">
                <a:solidFill>
                  <a:srgbClr val="191F26"/>
                </a:solidFill>
                <a:cs typeface="B Zar" panose="00000400000000000000" pitchFamily="50" charset="-78"/>
              </a:rPr>
              <a:t>۳ ویدیوی تکراری: </a:t>
            </a:r>
            <a:r>
              <a:rPr lang="fa-IR" sz="2200" dirty="0" smtClean="0">
                <a:solidFill>
                  <a:srgbClr val="191F26"/>
                </a:solidFill>
                <a:cs typeface="B Zar" panose="00000400000000000000" pitchFamily="50" charset="-78"/>
              </a:rPr>
              <a:t>حذف</a:t>
            </a:r>
            <a:endParaRPr lang="en-US" sz="2200" dirty="0">
              <a:solidFill>
                <a:srgbClr val="191F26"/>
              </a:solidFill>
              <a:cs typeface="B Zar" panose="00000400000000000000" pitchFamily="50" charset="-78"/>
            </a:endParaRPr>
          </a:p>
        </p:txBody>
      </p:sp>
      <p:sp>
        <p:nvSpPr>
          <p:cNvPr id="12" name="حاصل پاکسازی"/>
          <p:cNvSpPr txBox="1"/>
          <p:nvPr/>
        </p:nvSpPr>
        <p:spPr>
          <a:xfrm>
            <a:off x="5778500" y="5678866"/>
            <a:ext cx="5651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a-IR" sz="2400" b="1" dirty="0" smtClean="0">
                <a:solidFill>
                  <a:srgbClr val="226F4F"/>
                </a:solidFill>
                <a:cs typeface="B Zar" panose="00000400000000000000" pitchFamily="50" charset="-78"/>
              </a:rPr>
              <a:t>مجموع حذف‌شده: ۵ ویدیو</a:t>
            </a:r>
            <a:endParaRPr lang="en-US" sz="2400" b="1" dirty="0">
              <a:solidFill>
                <a:srgbClr val="226F4F"/>
              </a:solidFill>
              <a:cs typeface="B Zar" panose="00000400000000000000" pitchFamily="50" charset="-78"/>
            </a:endParaRPr>
          </a:p>
        </p:txBody>
      </p:sp>
      <p:sp>
        <p:nvSpPr>
          <p:cNvPr id="13" name="برچسب شاهد تصویری"/>
          <p:cNvSpPr txBox="1"/>
          <p:nvPr/>
        </p:nvSpPr>
        <p:spPr>
          <a:xfrm>
            <a:off x="520700" y="5876606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a-IR" dirty="0" smtClean="0">
                <a:solidFill>
                  <a:schemeClr val="bg2">
                    <a:lumMod val="10000"/>
                  </a:schemeClr>
                </a:solidFill>
                <a:cs typeface="B Zar" panose="00000400000000000000" pitchFamily="50" charset="-78"/>
              </a:rPr>
              <a:t>نمونه برچسب نادرست در ویدیو</a:t>
            </a:r>
            <a:r>
              <a:rPr lang="fa-IR" dirty="0">
                <a:solidFill>
                  <a:schemeClr val="bg2">
                    <a:lumMod val="10000"/>
                  </a:schemeClr>
                </a:solidFill>
                <a:cs typeface="B Zar" panose="00000400000000000000" pitchFamily="50" charset="-78"/>
              </a:rPr>
              <a:t> </a:t>
            </a:r>
            <a:r>
              <a:rPr lang="fa-IR" dirty="0" smtClean="0">
                <a:solidFill>
                  <a:schemeClr val="bg2">
                    <a:lumMod val="10000"/>
                  </a:schemeClr>
                </a:solidFill>
                <a:cs typeface="B Zar" panose="00000400000000000000" pitchFamily="50" charset="-78"/>
              </a:rPr>
              <a:t>شماره‌های 46 و 426</a:t>
            </a:r>
            <a:endParaRPr lang="en-US" dirty="0">
              <a:solidFill>
                <a:schemeClr val="bg2">
                  <a:lumMod val="10000"/>
                </a:schemeClr>
              </a:solidFill>
              <a:cs typeface="B Zar" panose="00000400000000000000" pitchFamily="50" charset="-78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48" y="1225512"/>
            <a:ext cx="4301604" cy="2076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8426" y="1159011"/>
            <a:ext cx="4434348" cy="458302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3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E240DD-C16C-4047-8800-DD099F1531FB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۱۵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345957650"/>
              </p:ext>
            </p:extLst>
          </p:nvPr>
        </p:nvGraphicFramePr>
        <p:xfrm>
          <a:off x="523875" y="1381125"/>
          <a:ext cx="11144250" cy="3333752"/>
        </p:xfrm>
        <a:graphic>
          <a:graphicData uri="http://schemas.openxmlformats.org/drawingml/2006/table">
            <a:tbl>
              <a:tblPr/>
              <a:tblGrid>
                <a:gridCol w="1626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3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985">
                  <a:extLst>
                    <a:ext uri="{9D8B030D-6E8A-4147-A177-3AD203B41FA5}">
                      <a16:colId xmlns:a16="http://schemas.microsoft.com/office/drawing/2014/main" val="2997267730"/>
                    </a:ext>
                  </a:extLst>
                </a:gridCol>
                <a:gridCol w="1824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6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95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نمونه در تصویر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تعداد نمونه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سهم از کل تصاویر</a:t>
                      </a:r>
                      <a:endParaRPr lang="fa-IR" altLang="fa-IR" sz="2000" b="1" dirty="0">
                        <a:solidFill>
                          <a:srgbClr val="FFFFFF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تعداد </a:t>
                      </a:r>
                      <a:r>
                        <a:rPr lang="fa-IR" altLang="fa-IR" sz="2000" b="1" dirty="0" smtClean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تصویر</a:t>
                      </a:r>
                      <a:endParaRPr lang="fa-IR" altLang="fa-IR" sz="2000" b="1" dirty="0">
                        <a:solidFill>
                          <a:srgbClr val="FFFFFF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تعداد ویدیو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بخش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۷٫۸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۲۰۴٬۰۰۹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SA" sz="2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B Zar" panose="00000400000000000000" pitchFamily="50" charset="-78"/>
                        </a:rPr>
                        <a:t>۷۰٪</a:t>
                      </a:r>
                      <a:endParaRPr lang="fa-IR" altLang="fa-IR" sz="2000" dirty="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 panose="00000400000000000000" pitchFamily="50" charset="-78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۲۶٬۰۰۰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۷۹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آموزش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۶٫۶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۳۶٬۸۱۰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20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B Zar" panose="00000400000000000000" pitchFamily="50" charset="-78"/>
                        </a:rPr>
                        <a:t>۱۵٪</a:t>
                      </a:r>
                      <a:endParaRPr lang="fa-IR" altLang="fa-IR" sz="2000" dirty="0" smtClean="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 panose="00000400000000000000" pitchFamily="50" charset="-78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۵٬۵۷۱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۳۹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اعتبارسنجی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۶٫۳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۳۴٬۹۹۴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SA" sz="20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B Zar" panose="00000400000000000000" pitchFamily="50" charset="-78"/>
                        </a:rPr>
                        <a:t>۱۵٪</a:t>
                      </a:r>
                      <a:endParaRPr lang="fa-IR" altLang="fa-IR" sz="2000" dirty="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 panose="00000400000000000000" pitchFamily="50" charset="-78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۵٬۵۷۱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dirty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۴۲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20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آزمون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2B1A94D-C66E-40F8-9459-0C817636BC93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800" b="1">
                <a:solidFill>
                  <a:srgbClr val="216BA5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800" b="1" dirty="0">
                <a:solidFill>
                  <a:srgbClr val="216BA5"/>
                </a:solidFill>
                <a:latin typeface="B Zar"/>
                <a:ea typeface="B Zar"/>
                <a:cs typeface="B Zar"/>
              </a:rPr>
              <a:t>۳۷٬۱۴۲ تصویر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45FA7-DAD1-4657-A561-413F589CC8F7}"/>
              </a:ext>
            </a:extLst>
          </p:cNvPr>
          <p:cNvSpPr>
            <a:spLocks noGrp="1"/>
          </p:cNvSpPr>
          <p:nvPr/>
        </p:nvSpPr>
        <p:spPr>
          <a:xfrm>
            <a:off x="4762500" y="50958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800" b="1">
                <a:solidFill>
                  <a:srgbClr val="25834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800" b="1" dirty="0">
                <a:solidFill>
                  <a:srgbClr val="25834A"/>
                </a:solidFill>
                <a:latin typeface="B Zar"/>
                <a:ea typeface="B Zar"/>
                <a:cs typeface="B Zar"/>
              </a:rPr>
              <a:t>۱۶۰ ویدیو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81A70-C365-4F00-8B92-08A405F24ABE}"/>
              </a:ext>
            </a:extLst>
          </p:cNvPr>
          <p:cNvSpPr>
            <a:spLocks noGrp="1"/>
          </p:cNvSpPr>
          <p:nvPr/>
        </p:nvSpPr>
        <p:spPr>
          <a:xfrm>
            <a:off x="1428750" y="5095875"/>
            <a:ext cx="26670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8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8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۲۷۵٬۸۱۳ نمونه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ساختار زیرمجموعه نهایی</a:t>
            </a:r>
          </a:p>
        </p:txBody>
      </p:sp>
    </p:spTree>
    <p:extLst>
      <p:ext uri="{BB962C8B-B14F-4D97-AF65-F5344CB8AC3E}">
        <p14:creationId xmlns:p14="http://schemas.microsoft.com/office/powerpoint/2010/main" val="190161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71F38A-EE70-4EEB-A67B-795AECFA865D}"/>
              </a:ext>
            </a:extLst>
          </p:cNvPr>
          <p:cNvSpPr>
            <a:spLocks noGrp="1"/>
          </p:cNvSpPr>
          <p:nvPr/>
        </p:nvSpPr>
        <p:spPr>
          <a:xfrm>
            <a:off x="1071562" y="733425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045506-6997-4CDF-BDA1-F426B0106122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۱۶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293868084"/>
              </p:ext>
            </p:extLst>
          </p:nvPr>
        </p:nvGraphicFramePr>
        <p:xfrm>
          <a:off x="523875" y="1190625"/>
          <a:ext cx="4762500" cy="4762503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مقدار</a:t>
                      </a:r>
                    </a:p>
                  </a:txBody>
                  <a:tcPr marL="66675" marR="66675" marT="57150" marB="57150" anchor="ctr">
                    <a:solidFill>
                      <a:srgbClr val="173E5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پارامتر</a:t>
                      </a:r>
                    </a:p>
                  </a:txBody>
                  <a:tcPr marL="66675" marR="66675" marT="57150" marB="57150" anchor="ctr">
                    <a:solidFill>
                      <a:srgbClr val="173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fa-IR" altLang="fa-IR" sz="1800" dirty="0" smtClean="0">
                          <a:solidFill>
                            <a:srgbClr val="17232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ویدیو</a:t>
                      </a:r>
                      <a:endParaRPr lang="en-US" altLang="fa-IR" sz="1800" dirty="0">
                        <a:solidFill>
                          <a:srgbClr val="17232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واحد تقسیم</a:t>
                      </a:r>
                      <a:endParaRPr lang="fa-IR" altLang="fa-IR" sz="1900" b="1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7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۷۰، ۱۵، ۱۵ درصد</a:t>
                      </a:r>
                      <a:endParaRPr lang="fa-IR" altLang="fa-IR" sz="17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سهم هدف تصاویر</a:t>
                      </a:r>
                      <a:endParaRPr lang="fa-IR" altLang="fa-IR" sz="1900" b="1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۸۰</a:t>
                      </a:r>
                      <a:endParaRPr lang="fa-IR" altLang="fa-IR" sz="19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بذر تقسیم</a:t>
                      </a:r>
                      <a:endParaRPr lang="fa-IR" altLang="fa-IR" sz="1900" b="1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fa-IR" altLang="fa-IR" sz="1800" smtClean="0">
                          <a:solidFill>
                            <a:srgbClr val="17232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۲، ۳، ۵</a:t>
                      </a:r>
                      <a:endParaRPr lang="en-US" altLang="fa-IR" sz="1800">
                        <a:solidFill>
                          <a:srgbClr val="17232C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رده‌های کم‌نمونه</a:t>
                      </a:r>
                      <a:endParaRPr lang="fa-IR" altLang="fa-IR" sz="1900" b="1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6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شمار اشیای رده‌های ۲، ۳ و ۵</a:t>
                      </a:r>
                      <a:endParaRPr lang="fa-IR" altLang="fa-IR" sz="16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معیار اولویت</a:t>
                      </a:r>
                      <a:endParaRPr lang="fa-IR" altLang="fa-IR" sz="1900" b="1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۲۶٬۰۰۰ تصویر</a:t>
                      </a:r>
                      <a:endParaRPr lang="fa-IR" altLang="fa-IR" sz="19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حجم آموزش</a:t>
                      </a:r>
                      <a:endParaRPr lang="fa-IR" altLang="fa-IR" sz="19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۵٬۵۷۱ تصویر</a:t>
                      </a:r>
                      <a:endParaRPr lang="fa-IR" altLang="fa-IR" sz="19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حجم هر بخش ارزیابی</a:t>
                      </a:r>
                      <a:endParaRPr lang="fa-IR" altLang="fa-IR" sz="19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70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روز، شب، باران، ابری</a:t>
                      </a:r>
                      <a:endParaRPr lang="fa-IR" altLang="fa-IR" sz="170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گروه‌بندی محیطی</a:t>
                      </a:r>
                      <a:endParaRPr lang="fa-IR" altLang="fa-IR" sz="19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E7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40F6A7-45D5-47C8-91C7-7F2BB3C6065E}"/>
              </a:ext>
            </a:extLst>
          </p:cNvPr>
          <p:cNvSpPr>
            <a:spLocks noGrp="1"/>
          </p:cNvSpPr>
          <p:nvPr/>
        </p:nvSpPr>
        <p:spPr>
          <a:xfrm>
            <a:off x="5699346" y="1179013"/>
            <a:ext cx="5810250" cy="3002341"/>
          </a:xfrm>
          <a:prstGeom prst="roundRect">
            <a:avLst>
              <a:gd name="adj" fmla="val 2667"/>
            </a:avLst>
          </a:prstGeom>
          <a:solidFill>
            <a:srgbClr val="F1F3F5"/>
          </a:solidFill>
          <a:ln w="11430">
            <a:solidFill>
              <a:srgbClr val="9BAC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84730-1C0F-4A13-83FE-05241201F8E3}"/>
              </a:ext>
            </a:extLst>
          </p:cNvPr>
          <p:cNvSpPr>
            <a:spLocks noGrp="1"/>
          </p:cNvSpPr>
          <p:nvPr/>
        </p:nvSpPr>
        <p:spPr>
          <a:xfrm>
            <a:off x="6035792" y="1732815"/>
            <a:ext cx="5381625" cy="24288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>
              <a:lnSpc>
                <a:spcPct val="150000"/>
              </a:lnSpc>
              <a:defRPr sz="1900" b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fa-IR" sz="2000" b="0" dirty="0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if </a:t>
            </a:r>
            <a:r>
              <a:rPr lang="en-US" altLang="fa-IR" sz="2000" b="0" dirty="0" err="1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rare_score</a:t>
            </a:r>
            <a:r>
              <a:rPr lang="en-US" altLang="fa-IR" sz="2000" b="0" dirty="0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(r) &gt; 0:
    s = max(FRAC, key=lambda s: </a:t>
            </a:r>
            <a:r>
              <a:rPr lang="en-US" altLang="fa-IR" sz="2000" b="0" dirty="0" err="1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rt</a:t>
            </a:r>
            <a:r>
              <a:rPr lang="en-US" altLang="fa-IR" sz="2000" b="0" dirty="0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[s]-</a:t>
            </a:r>
            <a:r>
              <a:rPr lang="en-US" altLang="fa-IR" sz="2000" b="0" dirty="0" err="1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sr</a:t>
            </a:r>
            <a:r>
              <a:rPr lang="en-US" altLang="fa-IR" sz="2000" b="0" dirty="0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[s])
else:
    s = max(FRAC, key=lambda s: </a:t>
            </a:r>
            <a:r>
              <a:rPr lang="en-US" altLang="fa-IR" sz="2000" b="0" dirty="0" err="1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ft</a:t>
            </a:r>
            <a:r>
              <a:rPr lang="en-US" altLang="fa-IR" sz="2000" b="0" dirty="0" smtClean="0">
                <a:solidFill>
                  <a:srgbClr val="243642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[s]-sf[s])
assign[r] = s</a:t>
            </a:r>
            <a:endParaRPr lang="en-US" altLang="fa-IR" sz="2000" b="0" dirty="0">
              <a:solidFill>
                <a:srgbClr val="243642"/>
              </a:solidFill>
              <a:latin typeface="Times New Roman" panose="02020603050405020304" pitchFamily="18" charset="0"/>
              <a:ea typeface="Times New Roman"/>
              <a:cs typeface="Times New Roman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8BE70A-CB95-4B5C-9798-D8A4A1A8CBB7}"/>
              </a:ext>
            </a:extLst>
          </p:cNvPr>
          <p:cNvSpPr>
            <a:spLocks noGrp="1"/>
          </p:cNvSpPr>
          <p:nvPr/>
        </p:nvSpPr>
        <p:spPr>
          <a:xfrm>
            <a:off x="5699346" y="4410786"/>
            <a:ext cx="5810250" cy="1989803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t">
            <a:noAutofit/>
          </a:bodyPr>
          <a:lstStyle/>
          <a:p>
            <a:pPr marL="282575" marR="317500" indent="-282575" algn="just" rtl="1">
              <a:spcBef>
                <a:spcPts val="1000"/>
              </a:spcBef>
              <a:spcAft>
                <a:spcPts val="10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9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ویدیوهای </a:t>
            </a:r>
            <a:r>
              <a:rPr lang="fa-IR" altLang="fa-IR" sz="1900" b="1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دارای رده کم‌نمونه: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تخصیص بر اساس بیشترین کمبود رده‌های </a:t>
            </a:r>
            <a:r>
              <a:rPr lang="fa-IR" altLang="fa-IR" sz="200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نادر</a:t>
            </a:r>
          </a:p>
          <a:p>
            <a:pPr marL="282575" marR="317500" indent="-282575" algn="just" rtl="1">
              <a:spcBef>
                <a:spcPts val="1000"/>
              </a:spcBef>
              <a:spcAft>
                <a:spcPts val="10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9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سایر ویدیوها :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تخصیص بر اساس بیشترین کمبود تعداد </a:t>
            </a:r>
            <a:r>
              <a:rPr lang="fa-IR" altLang="fa-IR" sz="200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فریم</a:t>
            </a:r>
          </a:p>
          <a:p>
            <a:pPr marL="282575" marR="317500" indent="-282575" algn="just" rtl="1">
              <a:spcBef>
                <a:spcPts val="1000"/>
              </a:spcBef>
              <a:spcAft>
                <a:spcPts val="10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9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هدف</a:t>
            </a:r>
            <a:r>
              <a:rPr lang="fa-IR" altLang="fa-IR" sz="1900" b="1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: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 نزدیک‌کردن هم‌زمان توزیع رده‌ها و اندازه بخش‌ها به </a:t>
            </a:r>
            <a:r>
              <a:rPr lang="fa-IR" altLang="fa-IR" sz="200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هدف</a:t>
            </a:r>
            <a:endParaRPr lang="en-US" altLang="fa-IR" sz="2000" dirty="0" smtClean="0">
              <a:solidFill>
                <a:srgbClr val="17232C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6CD32A-8988-44E9-81E1-60B4E87D6327}"/>
              </a:ext>
            </a:extLst>
          </p:cNvPr>
          <p:cNvSpPr>
            <a:spLocks noGrp="1"/>
          </p:cNvSpPr>
          <p:nvPr/>
        </p:nvSpPr>
        <p:spPr>
          <a:xfrm>
            <a:off x="8643937" y="5781675"/>
            <a:ext cx="2524125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Autofit/>
          </a:bodyPr>
          <a:lstStyle/>
          <a:p>
            <a:pPr marL="285750" indent="-285750" algn="l" rtl="1">
              <a:buFont typeface="Arial" panose="020B0604020202020204" pitchFamily="34" charset="0"/>
              <a:buChar char="•"/>
              <a:defRPr sz="1900" b="0">
                <a:solidFill>
                  <a:srgbClr val="52626E"/>
                </a:solidFill>
                <a:latin typeface="Times New Roman"/>
                <a:ea typeface="Times New Roman"/>
                <a:cs typeface="Times New Roman"/>
              </a:defRPr>
            </a:pPr>
            <a:endParaRPr lang="en-US" altLang="fa-IR" sz="1600" b="0" dirty="0">
              <a:solidFill>
                <a:srgbClr val="52626E"/>
              </a:solidFill>
              <a:latin typeface="Times New Roman" panose="02020603050405020304" pitchFamily="18" charset="0"/>
              <a:ea typeface="Times New Roman"/>
              <a:cs typeface="Times New Roman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منطق کد ساخت زیرمجموعه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5699346" y="1190625"/>
            <a:ext cx="5810250" cy="47409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fa-IR" sz="2000" dirty="0">
              <a:latin typeface="Times New Roman" panose="02020603050405020304" pitchFamily="18" charset="0"/>
              <a:ea typeface="Times New Roman"/>
              <a:cs typeface="Times New Roman"/>
            </a:endParaRPr>
          </a:p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842221" y="1220582"/>
            <a:ext cx="2183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fa-IR" sz="20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build_subset_v5.py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17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D9B444-BF5D-4ADE-B23F-5F42DDC2A092}"/>
              </a:ext>
            </a:extLst>
          </p:cNvPr>
          <p:cNvSpPr>
            <a:spLocks noGrp="1"/>
          </p:cNvSpPr>
          <p:nvPr/>
        </p:nvSpPr>
        <p:spPr>
          <a:xfrm>
            <a:off x="429547" y="9823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FD4D2D-A839-46FC-B047-76C5B70AE450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۱۷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72506" y="982332"/>
            <a:ext cx="9246989" cy="53398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هم‌ترازی و توزیع رده‌ها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01077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40F6A7-45D5-47C8-91C7-7F2BB3C6065E}"/>
              </a:ext>
            </a:extLst>
          </p:cNvPr>
          <p:cNvSpPr>
            <a:spLocks noGrp="1"/>
          </p:cNvSpPr>
          <p:nvPr/>
        </p:nvSpPr>
        <p:spPr>
          <a:xfrm>
            <a:off x="6434783" y="1637751"/>
            <a:ext cx="5184648" cy="3524185"/>
          </a:xfrm>
          <a:prstGeom prst="roundRect">
            <a:avLst>
              <a:gd name="adj" fmla="val 2667"/>
            </a:avLst>
          </a:prstGeom>
          <a:solidFill>
            <a:srgbClr val="F1F3F5"/>
          </a:solidFill>
          <a:ln w="11430">
            <a:solidFill>
              <a:srgbClr val="9BAC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987E4-9DC7-4D14-ADE2-6DF8FC6BEFE4}"/>
              </a:ext>
            </a:extLst>
          </p:cNvPr>
          <p:cNvSpPr>
            <a:spLocks noGrp="1"/>
          </p:cNvSpPr>
          <p:nvPr/>
        </p:nvSpPr>
        <p:spPr>
          <a:xfrm>
            <a:off x="1386533" y="107156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335536-2A9A-4809-A009-20976D0B3E3D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۱۸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توزیع اندازه اشیا در سه بخش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5487" y="1505120"/>
            <a:ext cx="5650224" cy="42428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557625-46C9-46A3-9EE2-36AB81FD0C53}"/>
              </a:ext>
            </a:extLst>
          </p:cNvPr>
          <p:cNvSpPr>
            <a:spLocks noGrp="1"/>
          </p:cNvSpPr>
          <p:nvPr/>
        </p:nvSpPr>
        <p:spPr>
          <a:xfrm>
            <a:off x="1746504" y="5693072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0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توزیع اندازه اشیا</a:t>
            </a:r>
          </a:p>
        </p:txBody>
      </p:sp>
      <p:sp>
        <p:nvSpPr>
          <p:cNvPr id="4" name="کد رده‌بندی اندازه اشیا"/>
          <p:cNvSpPr txBox="1"/>
          <p:nvPr/>
        </p:nvSpPr>
        <p:spPr>
          <a:xfrm>
            <a:off x="6833913" y="2309368"/>
            <a:ext cx="3293313" cy="26314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SMALL, LARGE = 0.01, 0.06</a:t>
            </a:r>
          </a:p>
          <a:p>
            <a:pPr>
              <a:lnSpc>
                <a:spcPct val="150000"/>
              </a:lnSpc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a = float(q[3]) * float(q[4])</a:t>
            </a:r>
          </a:p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&lt; SMALL:</a:t>
            </a:r>
          </a:p>
          <a:p>
            <a:r>
              <a:rPr lang="fa-I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size[0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+= 1</a:t>
            </a:r>
          </a:p>
          <a:p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&gt;= LARGE:</a:t>
            </a:r>
          </a:p>
          <a:p>
            <a:r>
              <a:rPr lang="fa-I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size[2] += 1</a:t>
            </a:r>
          </a:p>
          <a:p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fa-IR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size[1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+= 1</a:t>
            </a:r>
          </a:p>
        </p:txBody>
      </p:sp>
      <p:sp>
        <p:nvSpPr>
          <p:cNvPr id="15" name="Round Same Side Corner Rectangle 14"/>
          <p:cNvSpPr/>
          <p:nvPr/>
        </p:nvSpPr>
        <p:spPr>
          <a:xfrm>
            <a:off x="6434783" y="1637752"/>
            <a:ext cx="5184648" cy="47409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63023" y="1671508"/>
            <a:ext cx="3333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compute_v5_validity.py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80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140F6A7-45D5-47C8-91C7-7F2BB3C6065E}"/>
              </a:ext>
            </a:extLst>
          </p:cNvPr>
          <p:cNvSpPr>
            <a:spLocks noGrp="1"/>
          </p:cNvSpPr>
          <p:nvPr/>
        </p:nvSpPr>
        <p:spPr>
          <a:xfrm>
            <a:off x="6492240" y="1099607"/>
            <a:ext cx="5189220" cy="2955284"/>
          </a:xfrm>
          <a:prstGeom prst="roundRect">
            <a:avLst>
              <a:gd name="adj" fmla="val 2667"/>
            </a:avLst>
          </a:prstGeom>
          <a:solidFill>
            <a:srgbClr val="F1F3F5"/>
          </a:solidFill>
          <a:ln w="11430">
            <a:solidFill>
              <a:srgbClr val="9BAC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335536-2A9A-4809-A009-20976D0B3E3D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۱۹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52" y="1199446"/>
            <a:ext cx="6217111" cy="428879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توزیع شرایط محیطی در سه بخش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57625-46C9-46A3-9EE2-36AB81FD0C53}"/>
              </a:ext>
            </a:extLst>
          </p:cNvPr>
          <p:cNvSpPr>
            <a:spLocks noGrp="1"/>
          </p:cNvSpPr>
          <p:nvPr/>
        </p:nvSpPr>
        <p:spPr>
          <a:xfrm>
            <a:off x="1700732" y="547718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0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توزیع شرایط محیطی</a:t>
            </a:r>
            <a:endParaRPr lang="fa-IR" altLang="fa-IR" sz="2000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5" name="کد تجمیع شرایط محیطی"/>
          <p:cNvSpPr txBox="1"/>
          <p:nvPr/>
        </p:nvSpPr>
        <p:spPr>
          <a:xfrm>
            <a:off x="6905392" y="1737789"/>
            <a:ext cx="4146065" cy="21646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cond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 = Counter</a:t>
            </a: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()</a:t>
            </a:r>
            <a:endParaRPr lang="fa-IR" sz="1900" dirty="0" smtClean="0">
              <a:solidFill>
                <a:srgbClr val="1E3444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for 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p in </a:t>
            </a: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imgs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:    </a:t>
            </a:r>
            <a:endParaRPr lang="fa-IR" sz="1900" dirty="0" smtClean="0">
              <a:solidFill>
                <a:srgbClr val="1E3444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stem 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= </a:t>
            </a: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os.path.basename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(p)[:-4]    </a:t>
            </a:r>
            <a:endParaRPr lang="fa-IR" sz="1900" dirty="0" smtClean="0">
              <a:solidFill>
                <a:srgbClr val="1E3444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record 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= </a:t>
            </a: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stem.split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("__")[0]    </a:t>
            </a:r>
            <a:endParaRPr lang="fa-IR" sz="1900" dirty="0" smtClean="0">
              <a:solidFill>
                <a:srgbClr val="1E3444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ts val="400"/>
              </a:spcBef>
              <a:spcAft>
                <a:spcPts val="400"/>
              </a:spcAft>
            </a:pPr>
            <a:r>
              <a:rPr lang="en-US" sz="1900" dirty="0" smtClean="0">
                <a:solidFill>
                  <a:srgbClr val="1E3444"/>
                </a:solidFill>
                <a:latin typeface="Times New Roman" panose="02020603050405020304" pitchFamily="18" charset="0"/>
              </a:rPr>
              <a:t>condition 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= </a:t>
            </a: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record.split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("_")[-1]    </a:t>
            </a:r>
            <a:r>
              <a:rPr lang="en-US" sz="1900" dirty="0" err="1">
                <a:solidFill>
                  <a:srgbClr val="1E3444"/>
                </a:solidFill>
                <a:latin typeface="Times New Roman" panose="02020603050405020304" pitchFamily="18" charset="0"/>
              </a:rPr>
              <a:t>cond</a:t>
            </a:r>
            <a:r>
              <a:rPr lang="en-US" sz="1900" dirty="0">
                <a:solidFill>
                  <a:srgbClr val="1E3444"/>
                </a:solidFill>
                <a:latin typeface="Times New Roman" panose="02020603050405020304" pitchFamily="18" charset="0"/>
              </a:rPr>
              <a:t>[condition] += 1</a:t>
            </a:r>
            <a:endParaRPr lang="en-US" sz="1900" dirty="0">
              <a:solidFill>
                <a:srgbClr val="1E34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" name="Round Same Side Corner Rectangle 16"/>
          <p:cNvSpPr/>
          <p:nvPr/>
        </p:nvSpPr>
        <p:spPr>
          <a:xfrm>
            <a:off x="6492240" y="1111283"/>
            <a:ext cx="5189220" cy="47409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011561" y="16672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80928" y="1144420"/>
            <a:ext cx="26638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</a:rPr>
              <a:t>compute_v5_validity.py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/>
          </a:p>
        </p:txBody>
      </p:sp>
      <p:sp>
        <p:nvSpPr>
          <p:cNvPr id="22" name="Down Arrow 21"/>
          <p:cNvSpPr/>
          <p:nvPr/>
        </p:nvSpPr>
        <p:spPr>
          <a:xfrm>
            <a:off x="8820140" y="4056735"/>
            <a:ext cx="533418" cy="549558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جدول سهم شرایط محیطی از کل تصاویر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4681220"/>
              </p:ext>
            </p:extLst>
          </p:nvPr>
        </p:nvGraphicFramePr>
        <p:xfrm>
          <a:off x="6336646" y="4614279"/>
          <a:ext cx="5500407" cy="204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469">
                  <a:extLst>
                    <a:ext uri="{9D8B030D-6E8A-4147-A177-3AD203B41FA5}">
                      <a16:colId xmlns:a16="http://schemas.microsoft.com/office/drawing/2014/main" val="15579552"/>
                    </a:ext>
                  </a:extLst>
                </a:gridCol>
                <a:gridCol w="1833469">
                  <a:extLst>
                    <a:ext uri="{9D8B030D-6E8A-4147-A177-3AD203B41FA5}">
                      <a16:colId xmlns:a16="http://schemas.microsoft.com/office/drawing/2014/main" val="1457872023"/>
                    </a:ext>
                  </a:extLst>
                </a:gridCol>
                <a:gridCol w="1833469">
                  <a:extLst>
                    <a:ext uri="{9D8B030D-6E8A-4147-A177-3AD203B41FA5}">
                      <a16:colId xmlns:a16="http://schemas.microsoft.com/office/drawing/2014/main" val="1270662150"/>
                    </a:ext>
                  </a:extLst>
                </a:gridCol>
              </a:tblGrid>
              <a:tr h="408248"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FFFFFF"/>
                          </a:solidFill>
                          <a:cs typeface="B Zar" panose="00000400000000000000" pitchFamily="50" charset="-78"/>
                        </a:rPr>
                        <a:t>سهم از کل تصاویر</a:t>
                      </a:r>
                      <a:endParaRPr lang="en-US" sz="1900" b="1" dirty="0">
                        <a:solidFill>
                          <a:srgbClr val="FFFFFF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FFFFFF"/>
                          </a:solidFill>
                          <a:cs typeface="B Zar" panose="00000400000000000000" pitchFamily="50" charset="-78"/>
                        </a:rPr>
                        <a:t>تعداد تصاویر</a:t>
                      </a:r>
                      <a:endParaRPr lang="en-US" sz="1900" b="1" dirty="0">
                        <a:solidFill>
                          <a:srgbClr val="FFFFFF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384852"/>
                      </a:solidFill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9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FFFFFF"/>
                          </a:solidFill>
                          <a:cs typeface="B Zar" panose="00000400000000000000" pitchFamily="50" charset="-78"/>
                        </a:rPr>
                        <a:t>شرایط</a:t>
                      </a:r>
                      <a:r>
                        <a:rPr lang="fa-IR" sz="1900" b="1" baseline="0" dirty="0" smtClean="0">
                          <a:solidFill>
                            <a:srgbClr val="FFFFFF"/>
                          </a:solidFill>
                          <a:cs typeface="B Zar" panose="00000400000000000000" pitchFamily="50" charset="-78"/>
                        </a:rPr>
                        <a:t> محیطی</a:t>
                      </a:r>
                      <a:endParaRPr lang="en-US" sz="1900" b="1" dirty="0">
                        <a:solidFill>
                          <a:srgbClr val="FFFFFF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104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41530"/>
                  </a:ext>
                </a:extLst>
              </a:tr>
              <a:tr h="408248">
                <a:tc>
                  <a:txBody>
                    <a:bodyPr/>
                    <a:lstStyle/>
                    <a:p>
                      <a:pPr algn="ctr"/>
                      <a:r>
                        <a:rPr lang="fa-IR" sz="1900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۸۱٫۰٪</a:t>
                      </a:r>
                      <a:endParaRPr lang="en-US" sz="1900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384852"/>
                      </a:solidFill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30</a:t>
                      </a:r>
                      <a:r>
                        <a:rPr lang="fa-IR" altLang="fa-IR" sz="1900" dirty="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٬067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روز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CF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307412"/>
                  </a:ext>
                </a:extLst>
              </a:tr>
              <a:tr h="408248">
                <a:tc>
                  <a:txBody>
                    <a:bodyPr/>
                    <a:lstStyle/>
                    <a:p>
                      <a:pPr algn="ctr"/>
                      <a:r>
                        <a:rPr lang="fa-IR" sz="1900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۸٫۸٪</a:t>
                      </a:r>
                      <a:endParaRPr lang="en-US" sz="1900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384852"/>
                      </a:solidFill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3</a:t>
                      </a:r>
                      <a:r>
                        <a:rPr lang="fa-IR" altLang="fa-IR" sz="1900" dirty="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٬285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شب</a:t>
                      </a:r>
                      <a:endParaRPr lang="en-US" sz="1900" b="1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CF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672575"/>
                  </a:ext>
                </a:extLst>
              </a:tr>
              <a:tr h="408248">
                <a:tc>
                  <a:txBody>
                    <a:bodyPr/>
                    <a:lstStyle/>
                    <a:p>
                      <a:pPr algn="ctr"/>
                      <a:r>
                        <a:rPr lang="fa-IR" sz="1900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۸٫۸٪</a:t>
                      </a:r>
                      <a:endParaRPr lang="en-US" sz="1900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384852"/>
                      </a:solidFill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3</a:t>
                      </a:r>
                      <a:r>
                        <a:rPr lang="fa-IR" altLang="fa-IR" sz="1900" dirty="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٬276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باران</a:t>
                      </a:r>
                      <a:endParaRPr lang="en-US" sz="1900" b="1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CF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94226"/>
                  </a:ext>
                </a:extLst>
              </a:tr>
              <a:tr h="408248">
                <a:tc>
                  <a:txBody>
                    <a:bodyPr/>
                    <a:lstStyle/>
                    <a:p>
                      <a:pPr algn="ctr"/>
                      <a:r>
                        <a:rPr lang="fa-IR" sz="1900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۱٫۴٪</a:t>
                      </a:r>
                      <a:endParaRPr lang="en-US" sz="1900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384852"/>
                      </a:solidFill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514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48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a-IR" sz="1900" b="1" dirty="0" smtClean="0">
                          <a:solidFill>
                            <a:srgbClr val="19384E"/>
                          </a:solidFill>
                          <a:cs typeface="B Zar" panose="00000400000000000000" pitchFamily="50" charset="-78"/>
                        </a:rPr>
                        <a:t>ابری</a:t>
                      </a:r>
                      <a:endParaRPr lang="en-US" sz="1900" b="1" dirty="0">
                        <a:solidFill>
                          <a:srgbClr val="19384E"/>
                        </a:solidFill>
                        <a:cs typeface="B Zar" panose="00000400000000000000" pitchFamily="50" charset="-78"/>
                      </a:endParaRPr>
                    </a:p>
                  </a:txBody>
                  <a:tcPr marL="27432" marR="27432" marT="0" marB="0" anchor="ctr">
                    <a:lnL w="9525" cmpd="sng">
                      <a:solidFill>
                        <a:srgbClr val="384852"/>
                      </a:solidFill>
                    </a:lnL>
                    <a:lnR w="9525" cmpd="sng">
                      <a:solidFill>
                        <a:srgbClr val="384852"/>
                      </a:solidFill>
                    </a:lnR>
                    <a:lnT w="9525" cmpd="sng">
                      <a:solidFill>
                        <a:srgbClr val="384852"/>
                      </a:solidFill>
                    </a:lnT>
                    <a:lnB w="9525" cmpd="sng">
                      <a:solidFill>
                        <a:srgbClr val="384852"/>
                      </a:solidFill>
                    </a:lnB>
                    <a:solidFill>
                      <a:srgbClr val="CF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79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92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1057839" cy="190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1400"/>
              </a:spcAft>
            </a:pPr>
            <a:r>
              <a:rPr lang="fa-IR" sz="2600" b="1" dirty="0">
                <a:solidFill>
                  <a:srgbClr val="216BA5"/>
                </a:solidFill>
                <a:cs typeface="B Zar"/>
              </a:rPr>
              <a:t>بخش </a:t>
            </a:r>
            <a:r>
              <a:rPr lang="fa-IR" sz="2600" b="1" dirty="0" smtClean="0">
                <a:solidFill>
                  <a:srgbClr val="216BA5"/>
                </a:solidFill>
                <a:cs typeface="B Zar"/>
              </a:rPr>
              <a:t>3</a:t>
            </a:r>
            <a:endParaRPr lang="fa-IR" sz="2600" b="1" dirty="0">
              <a:solidFill>
                <a:srgbClr val="216BA5"/>
              </a:solidFill>
              <a:cs typeface="B Zar"/>
            </a:endParaRPr>
          </a:p>
          <a:p>
            <a:pPr algn="ctr" rtl="1">
              <a:spcAft>
                <a:spcPts val="1200"/>
              </a:spcAft>
            </a:pPr>
            <a:r>
              <a:rPr lang="fa-IR" sz="4600" b="1" dirty="0" smtClean="0">
                <a:solidFill>
                  <a:srgbClr val="1B4F72"/>
                </a:solidFill>
                <a:cs typeface="B Zar"/>
              </a:rPr>
              <a:t>آموزش و پیکربندی </a:t>
            </a:r>
            <a:r>
              <a:rPr lang="fa-IR" sz="4600" b="1" dirty="0">
                <a:solidFill>
                  <a:srgbClr val="1B4F72"/>
                </a:solidFill>
                <a:cs typeface="B Zar"/>
              </a:rPr>
              <a:t>نهایی </a:t>
            </a:r>
            <a:r>
              <a:rPr lang="fa-IR" sz="4600" b="1" dirty="0" smtClean="0">
                <a:solidFill>
                  <a:srgbClr val="1B4F72"/>
                </a:solidFill>
                <a:cs typeface="B Zar"/>
              </a:rPr>
              <a:t>مدل</a:t>
            </a:r>
          </a:p>
          <a:p>
            <a:pPr algn="ctr" rtl="1">
              <a:spcAft>
                <a:spcPts val="1200"/>
              </a:spcAft>
            </a:pPr>
            <a:r>
              <a:rPr lang="fa-IR" sz="2400" dirty="0">
                <a:solidFill>
                  <a:srgbClr val="4A5A66"/>
                </a:solidFill>
                <a:cs typeface="B Zar"/>
              </a:rPr>
              <a:t>مقایسه آموزش‌های انجام‌شده، بررسی ابرپارامترها، بهینه‌سازها و کد هسته آموزش</a:t>
            </a:r>
            <a:endParaRPr lang="fa-IR" sz="2400" b="0" dirty="0">
              <a:solidFill>
                <a:srgbClr val="4A5A66"/>
              </a:solidFill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54978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02265C-4CBB-45DC-98BB-A76162D949BB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۲۱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82897" y="1184603"/>
            <a:ext cx="8826207" cy="4352925"/>
          </a:xfrm>
          <a:prstGeom prst="rect">
            <a:avLst/>
          </a:prstGeom>
          <a:ln>
            <a:solidFill>
              <a:schemeClr val="accent4">
                <a:lumMod val="50000"/>
              </a:schemeClr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مقایسه نتایج آموزش‌ها 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826" y="5798160"/>
            <a:ext cx="12123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altLang="fa-IR" b="1" dirty="0">
                <a:solidFill>
                  <a:schemeClr val="bg2">
                    <a:lumMod val="25000"/>
                  </a:schemeClr>
                </a:solidFill>
                <a:latin typeface="B Zar"/>
                <a:ea typeface="B Zar"/>
                <a:cs typeface="B Zar"/>
              </a:rPr>
              <a:t>نتیجه </a:t>
            </a:r>
            <a:r>
              <a:rPr lang="fa-IR" altLang="fa-IR" b="1" dirty="0" smtClean="0">
                <a:solidFill>
                  <a:schemeClr val="bg2">
                    <a:lumMod val="25000"/>
                  </a:schemeClr>
                </a:solidFill>
                <a:latin typeface="B Zar"/>
                <a:ea typeface="B Zar"/>
                <a:cs typeface="B Zar"/>
              </a:rPr>
              <a:t>بهترین دوره در هر یک از آموزش‌های انجام شده براساس معیار </a:t>
            </a:r>
            <a:r>
              <a:rPr lang="en-US" altLang="fa-IR" sz="1700" b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mAP@0.5</a:t>
            </a:r>
            <a:r>
              <a:rPr lang="fa-IR" altLang="fa-IR" b="1" dirty="0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ea typeface="B Zar"/>
                <a:cs typeface="Times New Roman" panose="02020603050405020304" pitchFamily="18" charset="0"/>
              </a:rPr>
              <a:t> </a:t>
            </a:r>
            <a:endParaRPr lang="fa-IR" altLang="fa-IR" b="1" dirty="0">
              <a:solidFill>
                <a:schemeClr val="bg2">
                  <a:lumMod val="25000"/>
                </a:schemeClr>
              </a:solidFill>
              <a:latin typeface="B Zar"/>
              <a:ea typeface="B Zar"/>
              <a:cs typeface="B Zar"/>
            </a:endParaRPr>
          </a:p>
          <a:p>
            <a:pPr algn="ct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045506-6997-4CDF-BDA1-F426B0106122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۲۲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600489334"/>
              </p:ext>
            </p:extLst>
          </p:nvPr>
        </p:nvGraphicFramePr>
        <p:xfrm>
          <a:off x="523875" y="1190625"/>
          <a:ext cx="4762500" cy="4762503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مقدار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>
                          <a:solidFill>
                            <a:srgbClr val="FFFFFF"/>
                          </a:solidFill>
                          <a:latin typeface="B Zar"/>
                          <a:ea typeface="B Zar"/>
                          <a:cs typeface="B Zar"/>
                        </a:rPr>
                        <a:t>پارامتر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en-US" altLang="fa-IR" sz="1800">
                          <a:solidFill>
                            <a:srgbClr val="17232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YOLOv11s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معماری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dirty="0" smtClean="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۱۲۸۰</a:t>
                      </a:r>
                      <a:endParaRPr lang="fa-IR" altLang="fa-IR" sz="1900" dirty="0">
                        <a:solidFill>
                          <a:srgbClr val="17232C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اندازه ورودی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۱۲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اندازه دسته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/>
                      <a:r>
                        <a:rPr lang="en-US" altLang="fa-IR" sz="1800">
                          <a:solidFill>
                            <a:srgbClr val="17232C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AdamW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بهینه‌ساز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۰٫۰۰۱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نرخ یادگیری اولیه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کسینوسی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زمان‌بند</a:t>
                      </a: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۱۵۰</a:t>
                      </a:r>
                    </a:p>
                  </a:txBody>
                  <a:tcPr marL="66675" marR="6667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بیشینه </a:t>
                      </a:r>
                      <a:r>
                        <a:rPr lang="fa-IR" altLang="fa-IR" sz="19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دوره آموزش</a:t>
                      </a:r>
                      <a:endParaRPr lang="fa-IR" altLang="fa-IR" sz="19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>
                          <a:solidFill>
                            <a:srgbClr val="17232C"/>
                          </a:solidFill>
                          <a:latin typeface="B Zar"/>
                          <a:ea typeface="B Zar"/>
                          <a:cs typeface="B Zar"/>
                        </a:rPr>
                        <a:t>۱۰</a:t>
                      </a:r>
                    </a:p>
                  </a:txBody>
                  <a:tcPr marL="66675" marR="66675" marT="57150" marB="57150"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altLang="fa-IR" sz="1900" b="1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توقف</a:t>
                      </a:r>
                      <a:r>
                        <a:rPr lang="fa-IR" altLang="fa-IR" sz="1900" b="1" baseline="0" dirty="0" smtClean="0">
                          <a:solidFill>
                            <a:srgbClr val="173E5A"/>
                          </a:solidFill>
                          <a:latin typeface="B Zar"/>
                          <a:ea typeface="B Zar"/>
                          <a:cs typeface="B Zar"/>
                        </a:rPr>
                        <a:t> زودهنگام</a:t>
                      </a:r>
                      <a:endParaRPr lang="fa-IR" altLang="fa-IR" sz="1900" b="1" dirty="0">
                        <a:solidFill>
                          <a:srgbClr val="173E5A"/>
                        </a:solidFill>
                        <a:latin typeface="B Zar"/>
                        <a:ea typeface="B Zar"/>
                        <a:cs typeface="B Zar"/>
                      </a:endParaRPr>
                    </a:p>
                  </a:txBody>
                  <a:tcPr marL="66675" marR="66675" marT="57150" marB="5715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40F6A7-45D5-47C8-91C7-7F2BB3C6065E}"/>
              </a:ext>
            </a:extLst>
          </p:cNvPr>
          <p:cNvSpPr>
            <a:spLocks noGrp="1"/>
          </p:cNvSpPr>
          <p:nvPr/>
        </p:nvSpPr>
        <p:spPr>
          <a:xfrm>
            <a:off x="5715000" y="1285875"/>
            <a:ext cx="5810250" cy="2955284"/>
          </a:xfrm>
          <a:prstGeom prst="roundRect">
            <a:avLst>
              <a:gd name="adj" fmla="val 2667"/>
            </a:avLst>
          </a:prstGeom>
          <a:solidFill>
            <a:srgbClr val="F1F3F5"/>
          </a:solidFill>
          <a:ln w="11430">
            <a:solidFill>
              <a:srgbClr val="9BACB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84730-1C0F-4A13-83FE-05241201F8E3}"/>
              </a:ext>
            </a:extLst>
          </p:cNvPr>
          <p:cNvSpPr>
            <a:spLocks noGrp="1"/>
          </p:cNvSpPr>
          <p:nvPr/>
        </p:nvSpPr>
        <p:spPr>
          <a:xfrm>
            <a:off x="5953125" y="1779637"/>
            <a:ext cx="5381625" cy="242887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 algn="l">
              <a:lnSpc>
                <a:spcPct val="150000"/>
              </a:lnSpc>
              <a:defRPr sz="1900" b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model = YOLO('yolo11s.pt')
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model.train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(data='iadd_subset_v5/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data.yaml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',
  epochs=150, patience=10, 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imgsz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=1280, batch=12,
  optimizer='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AdamW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', lr0=0.001, 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cos_lr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=True,
  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mixup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=0.1, </a:t>
            </a:r>
            <a:r>
              <a:rPr lang="en-US" altLang="fa-IR" sz="1900" b="0" dirty="0" err="1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hsv_v</a:t>
            </a:r>
            <a:r>
              <a:rPr lang="en-US" altLang="fa-IR" sz="1900" b="0" dirty="0">
                <a:solidFill>
                  <a:srgbClr val="243642"/>
                </a:solidFill>
                <a:latin typeface="Times New Roman"/>
                <a:ea typeface="Times New Roman"/>
                <a:cs typeface="Times New Roman"/>
              </a:rPr>
              <a:t>=0.4, degrees=5.0)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8BE70A-CB95-4B5C-9798-D8A4A1A8CBB7}"/>
              </a:ext>
            </a:extLst>
          </p:cNvPr>
          <p:cNvSpPr>
            <a:spLocks noGrp="1"/>
          </p:cNvSpPr>
          <p:nvPr/>
        </p:nvSpPr>
        <p:spPr>
          <a:xfrm>
            <a:off x="5857875" y="4463845"/>
            <a:ext cx="5476875" cy="1907458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t">
            <a:noAutofit/>
          </a:bodyPr>
          <a:lstStyle/>
          <a:p>
            <a:pPr marL="285750" marR="317500" indent="-285750" algn="r" rtl="1">
              <a:spcAft>
                <a:spcPts val="8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آغاز از وزن‌های از پیش آموزش‌دیده </a:t>
            </a:r>
            <a:r>
              <a:rPr lang="en-US" altLang="fa-IR" sz="2000" b="0" dirty="0" smtClean="0">
                <a:solidFill>
                  <a:srgbClr val="17232C"/>
                </a:solidFill>
                <a:latin typeface="Times New Roman"/>
                <a:ea typeface="Times New Roman"/>
                <a:cs typeface="Times New Roman"/>
              </a:rPr>
              <a:t>COCO</a:t>
            </a:r>
          </a:p>
          <a:p>
            <a:pPr marL="285750" marR="317500" indent="-285750" algn="r" rtl="1">
              <a:spcAft>
                <a:spcPts val="8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انتخاب بهترین وزن با اعتبارسنجی</a:t>
            </a:r>
          </a:p>
          <a:p>
            <a:pPr marL="285750" marR="317500" indent="-285750" algn="r" rtl="1">
              <a:spcAft>
                <a:spcPts val="800"/>
              </a:spcAft>
              <a:buChar char="•"/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100" b="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ارزیابی آزمون پس از پایان تنظیمات</a:t>
            </a:r>
            <a:endParaRPr lang="fa-IR" altLang="fa-IR" sz="2100" b="0" dirty="0">
              <a:solidFill>
                <a:srgbClr val="17232C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پیکربندی و کد آموزش نهایی</a:t>
            </a:r>
          </a:p>
        </p:txBody>
      </p:sp>
      <p:sp>
        <p:nvSpPr>
          <p:cNvPr id="2" name="Round Same Side Corner Rectangle 1"/>
          <p:cNvSpPr/>
          <p:nvPr/>
        </p:nvSpPr>
        <p:spPr>
          <a:xfrm>
            <a:off x="5715001" y="1285874"/>
            <a:ext cx="5810250" cy="474099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781369" y="1307552"/>
            <a:ext cx="435569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317500" algn="r">
              <a:spcAft>
                <a:spcPts val="800"/>
              </a:spcAft>
              <a:defRPr sz="21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en-US" altLang="fa-IR" sz="2000" dirty="0" smtClean="0">
                <a:solidFill>
                  <a:schemeClr val="bg1"/>
                </a:solidFill>
                <a:latin typeface="Times New Roman" panose="02020603050405020304" pitchFamily="18" charset="0"/>
                <a:ea typeface="Times New Roman"/>
                <a:cs typeface="Times New Roman"/>
              </a:rPr>
              <a:t>IADD_YOLOv11_Colab_run8.ipynb</a:t>
            </a:r>
            <a:endParaRPr lang="en-US" altLang="fa-IR" sz="2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4444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6821958" y="4589660"/>
            <a:ext cx="4634253" cy="131952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2AA3B7-BAD5-4166-B9F7-777FDB2CB8EC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۲۳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4" y="1285875"/>
            <a:ext cx="5696941" cy="455448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آزمایش مقایسه‌ای انتخاب بهینه‌ساز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94323" y="1578691"/>
            <a:ext cx="5322511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100" b="1" dirty="0" smtClean="0">
                <a:cs typeface="B Zar" panose="00000400000000000000" pitchFamily="50" charset="-78"/>
              </a:rPr>
              <a:t>عوامل متغیر</a:t>
            </a:r>
            <a:r>
              <a:rPr lang="fa-IR" sz="2100" b="1" dirty="0">
                <a:cs typeface="B Zar" panose="00000400000000000000" pitchFamily="50" charset="-78"/>
              </a:rPr>
              <a:t>: </a:t>
            </a:r>
            <a:r>
              <a:rPr lang="fa-IR" sz="2100" dirty="0" smtClean="0">
                <a:cs typeface="B Zar" panose="00000400000000000000" pitchFamily="50" charset="-78"/>
              </a:rPr>
              <a:t>نوع</a:t>
            </a:r>
            <a:r>
              <a:rPr lang="fa-IR" sz="2100" b="1" dirty="0" smtClean="0">
                <a:cs typeface="B Zar" panose="00000400000000000000" pitchFamily="50" charset="-78"/>
              </a:rPr>
              <a:t> </a:t>
            </a:r>
            <a:r>
              <a:rPr lang="fa-IR" sz="2200" dirty="0" smtClean="0">
                <a:cs typeface="B Zar" panose="00000400000000000000" pitchFamily="50" charset="-78"/>
              </a:rPr>
              <a:t>بهینه‌ساز و زمان‌بند</a:t>
            </a:r>
            <a:endParaRPr lang="fa-IR" sz="2200" dirty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100" b="1" dirty="0" smtClean="0">
                <a:cs typeface="B Zar" panose="00000400000000000000" pitchFamily="50" charset="-78"/>
              </a:rPr>
              <a:t>پیکربندی </a:t>
            </a:r>
            <a:r>
              <a:rPr lang="fa-IR" sz="2100" b="1" dirty="0">
                <a:cs typeface="B Zar" panose="00000400000000000000" pitchFamily="50" charset="-78"/>
              </a:rPr>
              <a:t>۱: 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SGD</a:t>
            </a:r>
            <a:r>
              <a:rPr lang="fa-IR" sz="2200" dirty="0">
                <a:cs typeface="B Zar" panose="00000400000000000000" pitchFamily="50" charset="-78"/>
              </a:rPr>
              <a:t> </a:t>
            </a:r>
            <a:r>
              <a:rPr lang="fa-IR" sz="2200" dirty="0" smtClean="0">
                <a:cs typeface="B Zar" panose="00000400000000000000" pitchFamily="50" charset="-78"/>
              </a:rPr>
              <a:t>+ زمان‌بند خطی</a:t>
            </a:r>
            <a:endParaRPr lang="fa-IR" sz="2200" dirty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100" b="1" dirty="0" smtClean="0">
                <a:cs typeface="B Zar" panose="00000400000000000000" pitchFamily="50" charset="-78"/>
              </a:rPr>
              <a:t>پیکربندی </a:t>
            </a:r>
            <a:r>
              <a:rPr lang="fa-IR" sz="2100" b="1" dirty="0">
                <a:cs typeface="B Zar" panose="00000400000000000000" pitchFamily="50" charset="-78"/>
              </a:rPr>
              <a:t>۲: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fa-IR" sz="2200" dirty="0" smtClean="0">
                <a:cs typeface="B Zar" panose="00000400000000000000" pitchFamily="50" charset="-78"/>
              </a:rPr>
              <a:t> + زمان‌بند کسینوسی</a:t>
            </a:r>
            <a:endParaRPr lang="fa-IR" sz="2200" dirty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200" dirty="0" smtClean="0">
                <a:cs typeface="B Zar" panose="00000400000000000000" pitchFamily="50" charset="-78"/>
              </a:rPr>
              <a:t>شرایط </a:t>
            </a:r>
            <a:r>
              <a:rPr lang="fa-IR" sz="2200" dirty="0">
                <a:cs typeface="B Zar" panose="00000400000000000000" pitchFamily="50" charset="-78"/>
              </a:rPr>
              <a:t>آموزش و افزایش داده </a:t>
            </a:r>
            <a:r>
              <a:rPr lang="fa-IR" sz="2200" dirty="0" smtClean="0">
                <a:cs typeface="B Zar" panose="00000400000000000000" pitchFamily="50" charset="-78"/>
              </a:rPr>
              <a:t>یکسان</a:t>
            </a:r>
            <a:endParaRPr lang="fa-IR" sz="2200" dirty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200" dirty="0" smtClean="0">
                <a:cs typeface="B Zar" panose="00000400000000000000" pitchFamily="50" charset="-78"/>
              </a:rPr>
              <a:t>عملکرد </a:t>
            </a:r>
            <a:r>
              <a:rPr lang="fa-IR" sz="2200" dirty="0">
                <a:cs typeface="B Zar" panose="00000400000000000000" pitchFamily="50" charset="-78"/>
              </a:rPr>
              <a:t>بهتر </a:t>
            </a:r>
            <a:r>
              <a:rPr lang="en-US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fa-IR" sz="2200" dirty="0" smtClean="0">
                <a:cs typeface="B Zar" panose="00000400000000000000" pitchFamily="50" charset="-78"/>
              </a:rPr>
              <a:t> در </a:t>
            </a:r>
            <a:r>
              <a:rPr lang="fa-IR" sz="2200" dirty="0">
                <a:cs typeface="B Zar" panose="00000400000000000000" pitchFamily="50" charset="-78"/>
              </a:rPr>
              <a:t>اعتبارسنجی و </a:t>
            </a:r>
            <a:r>
              <a:rPr lang="fa-IR" sz="2200" dirty="0" smtClean="0">
                <a:cs typeface="B Zar" panose="00000400000000000000" pitchFamily="50" charset="-78"/>
              </a:rPr>
              <a:t>آزمون</a:t>
            </a:r>
            <a:endParaRPr lang="fa-IR" sz="2200" dirty="0">
              <a:cs typeface="B Zar" panose="00000400000000000000" pitchFamily="50" charset="-7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098891" y="4638820"/>
            <a:ext cx="40803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b="1" dirty="0">
                <a:solidFill>
                  <a:schemeClr val="accent3">
                    <a:lumMod val="75000"/>
                  </a:schemeClr>
                </a:solidFill>
                <a:cs typeface="B Zar" panose="00000400000000000000" pitchFamily="50" charset="-78"/>
              </a:rPr>
              <a:t>نتیجه: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AdamW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Cosine</a:t>
            </a:r>
            <a:r>
              <a:rPr lang="fa-I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 rtl="1">
              <a:lnSpc>
                <a:spcPct val="150000"/>
              </a:lnSpc>
            </a:pPr>
            <a:r>
              <a:rPr lang="fa-IR" sz="2400" dirty="0" smtClean="0">
                <a:cs typeface="B Zar" panose="00000400000000000000" pitchFamily="50" charset="-78"/>
              </a:rPr>
              <a:t>   به عنوان پیکربندی برنده انتخاب شد</a:t>
            </a:r>
            <a:endParaRPr lang="en-US" sz="2400" dirty="0"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617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31720"/>
            <a:ext cx="11057839" cy="19030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1400"/>
              </a:spcAft>
            </a:pPr>
            <a:r>
              <a:rPr lang="fa-IR" sz="2600" b="1" dirty="0">
                <a:solidFill>
                  <a:srgbClr val="216BA5"/>
                </a:solidFill>
                <a:cs typeface="B Zar"/>
              </a:rPr>
              <a:t>بخش </a:t>
            </a:r>
            <a:r>
              <a:rPr lang="fa-IR" sz="2600" b="1" dirty="0" smtClean="0">
                <a:solidFill>
                  <a:srgbClr val="216BA5"/>
                </a:solidFill>
                <a:cs typeface="B Zar"/>
              </a:rPr>
              <a:t>4</a:t>
            </a:r>
            <a:endParaRPr lang="fa-IR" sz="2600" b="1" dirty="0">
              <a:solidFill>
                <a:srgbClr val="216BA5"/>
              </a:solidFill>
              <a:cs typeface="B Zar"/>
            </a:endParaRPr>
          </a:p>
          <a:p>
            <a:pPr algn="ctr" rtl="1">
              <a:spcAft>
                <a:spcPts val="1200"/>
              </a:spcAft>
            </a:pPr>
            <a:r>
              <a:rPr lang="fa-IR" sz="4600" b="1" dirty="0" smtClean="0">
                <a:solidFill>
                  <a:srgbClr val="1B4F72"/>
                </a:solidFill>
                <a:cs typeface="B Zar"/>
              </a:rPr>
              <a:t>بررسی نتایج و جمع‌بندی</a:t>
            </a:r>
          </a:p>
          <a:p>
            <a:pPr algn="ctr" rtl="1">
              <a:spcAft>
                <a:spcPts val="1200"/>
              </a:spcAft>
            </a:pPr>
            <a:r>
              <a:rPr lang="fa-IR" sz="2400" dirty="0" smtClean="0">
                <a:solidFill>
                  <a:srgbClr val="4A5A66"/>
                </a:solidFill>
                <a:cs typeface="B Zar"/>
              </a:rPr>
              <a:t>نمایش نمودارها و تصاویر خروجی، نتیجه‌گیری و پیشنهادات برای پژوهش‌های آینده</a:t>
            </a:r>
            <a:endParaRPr lang="fa-IR" sz="2400" b="0" dirty="0">
              <a:solidFill>
                <a:srgbClr val="4A5A66"/>
              </a:solidFill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246013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516D89-BF1B-4B6B-862A-41098D665409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۲۵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94651" y="1020004"/>
            <a:ext cx="5351956" cy="5221049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8C9CC0-6630-4BF5-8856-9645F2C6B547}"/>
              </a:ext>
            </a:extLst>
          </p:cNvPr>
          <p:cNvSpPr>
            <a:spLocks noGrp="1"/>
          </p:cNvSpPr>
          <p:nvPr/>
        </p:nvSpPr>
        <p:spPr>
          <a:xfrm>
            <a:off x="7537962" y="1535366"/>
            <a:ext cx="3145094" cy="1866593"/>
          </a:xfrm>
          <a:prstGeom prst="roundRect">
            <a:avLst>
              <a:gd name="adj" fmla="val 5161"/>
            </a:avLst>
          </a:prstGeom>
          <a:solidFill>
            <a:srgbClr val="E7F0F7"/>
          </a:solidFill>
          <a:ln w="1143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46A9D6-B029-47AD-A207-A9EA63CCAC00}"/>
              </a:ext>
            </a:extLst>
          </p:cNvPr>
          <p:cNvSpPr>
            <a:spLocks noGrp="1"/>
          </p:cNvSpPr>
          <p:nvPr/>
        </p:nvSpPr>
        <p:spPr>
          <a:xfrm>
            <a:off x="7823710" y="1824186"/>
            <a:ext cx="2516075" cy="78276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4200" b="1">
                <a:solidFill>
                  <a:srgbClr val="216BA5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4800" b="1" dirty="0">
                <a:solidFill>
                  <a:srgbClr val="216BA5"/>
                </a:solidFill>
                <a:latin typeface="B Zar"/>
                <a:ea typeface="B Zar"/>
                <a:cs typeface="B Zar"/>
              </a:rPr>
              <a:t>۰٫۸۷۴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C8722F-D4B8-437E-BE86-E8CD08767A58}"/>
              </a:ext>
            </a:extLst>
          </p:cNvPr>
          <p:cNvSpPr>
            <a:spLocks noGrp="1"/>
          </p:cNvSpPr>
          <p:nvPr/>
        </p:nvSpPr>
        <p:spPr>
          <a:xfrm>
            <a:off x="7928547" y="2659803"/>
            <a:ext cx="2306402" cy="433531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2200" b="1">
                <a:solidFill>
                  <a:srgbClr val="173E5A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fa-IR" sz="2400" b="1" dirty="0">
                <a:solidFill>
                  <a:srgbClr val="173E5A"/>
                </a:solidFill>
                <a:latin typeface="Times New Roman"/>
                <a:ea typeface="Times New Roman"/>
                <a:cs typeface="Times New Roman"/>
              </a:rPr>
              <a:t>mAP@0.5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D05252-5D53-40A4-9E6D-DC208C2BC12C}"/>
              </a:ext>
            </a:extLst>
          </p:cNvPr>
          <p:cNvSpPr>
            <a:spLocks noGrp="1"/>
          </p:cNvSpPr>
          <p:nvPr/>
        </p:nvSpPr>
        <p:spPr>
          <a:xfrm>
            <a:off x="7537962" y="3699352"/>
            <a:ext cx="3145094" cy="1787046"/>
          </a:xfrm>
          <a:prstGeom prst="roundRect">
            <a:avLst>
              <a:gd name="adj" fmla="val 5161"/>
            </a:avLst>
          </a:prstGeom>
          <a:solidFill>
            <a:srgbClr val="E7F4EA"/>
          </a:solidFill>
          <a:ln w="11430">
            <a:solidFill>
              <a:srgbClr val="25834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0F99F8-386F-4BAA-A83E-AC90EBF5F235}"/>
              </a:ext>
            </a:extLst>
          </p:cNvPr>
          <p:cNvSpPr>
            <a:spLocks noGrp="1"/>
          </p:cNvSpPr>
          <p:nvPr/>
        </p:nvSpPr>
        <p:spPr>
          <a:xfrm>
            <a:off x="7823709" y="3945344"/>
            <a:ext cx="2516075" cy="749406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4200" b="1">
                <a:solidFill>
                  <a:srgbClr val="25834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4800" b="1" dirty="0">
                <a:solidFill>
                  <a:srgbClr val="25834A"/>
                </a:solidFill>
                <a:latin typeface="B Zar"/>
                <a:ea typeface="B Zar"/>
                <a:cs typeface="B Zar"/>
              </a:rPr>
              <a:t>۰٫۷۰۷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28F3A8-2508-48AF-9DB5-38703E152140}"/>
              </a:ext>
            </a:extLst>
          </p:cNvPr>
          <p:cNvSpPr>
            <a:spLocks noGrp="1"/>
          </p:cNvSpPr>
          <p:nvPr/>
        </p:nvSpPr>
        <p:spPr>
          <a:xfrm>
            <a:off x="7666453" y="4733214"/>
            <a:ext cx="2830585" cy="415056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ctr">
            <a:noAutofit/>
          </a:bodyPr>
          <a:lstStyle/>
          <a:p>
            <a:pPr algn="ctr">
              <a:defRPr sz="2100" b="1">
                <a:solidFill>
                  <a:srgbClr val="173E5A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altLang="fa-IR" sz="2400" b="1" dirty="0">
                <a:solidFill>
                  <a:srgbClr val="173E5A"/>
                </a:solidFill>
                <a:latin typeface="Times New Roman"/>
                <a:ea typeface="Times New Roman"/>
                <a:cs typeface="Times New Roman"/>
              </a:rPr>
              <a:t>mAP@0.5:0.95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ارزیابی نهایی روی بخش آزمون</a:t>
            </a:r>
          </a:p>
        </p:txBody>
      </p:sp>
    </p:spTree>
    <p:extLst>
      <p:ext uri="{BB962C8B-B14F-4D97-AF65-F5344CB8AC3E}">
        <p14:creationId xmlns:p14="http://schemas.microsoft.com/office/powerpoint/2010/main" val="1643007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FA1A54A-0121-42A9-8FAB-11D1BB7383A1}"/>
              </a:ext>
            </a:extLst>
          </p:cNvPr>
          <p:cNvSpPr>
            <a:spLocks noGrp="1"/>
          </p:cNvSpPr>
          <p:nvPr/>
        </p:nvSpPr>
        <p:spPr>
          <a:xfrm>
            <a:off x="124132" y="819150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23AE8C-969A-42C3-929A-E02446ABFA39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۲۶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8706" y="1338035"/>
            <a:ext cx="6656079" cy="438327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8761416-00BD-4A93-8464-6A1492F2E2A6}"/>
              </a:ext>
            </a:extLst>
          </p:cNvPr>
          <p:cNvSpPr>
            <a:spLocks noGrp="1"/>
          </p:cNvSpPr>
          <p:nvPr/>
        </p:nvSpPr>
        <p:spPr>
          <a:xfrm>
            <a:off x="7125339" y="1179652"/>
            <a:ext cx="4725791" cy="508349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76200" tIns="47625" rIns="76200" bIns="47625" anchor="t">
            <a:noAutofit/>
          </a:bodyPr>
          <a:lstStyle/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بهترین </a:t>
            </a:r>
            <a:r>
              <a:rPr lang="fa-IR" altLang="fa-IR" sz="2000" b="1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عملکرد: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خودروی سبک</a:t>
            </a:r>
          </a:p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موتورسیکلت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با وجود کم‌نمونه بودن، عملکرد خوبی دارد</a:t>
            </a:r>
          </a:p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ضعیف‌ترین </a:t>
            </a:r>
            <a:r>
              <a:rPr lang="fa-IR" altLang="fa-IR" sz="2000" b="1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رده: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اتوبوس، به‌ویژه از نظر فراخوانی</a:t>
            </a:r>
          </a:p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علت </a:t>
            </a:r>
            <a:r>
              <a:rPr lang="fa-IR" altLang="fa-IR" sz="2000" b="1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ضعف اتوبوس: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 کم‌بودن نمونه و شباهت ظاهری به خودروی باری</a:t>
            </a:r>
          </a:p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dirty="0" smtClean="0">
                <a:solidFill>
                  <a:srgbClr val="17232C"/>
                </a:solidFill>
                <a:latin typeface="B Zar"/>
                <a:ea typeface="B Zar"/>
                <a:cs typeface="B Zar"/>
              </a:rPr>
              <a:t>چراغ </a:t>
            </a:r>
            <a:r>
              <a:rPr lang="fa-IR" altLang="fa-IR" sz="2000" dirty="0">
                <a:solidFill>
                  <a:srgbClr val="17232C"/>
                </a:solidFill>
                <a:latin typeface="B Zar"/>
                <a:ea typeface="B Zar"/>
                <a:cs typeface="B Zar"/>
              </a:rPr>
              <a:t>راهنمایی تحت تأثیر کوچک‌بودن اندازه شیء قرار گرفته است</a:t>
            </a:r>
          </a:p>
          <a:p>
            <a:pPr marL="342900" marR="317500" indent="-342900" algn="just" rtl="1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7232C"/>
                </a:solidFill>
                <a:latin typeface="B Zar"/>
                <a:ea typeface="B Zar"/>
                <a:cs typeface="B Zar"/>
              </a:defRPr>
            </a:pPr>
            <a:r>
              <a:rPr lang="fa-IR" sz="2000" dirty="0"/>
              <a:t>عملکرد وابسته به تعداد نمونه، اندازه شیء و شباهت بصری بین رده‌ها است</a:t>
            </a:r>
            <a:endParaRPr lang="fa-IR" altLang="fa-IR" sz="2000" dirty="0">
              <a:solidFill>
                <a:srgbClr val="17232C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عملکرد به تفکیک رده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430" y="1179652"/>
            <a:ext cx="6736633" cy="47000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9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570838" y="4321049"/>
            <a:ext cx="3588775" cy="105205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7EF13-B395-486B-94E9-7A1CE40E4B84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۲۷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1450" y="922814"/>
            <a:ext cx="6809453" cy="543859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ماتریس درهم‌ریختگی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2180" y="1490296"/>
            <a:ext cx="409021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200" dirty="0" smtClean="0">
                <a:cs typeface="B Zar" panose="00000400000000000000" pitchFamily="50" charset="-78"/>
              </a:rPr>
              <a:t>بیشترین </a:t>
            </a:r>
            <a:r>
              <a:rPr lang="fa-IR" sz="2200" dirty="0">
                <a:cs typeface="B Zar" panose="00000400000000000000" pitchFamily="50" charset="-78"/>
              </a:rPr>
              <a:t>خطا بین </a:t>
            </a:r>
            <a:r>
              <a:rPr lang="fa-IR" sz="2200" dirty="0" smtClean="0">
                <a:cs typeface="B Zar" panose="00000400000000000000" pitchFamily="50" charset="-78"/>
              </a:rPr>
              <a:t>اتوبوس </a:t>
            </a:r>
            <a:r>
              <a:rPr lang="fa-IR" sz="2200" dirty="0">
                <a:cs typeface="B Zar" panose="00000400000000000000" pitchFamily="50" charset="-78"/>
              </a:rPr>
              <a:t>و خودروی </a:t>
            </a:r>
            <a:r>
              <a:rPr lang="fa-IR" sz="2200" dirty="0" smtClean="0">
                <a:cs typeface="B Zar" panose="00000400000000000000" pitchFamily="50" charset="-78"/>
              </a:rPr>
              <a:t>باری</a:t>
            </a:r>
            <a:endParaRPr lang="en-US" sz="2200" dirty="0" smtClean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200" dirty="0" smtClean="0">
                <a:cs typeface="B Zar" panose="00000400000000000000" pitchFamily="50" charset="-78"/>
              </a:rPr>
              <a:t>بخشی </a:t>
            </a:r>
            <a:r>
              <a:rPr lang="fa-IR" sz="2200" dirty="0">
                <a:cs typeface="B Zar" panose="00000400000000000000" pitchFamily="50" charset="-78"/>
              </a:rPr>
              <a:t>از </a:t>
            </a:r>
            <a:r>
              <a:rPr lang="fa-IR" sz="2200" dirty="0" smtClean="0">
                <a:cs typeface="B Zar" panose="00000400000000000000" pitchFamily="50" charset="-78"/>
              </a:rPr>
              <a:t>چراغ‌های راهنمایی به‌صورت </a:t>
            </a:r>
            <a:r>
              <a:rPr lang="fa-IR" sz="2200" dirty="0">
                <a:cs typeface="B Zar" panose="00000400000000000000" pitchFamily="50" charset="-78"/>
              </a:rPr>
              <a:t>پس‌زمینه تشخیص داده </a:t>
            </a:r>
            <a:r>
              <a:rPr lang="fa-IR" sz="2200" dirty="0" smtClean="0">
                <a:cs typeface="B Zar" panose="00000400000000000000" pitchFamily="50" charset="-78"/>
              </a:rPr>
              <a:t>شده‌اند</a:t>
            </a:r>
            <a:endParaRPr lang="en-US" sz="2200" dirty="0" smtClean="0">
              <a:cs typeface="B Zar" panose="00000400000000000000" pitchFamily="50" charset="-78"/>
            </a:endParaRP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200" b="1" dirty="0" smtClean="0">
                <a:cs typeface="B Zar" panose="00000400000000000000" pitchFamily="50" charset="-78"/>
              </a:rPr>
              <a:t>چالش‌های </a:t>
            </a:r>
            <a:r>
              <a:rPr lang="fa-IR" sz="2200" b="1" dirty="0">
                <a:cs typeface="B Zar" panose="00000400000000000000" pitchFamily="50" charset="-78"/>
              </a:rPr>
              <a:t>اصلی: </a:t>
            </a:r>
            <a:r>
              <a:rPr lang="fa-IR" sz="2200" dirty="0" smtClean="0">
                <a:cs typeface="B Zar" panose="00000400000000000000" pitchFamily="50" charset="-78"/>
              </a:rPr>
              <a:t>شباهت </a:t>
            </a:r>
            <a:r>
              <a:rPr lang="fa-IR" sz="2200" dirty="0">
                <a:cs typeface="B Zar" panose="00000400000000000000" pitchFamily="50" charset="-78"/>
              </a:rPr>
              <a:t>ظاهری </a:t>
            </a:r>
            <a:r>
              <a:rPr lang="fa-IR" sz="2200" dirty="0" smtClean="0">
                <a:cs typeface="B Zar" panose="00000400000000000000" pitchFamily="50" charset="-78"/>
              </a:rPr>
              <a:t>رده‌ها </a:t>
            </a:r>
            <a:r>
              <a:rPr lang="fa-IR" sz="2200" dirty="0">
                <a:cs typeface="B Zar" panose="00000400000000000000" pitchFamily="50" charset="-78"/>
              </a:rPr>
              <a:t>و </a:t>
            </a:r>
            <a:r>
              <a:rPr lang="fa-IR" sz="2200" dirty="0" smtClean="0">
                <a:cs typeface="B Zar" panose="00000400000000000000" pitchFamily="50" charset="-78"/>
              </a:rPr>
              <a:t>اشیای کوچک</a:t>
            </a:r>
            <a:endParaRPr lang="en-US" sz="2200" dirty="0">
              <a:cs typeface="B Zar" panose="00000400000000000000" pitchFamily="50" charset="-7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5687" y="4616242"/>
            <a:ext cx="317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2400" b="1" dirty="0">
                <a:cs typeface="B Zar" panose="00000400000000000000" pitchFamily="50" charset="-78"/>
              </a:rPr>
              <a:t>آستانه اطمینان بهینه: 0.406 </a:t>
            </a:r>
            <a:endParaRPr lang="en-US" sz="2400" b="1" dirty="0"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638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0C5C63F-A01C-481C-AD14-23F9AF9DD372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۲۸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496" y="1079310"/>
            <a:ext cx="12125672" cy="504342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2F67C08-3FB2-4104-8FD1-5EE7EDC20420}"/>
              </a:ext>
            </a:extLst>
          </p:cNvPr>
          <p:cNvSpPr>
            <a:spLocks noGrp="1"/>
          </p:cNvSpPr>
          <p:nvPr/>
        </p:nvSpPr>
        <p:spPr>
          <a:xfrm>
            <a:off x="1630156" y="5709316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0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روز و شب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ABC372-0380-4D8F-9B5C-3E57DA9A33C3}"/>
              </a:ext>
            </a:extLst>
          </p:cNvPr>
          <p:cNvSpPr>
            <a:spLocks noGrp="1"/>
          </p:cNvSpPr>
          <p:nvPr/>
        </p:nvSpPr>
        <p:spPr>
          <a:xfrm>
            <a:off x="7665013" y="5709316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0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20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باران و هوای ابری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تصاویر خروجی مدل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</p:spTree>
    <p:extLst>
      <p:ext uri="{BB962C8B-B14F-4D97-AF65-F5344CB8AC3E}">
        <p14:creationId xmlns:p14="http://schemas.microsoft.com/office/powerpoint/2010/main" val="192716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5886" y="133350"/>
            <a:ext cx="535979" cy="6286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FA61F8-7026-4443-A781-B5114F03D704}"/>
              </a:ext>
            </a:extLst>
          </p:cNvPr>
          <p:cNvSpPr>
            <a:spLocks noGrp="1"/>
          </p:cNvSpPr>
          <p:nvPr/>
        </p:nvSpPr>
        <p:spPr>
          <a:xfrm>
            <a:off x="1619250" y="295275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جمع‌بندی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2C597B-9528-4FB9-A848-DDB0452F7D83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۲۹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1865" y="553218"/>
            <a:ext cx="10481187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endParaRPr lang="fa-IR" sz="2000" dirty="0">
              <a:cs typeface="B Zar" panose="00000400000000000000" pitchFamily="50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2200" b="1" dirty="0" smtClean="0">
                <a:solidFill>
                  <a:schemeClr val="accent6">
                    <a:lumMod val="75000"/>
                  </a:schemeClr>
                </a:solidFill>
                <a:cs typeface="B Zar" panose="00000400000000000000" pitchFamily="50" charset="-78"/>
              </a:rPr>
              <a:t>نتیجه‌گیری</a:t>
            </a:r>
            <a:endParaRPr lang="fa-IR" sz="2200" b="1" dirty="0">
              <a:solidFill>
                <a:schemeClr val="accent6">
                  <a:lumMod val="75000"/>
                </a:schemeClr>
              </a:solidFill>
              <a:cs typeface="B Zar" panose="00000400000000000000" pitchFamily="50" charset="-78"/>
            </a:endParaRP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b="1" dirty="0" smtClean="0">
                <a:cs typeface="B Zar" panose="00000400000000000000" pitchFamily="50" charset="-78"/>
              </a:rPr>
              <a:t>نتایج مدل نهایی </a:t>
            </a:r>
            <a:r>
              <a:rPr lang="en-US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YOLOv11s</a:t>
            </a:r>
            <a:r>
              <a:rPr lang="fa-IR" sz="1900" b="1" dirty="0" smtClean="0">
                <a:cs typeface="B Zar" panose="00000400000000000000" pitchFamily="50" charset="-78"/>
              </a:rPr>
              <a:t> </a:t>
            </a:r>
            <a:r>
              <a:rPr lang="fa-IR" sz="2000" b="1" dirty="0" smtClean="0">
                <a:cs typeface="B Zar" panose="00000400000000000000" pitchFamily="50" charset="-78"/>
              </a:rPr>
              <a:t>روی آزمون</a:t>
            </a:r>
            <a:r>
              <a:rPr lang="en-US" sz="2000" b="1" dirty="0" smtClean="0">
                <a:cs typeface="B Zar" panose="00000400000000000000" pitchFamily="50" charset="-78"/>
              </a:rPr>
              <a:t>:</a:t>
            </a:r>
            <a:r>
              <a:rPr lang="fa-IR" sz="1900" b="1" dirty="0" smtClean="0">
                <a:cs typeface="B Zar" panose="00000400000000000000" pitchFamily="50" charset="-78"/>
              </a:rPr>
              <a:t> </a:t>
            </a:r>
            <a:r>
              <a:rPr lang="en-US" sz="1900" b="1" dirty="0" smtClean="0">
                <a:cs typeface="B Zar" panose="00000400000000000000" pitchFamily="50" charset="-78"/>
              </a:rPr>
              <a:t> </a:t>
            </a:r>
            <a:endParaRPr lang="fa-IR" sz="1900" b="1" dirty="0" smtClean="0">
              <a:cs typeface="B Zar" panose="00000400000000000000" pitchFamily="50" charset="-78"/>
            </a:endParaRPr>
          </a:p>
          <a:p>
            <a:pPr marL="800100" lvl="1" indent="-3429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2000" dirty="0" smtClean="0">
                <a:latin typeface="Times New Roman" panose="02020603050405020304" pitchFamily="18" charset="0"/>
                <a:cs typeface="B Zar" panose="00000400000000000000" pitchFamily="50" charset="-78"/>
              </a:rPr>
              <a:t>میانگین </a:t>
            </a:r>
            <a:r>
              <a:rPr lang="fa-IR" sz="2000" dirty="0">
                <a:latin typeface="Times New Roman" panose="02020603050405020304" pitchFamily="18" charset="0"/>
                <a:cs typeface="B Zar" panose="00000400000000000000" pitchFamily="50" charset="-78"/>
              </a:rPr>
              <a:t>دقت متوسط در آستانه هم‌پوشانی </a:t>
            </a:r>
            <a:r>
              <a:rPr lang="fa-IR" sz="2000" dirty="0" smtClean="0">
                <a:latin typeface="Times New Roman" panose="02020603050405020304" pitchFamily="18" charset="0"/>
                <a:cs typeface="B Zar" panose="00000400000000000000" pitchFamily="50" charset="-78"/>
              </a:rPr>
              <a:t>۰٫۵ = ۰٫۸۷۴</a:t>
            </a:r>
          </a:p>
          <a:p>
            <a:pPr marL="800100" lvl="1" indent="-342900" algn="just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2000" dirty="0" smtClean="0">
                <a:latin typeface="Times New Roman" panose="02020603050405020304" pitchFamily="18" charset="0"/>
                <a:cs typeface="B Zar" panose="00000400000000000000" pitchFamily="50" charset="-78"/>
              </a:rPr>
              <a:t>میانگین </a:t>
            </a:r>
            <a:r>
              <a:rPr lang="fa-IR" sz="2000" dirty="0">
                <a:latin typeface="Times New Roman" panose="02020603050405020304" pitchFamily="18" charset="0"/>
                <a:cs typeface="B Zar" panose="00000400000000000000" pitchFamily="50" charset="-78"/>
              </a:rPr>
              <a:t>دقت متوسط در بازه آستانه‌های هم‌پوشانی ۰٫۵ تا </a:t>
            </a:r>
            <a:r>
              <a:rPr lang="fa-IR" sz="2000" dirty="0" smtClean="0">
                <a:latin typeface="Times New Roman" panose="02020603050405020304" pitchFamily="18" charset="0"/>
                <a:cs typeface="B Zar" panose="00000400000000000000" pitchFamily="50" charset="-78"/>
              </a:rPr>
              <a:t>۰٫۹۵ = ۰٫۷۰۷</a:t>
            </a:r>
          </a:p>
          <a:p>
            <a:pPr marL="342900" indent="-34290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Zar" panose="00000400000000000000" pitchFamily="50" charset="-78"/>
              </a:rPr>
              <a:t>اصلاح </a:t>
            </a:r>
            <a:r>
              <a:rPr lang="fa-IR" sz="2000" dirty="0">
                <a:cs typeface="B Zar" panose="00000400000000000000" pitchFamily="50" charset="-78"/>
              </a:rPr>
              <a:t>ساختار مجموعه‌داده و </a:t>
            </a:r>
            <a:r>
              <a:rPr lang="fa-IR" sz="2000" dirty="0" smtClean="0">
                <a:cs typeface="B Zar" panose="00000400000000000000" pitchFamily="50" charset="-78"/>
              </a:rPr>
              <a:t>جلوگیری </a:t>
            </a:r>
            <a:r>
              <a:rPr lang="fa-IR" sz="2000" dirty="0">
                <a:cs typeface="B Zar" panose="00000400000000000000" pitchFamily="50" charset="-78"/>
              </a:rPr>
              <a:t>از </a:t>
            </a:r>
            <a:r>
              <a:rPr lang="fa-IR" sz="2000" dirty="0" smtClean="0">
                <a:cs typeface="B Zar" panose="00000400000000000000" pitchFamily="50" charset="-78"/>
              </a:rPr>
              <a:t>نشت داده </a:t>
            </a:r>
            <a:r>
              <a:rPr lang="fa-IR" sz="2000" dirty="0">
                <a:cs typeface="B Zar" panose="00000400000000000000" pitchFamily="50" charset="-78"/>
              </a:rPr>
              <a:t>نقش مهم‌تری از تغییر بهینه‌ساز داشت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900" b="1" dirty="0" smtClean="0">
                <a:cs typeface="B Zar" panose="00000400000000000000" pitchFamily="50" charset="-78"/>
              </a:rPr>
              <a:t>چالش‌های </a:t>
            </a:r>
            <a:r>
              <a:rPr lang="fa-IR" sz="1900" b="1" dirty="0">
                <a:cs typeface="B Zar" panose="00000400000000000000" pitchFamily="50" charset="-78"/>
              </a:rPr>
              <a:t>اصلی: </a:t>
            </a:r>
            <a:r>
              <a:rPr lang="fa-IR" sz="2000" dirty="0" smtClean="0">
                <a:cs typeface="B Zar" panose="00000400000000000000" pitchFamily="50" charset="-78"/>
              </a:rPr>
              <a:t>اشیای کوچک، شباهت </a:t>
            </a:r>
            <a:r>
              <a:rPr lang="fa-IR" sz="2000" dirty="0">
                <a:cs typeface="B Zar" panose="00000400000000000000" pitchFamily="50" charset="-78"/>
              </a:rPr>
              <a:t>اتوبوس با خودروی </a:t>
            </a:r>
            <a:r>
              <a:rPr lang="fa-IR" sz="2000" dirty="0" smtClean="0">
                <a:cs typeface="B Zar" panose="00000400000000000000" pitchFamily="50" charset="-78"/>
              </a:rPr>
              <a:t>باری و کبود برخی نمونه‌ها</a:t>
            </a:r>
            <a:endParaRPr lang="fa-IR" sz="2000" dirty="0">
              <a:cs typeface="B Zar" panose="00000400000000000000" pitchFamily="50" charset="-78"/>
            </a:endParaRP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a-IR" dirty="0">
              <a:cs typeface="B Zar" panose="00000400000000000000" pitchFamily="50" charset="-78"/>
            </a:endParaRPr>
          </a:p>
          <a:p>
            <a:pPr algn="just" rtl="1">
              <a:lnSpc>
                <a:spcPct val="150000"/>
              </a:lnSpc>
            </a:pPr>
            <a:r>
              <a:rPr lang="fa-IR" sz="2200" b="1" dirty="0" smtClean="0">
                <a:solidFill>
                  <a:schemeClr val="accent2">
                    <a:lumMod val="75000"/>
                  </a:schemeClr>
                </a:solidFill>
                <a:cs typeface="B Zar" panose="00000400000000000000" pitchFamily="50" charset="-78"/>
              </a:rPr>
              <a:t>پیشنهاد </a:t>
            </a:r>
            <a:r>
              <a:rPr lang="fa-IR" sz="2200" b="1" dirty="0">
                <a:solidFill>
                  <a:schemeClr val="accent2">
                    <a:lumMod val="75000"/>
                  </a:schemeClr>
                </a:solidFill>
                <a:cs typeface="B Zar" panose="00000400000000000000" pitchFamily="50" charset="-78"/>
              </a:rPr>
              <a:t>برای پژوهش‌های آینده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Zar" panose="00000400000000000000" pitchFamily="50" charset="-78"/>
              </a:rPr>
              <a:t>تکمیل </a:t>
            </a:r>
            <a:r>
              <a:rPr lang="fa-IR" sz="2000" dirty="0">
                <a:cs typeface="B Zar" panose="00000400000000000000" pitchFamily="50" charset="-78"/>
              </a:rPr>
              <a:t>و بهبود </a:t>
            </a:r>
            <a:r>
              <a:rPr lang="fa-IR" sz="2000" dirty="0" smtClean="0">
                <a:cs typeface="B Zar" panose="00000400000000000000" pitchFamily="50" charset="-78"/>
              </a:rPr>
              <a:t>برچسب‌ها </a:t>
            </a:r>
            <a:r>
              <a:rPr lang="fa-IR" sz="2000" dirty="0">
                <a:cs typeface="B Zar" panose="00000400000000000000" pitchFamily="50" charset="-78"/>
              </a:rPr>
              <a:t>و افزایش تنوع نمونه‌های اتوبوس و خودروی باری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Zar" panose="00000400000000000000" pitchFamily="50" charset="-78"/>
              </a:rPr>
              <a:t>بررسی </a:t>
            </a:r>
            <a:r>
              <a:rPr lang="fa-IR" sz="2000" dirty="0">
                <a:cs typeface="B Zar" panose="00000400000000000000" pitchFamily="50" charset="-78"/>
              </a:rPr>
              <a:t>جداگانه اثر </a:t>
            </a:r>
            <a:r>
              <a:rPr lang="fa-IR" sz="2000" dirty="0" smtClean="0">
                <a:cs typeface="B Zar" panose="00000400000000000000" pitchFamily="50" charset="-78"/>
              </a:rPr>
              <a:t>بهینه‌ساز</a:t>
            </a:r>
            <a:r>
              <a:rPr lang="fa-IR" sz="2000" dirty="0">
                <a:cs typeface="B Zar" panose="00000400000000000000" pitchFamily="50" charset="-78"/>
              </a:rPr>
              <a:t>، نرخ یادگیری و </a:t>
            </a:r>
            <a:r>
              <a:rPr lang="fa-IR" sz="2000" dirty="0" smtClean="0">
                <a:cs typeface="B Zar" panose="00000400000000000000" pitchFamily="50" charset="-78"/>
              </a:rPr>
              <a:t>زمان‌بند </a:t>
            </a:r>
            <a:r>
              <a:rPr lang="fa-IR" sz="2000" dirty="0">
                <a:cs typeface="B Zar" panose="00000400000000000000" pitchFamily="50" charset="-78"/>
              </a:rPr>
              <a:t>با چند بذر تصادفی</a:t>
            </a:r>
          </a:p>
          <a:p>
            <a:pPr marL="285750" indent="-285750" algn="just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2000" dirty="0" smtClean="0">
                <a:cs typeface="B Zar" panose="00000400000000000000" pitchFamily="50" charset="-78"/>
              </a:rPr>
              <a:t>ارزیابی </a:t>
            </a:r>
            <a:r>
              <a:rPr lang="fa-IR" sz="2000" dirty="0">
                <a:cs typeface="B Zar" panose="00000400000000000000" pitchFamily="50" charset="-78"/>
              </a:rPr>
              <a:t>مدل روی </a:t>
            </a:r>
            <a:r>
              <a:rPr lang="fa-IR" sz="2000" dirty="0" smtClean="0">
                <a:cs typeface="B Zar" panose="00000400000000000000" pitchFamily="50" charset="-78"/>
              </a:rPr>
              <a:t>مجموعه‌داده مستقل </a:t>
            </a:r>
            <a:r>
              <a:rPr lang="fa-IR" sz="2000" dirty="0">
                <a:cs typeface="B Zar" panose="00000400000000000000" pitchFamily="50" charset="-78"/>
              </a:rPr>
              <a:t>برای سنجش تعمیم‌پذیری</a:t>
            </a:r>
            <a:endParaRPr lang="en-US" sz="2000" dirty="0">
              <a:cs typeface="B Zar" panose="00000400000000000000" pitchFamily="50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9176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432755-2E09-40B6-A619-5787469ADCC7}"/>
              </a:ext>
            </a:extLst>
          </p:cNvPr>
          <p:cNvSpPr>
            <a:spLocks noGrp="1"/>
          </p:cNvSpPr>
          <p:nvPr/>
        </p:nvSpPr>
        <p:spPr>
          <a:xfrm>
            <a:off x="2190749" y="2597560"/>
            <a:ext cx="7810500" cy="714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40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5400" b="1" dirty="0">
                <a:solidFill>
                  <a:srgbClr val="173E5A"/>
                </a:solidFill>
                <a:latin typeface="B Zar"/>
                <a:ea typeface="B Zar"/>
                <a:cs typeface="B Zar"/>
              </a:rPr>
              <a:t>با سپاس از توجه شما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08746" y="400366"/>
            <a:ext cx="974507" cy="114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D2AAF7-7A1A-4A9D-914A-C57015020DE5}"/>
              </a:ext>
            </a:extLst>
          </p:cNvPr>
          <p:cNvSpPr>
            <a:spLocks noGrp="1"/>
          </p:cNvSpPr>
          <p:nvPr/>
        </p:nvSpPr>
        <p:spPr>
          <a:xfrm>
            <a:off x="2857500" y="3550059"/>
            <a:ext cx="64770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 rtl="1">
              <a:defRPr sz="2900" b="1">
                <a:solidFill>
                  <a:srgbClr val="25834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4000" b="1" dirty="0" smtClean="0">
                <a:solidFill>
                  <a:srgbClr val="25834A"/>
                </a:solidFill>
                <a:latin typeface="B Zar"/>
                <a:ea typeface="B Zar"/>
                <a:cs typeface="B Zar"/>
              </a:rPr>
              <a:t>پرسش و پاسخ</a:t>
            </a:r>
            <a:endParaRPr lang="fa-IR" altLang="fa-IR" sz="4000" b="1" dirty="0">
              <a:solidFill>
                <a:srgbClr val="25834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FCD03-8F9B-49CB-8014-EABD5DBA54E7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۳۰ از ۳۱</a:t>
            </a:r>
            <a:endParaRPr lang="fa-IR" altLang="fa-IR" sz="1600" b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-1646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12075722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04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1D40F3C-DFB5-4300-B744-F961F9A77BBF}"/>
              </a:ext>
            </a:extLst>
          </p:cNvPr>
          <p:cNvSpPr>
            <a:spLocks noGrp="1"/>
          </p:cNvSpPr>
          <p:nvPr/>
        </p:nvSpPr>
        <p:spPr>
          <a:xfrm>
            <a:off x="171450" y="6496050"/>
            <a:ext cx="176212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1600" b="0">
                <a:solidFill>
                  <a:srgbClr val="52626E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1600" b="0" smtClean="0">
                <a:solidFill>
                  <a:srgbClr val="52626E"/>
                </a:solidFill>
                <a:latin typeface="B Zar"/>
                <a:ea typeface="B Zar"/>
                <a:cs typeface="B Zar"/>
              </a:rPr>
              <a:t>صفحه ۳۱ از ۳۱</a:t>
            </a:r>
            <a:endParaRPr lang="fa-IR" altLang="fa-IR" sz="1600" b="0" dirty="0">
              <a:solidFill>
                <a:srgbClr val="52626E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6162E9-8143-4B0D-A0DD-F2C92D133A77}"/>
              </a:ext>
            </a:extLst>
          </p:cNvPr>
          <p:cNvSpPr>
            <a:spLocks noGrp="1"/>
          </p:cNvSpPr>
          <p:nvPr/>
        </p:nvSpPr>
        <p:spPr>
          <a:xfrm>
            <a:off x="800371" y="1320160"/>
            <a:ext cx="45719" cy="1042585"/>
          </a:xfrm>
          <a:prstGeom prst="rect">
            <a:avLst/>
          </a:prstGeom>
          <a:solidFill>
            <a:srgbClr val="216BA5"/>
          </a:solidFill>
          <a:ln w="0"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68844-DDBB-4148-9ECF-B6F79ED20ADE}"/>
              </a:ext>
            </a:extLst>
          </p:cNvPr>
          <p:cNvSpPr>
            <a:spLocks noGrp="1"/>
          </p:cNvSpPr>
          <p:nvPr/>
        </p:nvSpPr>
        <p:spPr>
          <a:xfrm>
            <a:off x="974107" y="1320161"/>
            <a:ext cx="10004984" cy="1730194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 defTabSz="511175"/>
            <a:r>
              <a:rPr lang="fa-IR" dirty="0"/>
              <a:t>[</a:t>
            </a:r>
            <a:r>
              <a:rPr lang="fa-IR" dirty="0" smtClean="0"/>
              <a:t>۱]</a:t>
            </a:r>
            <a:r>
              <a:rPr lang="en-US" dirty="0" smtClean="0"/>
              <a:t>	</a:t>
            </a:r>
            <a:r>
              <a:rPr lang="en-US" dirty="0" err="1" smtClean="0"/>
              <a:t>Khosravian</a:t>
            </a:r>
            <a:r>
              <a:rPr lang="en-US" dirty="0"/>
              <a:t>, A., Amirkhani, A., </a:t>
            </a:r>
            <a:r>
              <a:rPr lang="en-US" dirty="0" err="1"/>
              <a:t>Masih</a:t>
            </a:r>
            <a:r>
              <a:rPr lang="en-US" dirty="0"/>
              <a:t>-Tehrani, M., and </a:t>
            </a:r>
            <a:r>
              <a:rPr lang="en-US" dirty="0" err="1"/>
              <a:t>Yazdanijoo</a:t>
            </a:r>
            <a:r>
              <a:rPr lang="en-US" dirty="0"/>
              <a:t>, A., </a:t>
            </a:r>
            <a:r>
              <a:rPr lang="en-US" i="1" dirty="0"/>
              <a:t>Multi-domain </a:t>
            </a:r>
            <a:r>
              <a:rPr lang="en-US" i="1" dirty="0" smtClean="0"/>
              <a:t>autonomous </a:t>
            </a:r>
            <a:r>
              <a:rPr lang="en-US" i="1" dirty="0"/>
              <a:t>driving dataset: Towards enhancing the generalization of the convolutional </a:t>
            </a:r>
            <a:r>
              <a:rPr lang="en-US" i="1" dirty="0" smtClean="0"/>
              <a:t>neural 	networks </a:t>
            </a:r>
            <a:r>
              <a:rPr lang="en-US" i="1" dirty="0"/>
              <a:t>in new environments</a:t>
            </a:r>
            <a:r>
              <a:rPr lang="en-US" dirty="0"/>
              <a:t>, IET Image Processing, vol. 17, no. 4, 2023, pp. 1253-1266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26703-A3E0-4FF2-87E8-6F0DA536A11D}"/>
              </a:ext>
            </a:extLst>
          </p:cNvPr>
          <p:cNvSpPr>
            <a:spLocks noGrp="1"/>
          </p:cNvSpPr>
          <p:nvPr/>
        </p:nvSpPr>
        <p:spPr>
          <a:xfrm>
            <a:off x="800371" y="2630791"/>
            <a:ext cx="45719" cy="857805"/>
          </a:xfrm>
          <a:prstGeom prst="rect">
            <a:avLst/>
          </a:prstGeom>
          <a:solidFill>
            <a:srgbClr val="25834A"/>
          </a:solidFill>
          <a:ln w="0"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F067A-B264-408E-91B9-E3008A19630E}"/>
              </a:ext>
            </a:extLst>
          </p:cNvPr>
          <p:cNvSpPr>
            <a:spLocks noGrp="1"/>
          </p:cNvSpPr>
          <p:nvPr/>
        </p:nvSpPr>
        <p:spPr>
          <a:xfrm>
            <a:off x="974106" y="2612114"/>
            <a:ext cx="10004985" cy="876482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 defTabSz="511175"/>
            <a:r>
              <a:rPr lang="fa-IR" dirty="0"/>
              <a:t>[۲]</a:t>
            </a:r>
            <a:r>
              <a:rPr lang="en-US" dirty="0"/>
              <a:t>	Kaufman, S., </a:t>
            </a:r>
            <a:r>
              <a:rPr lang="en-US" dirty="0" err="1"/>
              <a:t>Rosset</a:t>
            </a:r>
            <a:r>
              <a:rPr lang="en-US" dirty="0"/>
              <a:t>, S., </a:t>
            </a:r>
            <a:r>
              <a:rPr lang="en-US" dirty="0" err="1"/>
              <a:t>Perlich</a:t>
            </a:r>
            <a:r>
              <a:rPr lang="en-US" dirty="0"/>
              <a:t>, C., and </a:t>
            </a:r>
            <a:r>
              <a:rPr lang="en-US" dirty="0" err="1"/>
              <a:t>Stitelman</a:t>
            </a:r>
            <a:r>
              <a:rPr lang="en-US" dirty="0"/>
              <a:t>, O., </a:t>
            </a:r>
            <a:r>
              <a:rPr lang="en-US" i="1" dirty="0"/>
              <a:t>Leakage in Data Mining: </a:t>
            </a:r>
            <a:r>
              <a:rPr lang="en-US" i="1" dirty="0" smtClean="0"/>
              <a:t>Formulation</a:t>
            </a:r>
            <a:r>
              <a:rPr lang="en-US" i="1" dirty="0"/>
              <a:t>, </a:t>
            </a:r>
            <a:r>
              <a:rPr lang="en-US" i="1" dirty="0" smtClean="0"/>
              <a:t>	Detection</a:t>
            </a:r>
            <a:r>
              <a:rPr lang="en-US" i="1" dirty="0"/>
              <a:t>, and Avoidance</a:t>
            </a:r>
            <a:r>
              <a:rPr lang="en-US" dirty="0"/>
              <a:t>, ACM Transactions on Knowledge </a:t>
            </a:r>
            <a:r>
              <a:rPr lang="en-US" dirty="0" smtClean="0"/>
              <a:t>	Discovery </a:t>
            </a:r>
            <a:r>
              <a:rPr lang="en-US" dirty="0"/>
              <a:t>from Data, vol. 6, no. 4, </a:t>
            </a:r>
            <a:r>
              <a:rPr lang="en-US" dirty="0" smtClean="0"/>
              <a:t>	2012</a:t>
            </a:r>
            <a:r>
              <a:rPr lang="en-US" dirty="0"/>
              <a:t>, article 15.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4AD6CC-BF71-47EB-B2CA-B3B230C38033}"/>
              </a:ext>
            </a:extLst>
          </p:cNvPr>
          <p:cNvSpPr>
            <a:spLocks noGrp="1"/>
          </p:cNvSpPr>
          <p:nvPr/>
        </p:nvSpPr>
        <p:spPr>
          <a:xfrm>
            <a:off x="800370" y="3724244"/>
            <a:ext cx="45719" cy="1152556"/>
          </a:xfrm>
          <a:prstGeom prst="rect">
            <a:avLst/>
          </a:prstGeom>
          <a:solidFill>
            <a:srgbClr val="216BA5"/>
          </a:solidFill>
          <a:ln w="0"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3291D3-C2A1-4B40-B6E2-9907B3FF9115}"/>
              </a:ext>
            </a:extLst>
          </p:cNvPr>
          <p:cNvSpPr>
            <a:spLocks noGrp="1"/>
          </p:cNvSpPr>
          <p:nvPr/>
        </p:nvSpPr>
        <p:spPr>
          <a:xfrm>
            <a:off x="964961" y="3724243"/>
            <a:ext cx="10014131" cy="1152557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 defTabSz="511175"/>
            <a:r>
              <a:rPr lang="fa-IR" dirty="0"/>
              <a:t>[۵]</a:t>
            </a:r>
            <a:r>
              <a:rPr lang="en-US" dirty="0"/>
              <a:t>	</a:t>
            </a:r>
            <a:r>
              <a:rPr lang="en-US" dirty="0" err="1"/>
              <a:t>Sapkota</a:t>
            </a:r>
            <a:r>
              <a:rPr lang="en-US" dirty="0"/>
              <a:t>, R., Flores-</a:t>
            </a:r>
            <a:r>
              <a:rPr lang="en-US" dirty="0" err="1"/>
              <a:t>Calero</a:t>
            </a:r>
            <a:r>
              <a:rPr lang="en-US" dirty="0"/>
              <a:t>, M., Qureshi, R., </a:t>
            </a:r>
            <a:r>
              <a:rPr lang="en-US" dirty="0" err="1"/>
              <a:t>Badgujar</a:t>
            </a:r>
            <a:r>
              <a:rPr lang="en-US" dirty="0"/>
              <a:t>, C., Nepal, U., </a:t>
            </a:r>
            <a:r>
              <a:rPr lang="en-US" dirty="0" err="1"/>
              <a:t>Poulose</a:t>
            </a:r>
            <a:r>
              <a:rPr lang="en-US" dirty="0"/>
              <a:t>, A., Zeno, P., </a:t>
            </a:r>
            <a:r>
              <a:rPr lang="en-US" dirty="0" err="1" smtClean="0"/>
              <a:t>Vaddevolu</a:t>
            </a:r>
            <a:r>
              <a:rPr lang="en-US" dirty="0"/>
              <a:t>, </a:t>
            </a:r>
            <a:r>
              <a:rPr lang="en-US" dirty="0" smtClean="0"/>
              <a:t>	U</a:t>
            </a:r>
            <a:r>
              <a:rPr lang="en-US" dirty="0"/>
              <a:t>. </a:t>
            </a:r>
            <a:r>
              <a:rPr lang="en-US" dirty="0" smtClean="0"/>
              <a:t>	B</a:t>
            </a:r>
            <a:r>
              <a:rPr lang="en-US" dirty="0"/>
              <a:t>. </a:t>
            </a:r>
            <a:r>
              <a:rPr lang="en-US" dirty="0" smtClean="0"/>
              <a:t>P</a:t>
            </a:r>
            <a:r>
              <a:rPr lang="en-US" dirty="0"/>
              <a:t>., Khan, S., </a:t>
            </a:r>
            <a:r>
              <a:rPr lang="en-US" dirty="0" err="1"/>
              <a:t>Shoman</a:t>
            </a:r>
            <a:r>
              <a:rPr lang="en-US" dirty="0"/>
              <a:t>, M., Yan, H., and </a:t>
            </a:r>
            <a:r>
              <a:rPr lang="en-US" dirty="0" err="1"/>
              <a:t>Karkee</a:t>
            </a:r>
            <a:r>
              <a:rPr lang="en-US" dirty="0"/>
              <a:t>, M., </a:t>
            </a:r>
            <a:r>
              <a:rPr lang="en-US" i="1" dirty="0"/>
              <a:t>YOLO advances to its genesis: </a:t>
            </a:r>
            <a:r>
              <a:rPr lang="en-US" i="1" dirty="0" smtClean="0"/>
              <a:t>a </a:t>
            </a:r>
            <a:r>
              <a:rPr lang="en-US" i="1" dirty="0"/>
              <a:t>decadal and </a:t>
            </a:r>
            <a:r>
              <a:rPr lang="en-US" i="1" dirty="0" smtClean="0"/>
              <a:t>	comprehensive </a:t>
            </a:r>
            <a:r>
              <a:rPr lang="en-US" i="1" dirty="0"/>
              <a:t>review of the You Only Look Once (YOLO) series</a:t>
            </a:r>
            <a:r>
              <a:rPr lang="en-US" dirty="0"/>
              <a:t>, Artificial </a:t>
            </a:r>
            <a:r>
              <a:rPr lang="en-US" dirty="0" smtClean="0"/>
              <a:t>Intelligence </a:t>
            </a:r>
            <a:r>
              <a:rPr lang="en-US" dirty="0"/>
              <a:t>Review, vol. 58, </a:t>
            </a:r>
            <a:r>
              <a:rPr lang="en-US" dirty="0" smtClean="0"/>
              <a:t>	no</a:t>
            </a:r>
            <a:r>
              <a:rPr lang="en-US" dirty="0"/>
              <a:t>. 9, </a:t>
            </a:r>
            <a:r>
              <a:rPr lang="en-US" dirty="0" smtClean="0"/>
              <a:t>2025</a:t>
            </a:r>
            <a:r>
              <a:rPr lang="en-US" dirty="0"/>
              <a:t>, article 274.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A3BC4-CBF3-4F0A-A964-FC086BB327A1}"/>
              </a:ext>
            </a:extLst>
          </p:cNvPr>
          <p:cNvSpPr>
            <a:spLocks noGrp="1"/>
          </p:cNvSpPr>
          <p:nvPr/>
        </p:nvSpPr>
        <p:spPr>
          <a:xfrm>
            <a:off x="800370" y="5125180"/>
            <a:ext cx="45719" cy="646905"/>
          </a:xfrm>
          <a:prstGeom prst="rect">
            <a:avLst/>
          </a:prstGeom>
          <a:solidFill>
            <a:srgbClr val="25834A"/>
          </a:solidFill>
          <a:ln w="0"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FB9B5F-7BA7-4E84-A771-58213A1BD0DC}"/>
              </a:ext>
            </a:extLst>
          </p:cNvPr>
          <p:cNvSpPr>
            <a:spLocks noGrp="1"/>
          </p:cNvSpPr>
          <p:nvPr/>
        </p:nvSpPr>
        <p:spPr>
          <a:xfrm>
            <a:off x="964962" y="5125180"/>
            <a:ext cx="10014130" cy="646905"/>
          </a:xfrm>
          <a:prstGeom prst="rect">
            <a:avLst/>
          </a:prstGeom>
          <a:noFill/>
          <a:ln w="0">
            <a:noFill/>
          </a:ln>
        </p:spPr>
        <p:txBody>
          <a:bodyPr lIns="38100" tIns="28575" rIns="38100" bIns="28575" anchor="t">
            <a:noAutofit/>
          </a:bodyPr>
          <a:lstStyle/>
          <a:p>
            <a:pPr defTabSz="511175"/>
            <a:r>
              <a:rPr lang="fa-IR" dirty="0"/>
              <a:t>[۹]</a:t>
            </a:r>
            <a:r>
              <a:rPr lang="en-US" dirty="0"/>
              <a:t>	</a:t>
            </a:r>
            <a:r>
              <a:rPr lang="en-US" dirty="0" smtClean="0"/>
              <a:t>Lin, J., Wang, P., </a:t>
            </a:r>
            <a:r>
              <a:rPr lang="en-US" dirty="0" err="1" smtClean="0"/>
              <a:t>Ruan</a:t>
            </a:r>
            <a:r>
              <a:rPr lang="en-US" dirty="0" smtClean="0"/>
              <a:t>, Y., and Sun, Y., </a:t>
            </a:r>
            <a:r>
              <a:rPr lang="en-US" i="1" dirty="0" smtClean="0"/>
              <a:t>YOLO11-WLBS: an efficient model for pavement defect 	detection</a:t>
            </a:r>
            <a:r>
              <a:rPr lang="en-US" dirty="0" smtClean="0"/>
              <a:t>, Scientific Reports, vol. 16, article 5284, 2026.</a:t>
            </a:r>
            <a:endParaRPr lang="en-US" dirty="0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984" y="187916"/>
            <a:ext cx="535979" cy="62865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4452ECC-0329-42FD-A992-5D81CCFFD581}"/>
              </a:ext>
            </a:extLst>
          </p:cNvPr>
          <p:cNvSpPr>
            <a:spLocks noGrp="1"/>
          </p:cNvSpPr>
          <p:nvPr/>
        </p:nvSpPr>
        <p:spPr>
          <a:xfrm>
            <a:off x="1754630" y="279232"/>
            <a:ext cx="10096500" cy="4857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 rtl="1">
              <a:defRPr sz="3100" b="1">
                <a:solidFill>
                  <a:srgbClr val="173E5A"/>
                </a:solidFill>
                <a:latin typeface="B Zar"/>
                <a:ea typeface="B Zar"/>
                <a:cs typeface="B Zar"/>
              </a:defRPr>
            </a:pPr>
            <a:r>
              <a:rPr lang="fa-IR" altLang="fa-IR" sz="3100" b="1" dirty="0" smtClean="0">
                <a:solidFill>
                  <a:srgbClr val="173E5A"/>
                </a:solidFill>
                <a:latin typeface="B Zar"/>
                <a:ea typeface="B Zar"/>
                <a:cs typeface="B Zar"/>
              </a:rPr>
              <a:t>مراجع و منابع</a:t>
            </a:r>
            <a:endParaRPr lang="fa-IR" altLang="fa-IR" sz="3100" b="1" dirty="0">
              <a:solidFill>
                <a:srgbClr val="173E5A"/>
              </a:solidFill>
              <a:latin typeface="B Zar"/>
              <a:ea typeface="B Zar"/>
              <a:cs typeface="B Zar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-1646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69FE0F-B982-44B2-AA33-ECB7CF4A98B7}"/>
              </a:ext>
            </a:extLst>
          </p:cNvPr>
          <p:cNvSpPr>
            <a:spLocks noGrp="1"/>
          </p:cNvSpPr>
          <p:nvPr/>
        </p:nvSpPr>
        <p:spPr>
          <a:xfrm>
            <a:off x="12075722" y="0"/>
            <a:ext cx="114300" cy="6858000"/>
          </a:xfrm>
          <a:prstGeom prst="rect">
            <a:avLst/>
          </a:prstGeom>
          <a:solidFill>
            <a:srgbClr val="216BA5"/>
          </a:solidFill>
          <a:ln w="0">
            <a:solidFill>
              <a:srgbClr val="216BA5"/>
            </a:solidFill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6746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2628</TotalTime>
  <Words>1983</Words>
  <Application>Microsoft Office PowerPoint</Application>
  <DocSecurity>0</DocSecurity>
  <PresentationFormat>Widescreen</PresentationFormat>
  <Paragraphs>355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MS Mincho</vt:lpstr>
      <vt:lpstr>Arial</vt:lpstr>
      <vt:lpstr>B Zar</vt:lpstr>
      <vt:lpstr>Calibri</vt:lpstr>
      <vt:lpstr>Cambria Math</vt:lpstr>
      <vt:lpstr>Courier New</vt:lpstr>
      <vt:lpstr>Times New Roman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Amir Sadegh Zadeh</cp:lastModifiedBy>
  <cp:revision>165</cp:revision>
  <dcterms:created xsi:type="dcterms:W3CDTF">2026-09-20T08:49:50Z</dcterms:created>
  <dcterms:modified xsi:type="dcterms:W3CDTF">2026-10-03T15:36:10Z</dcterms:modified>
</cp:coreProperties>
</file>